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จำนวนรายการ</c:v>
                </c:pt>
              </c:strCache>
            </c:strRef>
          </c:tx>
          <c:dPt>
            <c:idx val="0"/>
            <c:spPr>
              <a:solidFill>
                <a:srgbClr val="D9E1D2"/>
              </a:solidFill>
              <a:ln>
                <a:noFill/>
              </a:ln>
            </c:spPr>
          </c:dPt>
          <c:dPt>
            <c:idx val="1"/>
            <c:spPr>
              <a:solidFill>
                <a:srgbClr val="D9E1D2"/>
              </a:solidFill>
              <a:ln>
                <a:noFill/>
              </a:ln>
            </c:spPr>
          </c:dPt>
          <c:dPt>
            <c:idx val="2"/>
            <c:spPr>
              <a:solidFill>
                <a:srgbClr val="B59C70"/>
              </a:solidFill>
              <a:ln>
                <a:noFill/>
              </a:ln>
            </c:spPr>
          </c:dPt>
          <c:dPt>
            <c:idx val="3"/>
            <c:spPr>
              <a:solidFill>
                <a:srgbClr val="19573C"/>
              </a:solidFill>
              <a:ln>
                <a:noFill/>
              </a:ln>
            </c:spPr>
          </c:dPt>
          <c:dPt>
            <c:idx val="4"/>
            <c:spPr>
              <a:solidFill>
                <a:srgbClr val="839E63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7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>
                <a:latin typeface="Noto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Noto Sans"/>
              </a:defRPr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20 วินาที</a:t>
            </a:r>
          </a:p>
          <a:p/>
          <a:p>
            <a:r>
              <a:t>แนะนำชื่อโครงงานและผู้จัดทำตามข้อมูลจริง โครงงานนี้มุ่งพัฒนาเครื่องมือสำหรับโครงงานใช้ประโยชน์และการศึกษา พร้อมประเมินต้นแบบจากหลักฐานซอฟต์แวร์และรีวิวที่เผยแพร่ ไม่ใช่การทดลองวัดผลสัมฤทธิ์ทางการเรียนแล้ว ปกเว้นข้อมูลส่วนบุคคลไว้ให้กรอก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35 วินาที</a:t>
            </a:r>
          </a:p>
          <a:p/>
          <a:p>
            <a:r>
              <a:t>ลองนึกถึงกล่องเก่าที่บ้าน เราอาจอยากเอามาจัดลิ้นชัก แต่ยังไม่รู้ว่าต้องเตรียมอะไรและเริ่มตรงไหน ReBuild จึงพัฒนาเส้นทางตั้งแต่เลือกงาน ตรวจวัสดุ อ่านขั้นตอน จนถึงบันทึกแผน ประโยชน์ที่คาดหวังคือช่วยผู้เริ่มต้นและเป็นสื่อประกอบกิจกรรมของครู ส่วนผลต่อการเรียนรู้หรือการลดขยะยังไม่ได้วัดโดยตรง ต่อไปจะชี้ว่าวัตถุประสงค์ของงานมีอะไรบ้าง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30 วินาที</a:t>
            </a:r>
          </a:p>
          <a:p/>
          <a:p>
            <a:r>
              <a:t>งานนี้มีสามวัตถุประสงค์ คือพัฒนาคู่มือ ช่วยตรวจและวางแผนวัสดุ และประเมินต้นแบบเพื่อหาแนวปรับปรุง ขอบเขตปัจจุบันมี 37 โครงงาน วัสดุ 94 ประเภท และภาพรายขั้น 141 ภาพ รองรับไทยและอังกฤษ ครอบคลุมงานใช้ประโยชน์ในบ้านและกิจกรรมการศึกษา เมื่อไปถึงผลการศึกษาจะกลับมาสรุปตามสามข้อนี้ ไม่ใช้จำนวนเนื้อหาแทนหลักฐานว่าผู้ใช้เรียนรู้ได้ดีขึ้น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25 วินาที</a:t>
            </a:r>
          </a:p>
          <a:p/>
          <a:p>
            <a:r>
              <a:t>สรุปงานที่เกี่ยวข้องเป็นสามแนวคิดเท่านั้น หนึ่ง การพัฒนาระบบควรมีการประเมินประกอบ สอง คู่มือควรแบ่งข้อมูลเป็นขั้นและมีภาพช่วยอธิบาย สาม การนำวัสดุมาใช้ประโยชน์ควรพิจารณาผลจริงด้วย แนวคิดเหล่านี้ใช้กำหนดทิศทางออกแบบ ไม่ใช่หลักฐานว่า ReBuild ลดขยะหรือทำให้เรียนรู้ดีขึ้นแล้ว ชื่อบทความและ DOI อยู่ท้ายชุด โดยยังต้องตรวจฉบับเต็มก่อนส่งรายงานฉบับสมบูรณ์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30 วินาที</a:t>
            </a:r>
          </a:p>
          <a:p/>
          <a:p>
            <a:r>
              <a:t>กรอบนี้เริ่มจากความต้องการและข้อมูลวัสดุ นำมาพัฒนาระบบ แล้วเก็บหลักฐานการทำงานและรีวิว ข้อคาดหมายที่ตรวจคืออ่านคู่มือได้แม้ของไม่ครบ ตรวจวัสดุตามเงื่อนไข และบันทึกเปิดงานต่อได้ ตัวแปรที่รายงานเป็นผลที่สังเกต ไม่ได้จัดกลุ่มทดลองกับกลุ่มควบคุมเพื่อพิสูจน์เหตุและผล เงื่อนไขคงที่หมายถึงรุ่นโปรแกรมและสภาพแวดล้อมในชุดทดสอบ ไม่ได้หมายความว่าอุปกรณ์ผู้ใช้ทุกคนเหมือนกัน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30 วินาที</a:t>
            </a:r>
          </a:p>
          <a:p/>
          <a:p>
            <a:r>
              <a:t>ขั้นพัฒนาประกอบด้วยกำหนดความต้องการ ศึกษารูปแบบคู่มือ ออกแบบข้อมูลและหน้าใช้งาน พัฒนาตรรกะวัสดุ เชื่อมบัญชีและชุมชน ทดสอบ และจัดทำรายงาน ใช้คอมพิวเตอร์และเบราว์เซอร์เป็นอุปกรณ์หลัก ไม่ใส่สเปกเครื่องผู้ทดลองที่ไม่มีบันทึก บัญชีและชุมชนเชื่อม Supabase แล้ว ข้อมูลแผนส่วนตัวยังอยู่ในเบราว์เซอร์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60 วินาที</a:t>
            </a:r>
          </a:p>
          <a:p/>
          <a:p>
            <a:r>
              <a:t>ช่วงนี้ใช้โครงงานเดียวให้เห็นเส้นทางครบ คือช่องแบ่งลิ้นชักจากกล่องเก่า ชี้ชื่อและภาพผลลัพธ์ก่อน แล้วชี้ข้อมูลประมาณ 25 นาที 4 ขั้นตอน ระดับเริ่มต้น เวลาในคู่มือเป็นค่าประมาณของเนื้อหา ไม่ใช่เวลาที่วัดจากผู้ทดลอง จุดสำคัญคือผู้ใช้เปิดอ่านได้ทุกขั้นแม้วัสดุยังไม่ครบ จึงสำรวจและตัดสินใจก่อนเริ่มได้ ภาพนี้ถ่ายจากต้นแบบในเครื่องโดยใช้ข้อมูลสาธิต ไม่ใช่ผลภารกิจผู้เข้าร่วม ต่อไปจะดูว่าระบบบอกสิ่งที่ต้องเตรียมอย่างไร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60 วินาที</a:t>
            </a:r>
          </a:p>
          <a:p/>
          <a:p>
            <a:r>
              <a:t>ในตัวอย่างนี้บันทึกว่ามีกระดาษลูกฟูกใช้งานได้หนึ่งแผ่น แต่คู่มือกำหนดสองแผ่น ระบบจึงแสดงจำนวนยังไม่พอ 1 จาก 2 ส่วนเทปกาวและลิ้นชักแสดงว่ายังไม่บันทึกว่ามี ต้องแยกให้ออกระหว่างของที่ไม่มีจริงกับข้อมูลที่ยังไม่ได้กรอก จากนั้นอ่านข้อกำหนดว่ากระดาษต้องยาวพอกับด้านในลิ้นชัก ระบบช่วยตรวจข้อมูลที่บันทึก แต่ไม่ได้วัดสภาพและขนาดของสิ่งของจริงแทนผู้ใช้ สไลด์นี้จึงอธิบายทั้งประโยชน์และขอบเขตของตัวตรวจวัสดุ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60 วินาที</a:t>
            </a:r>
          </a:p>
          <a:p/>
          <a:p>
            <a:r>
              <a:t>คู่มือหนึ่งขั้นมีชื่อขั้นตอน ภาพอธิบาย สิ่งที่ต้องลงมือทำ และจุดตรวจ เช่นวัดพื้นที่จริงก่อนตัด ผู้ใช้บันทึกแผน ติ๊กขั้นตอน และจดปัญหาได้ ภาพด้านขวาเป็นข้อมูลสาธิตที่ติ๊กหนึ่งขั้นเพื่อให้เห็นความคืบหน้า เมื่อกลับไปหน้างานที่บันทึกแล้วเปิดต่อ ข้อมูลยังอยู่ และระบบพาไปขั้นที่ยังไม่ทำ ข้อมูลแผนอยู่ในเบราว์เซอร์เดิม ยังไม่ซิงก์ข้ามเครื่อง การติ๊กหนึ่งขั้นไม่ได้ยืนยันว่าทำชิ้นงานจริงแล้ว หลังเห็นการใช้งาน จะอธิบายว่าเราประเมินต้นแบบด้วยหลักฐานใดบ้าง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75 วินาที</a:t>
            </a:r>
          </a:p>
          <a:p/>
          <a:p>
            <a:r>
              <a:t>การประเมินแบ่งเป็นสองแหล่งหลัก ฝั่งแรกใช้ชุดทดสอบตรวจว่าระบบให้ผลตามเงื่อนไขหรือไม่ อีกฝั่งใช้คะแนนดาวและข้อความรีวิวที่เผยแพร่เพื่อดูแนวทางปรับปรุง ผู้จัดทำรายงานว่ามีผู้ทดลอง 20 คน แต่ข้อมูลที่นำมาคำนวณมี 21 รายการรีวิว ซึ่งไม่ใช่จำนวนบุคคลที่ไม่ซ้ำ จึงไม่ใช้ 21 แทนจำนวนคน วิธีคัดเลือกและประชากรศาสตร์ยังไม่มีบันทึกในชุดนี้ และยังไม่มีผลเวลา ความสำเร็จ หรือความเข้าใจรายบุคคล เครื่องมือที่ใช้จริงไม่ใช่แบบสอบถามมาตรฐาน จึงไม่มีค่า IOC หรือความเชื่อมั่นให้รายงาน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50 วินาที</a:t>
            </a:r>
          </a:p>
          <a:p/>
          <a:p>
            <a:r>
              <a:t>ผลทางเทคนิคอ้างรุ่นโปรแกรมและไฟล์ผลที่บันทึกไว้ในวันที่ 3 ตุลาคม 2569 ส่วนรีวิวใช้จุดตัด 23 นาฬิกา 4 นาทีเวลาไทย ตรวจสถานะ ประเภท และคะแนนก่อนคำนวณ คะแนนใช้ความถี่ ร้อยละ ค่าเฉลี่ย และ SD แบบตัวอย่างที่หารด้วย n ลบหนึ่ง ข้อความอ่านแล้วจัดประเด็นเพื่อพัฒนา ยังไม่มีการนับความถี่ประเด็นด้วยผู้ประเมินหลายคน ข้อมูลชุดนี้ไม่ได้ออกแบบเพื่อเปรียบเทียบกลุ่ม จึงไม่ใช้สถิติอนุมาน ไม่เอาเวลาโพสต์ 18:41 ถึง 22:30 มาแทนระยะเวลาทำภารกิจของผู้ใช้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75 วินาที</a:t>
            </a:r>
          </a:p>
          <a:p/>
          <a:p>
            <a:r>
              <a:t>ผลแรกเป็นผลซอฟต์แวร์ ด้านซ้ายมี 99 กรณี ครอบคลุมกฎข้อมูล API และ SQL ด้านขวามี 51 กรณีผ่านเบราว์เซอร์ ตรวจหลายขนาดหน้าจอตั้งแต่คอมพิวเตอร์ถึงมือถือ ทั้งสองชุดไม่พบกรณีไม่ผ่านหรือข้ามในผลที่บันทึก ชุดทดสอบรวมเส้นทางค้นหา อ่านคู่มือ ตรวจวัสดุ และบันทึกแผน จึงสนับสนุนข้อคาดหมายด้านการทำงานภายใต้เงื่อนไขเหล่านี้ อย่างไรก็ตาม การผ่านทั้งหมดไม่ได้แปลว่าไม่มีบั๊กอื่น และบางเส้นทางใช้ข้อมูลจำลอง ไม่ใช่ผลทดสอบบริการจริงทุกกรณี ตัวเลข 99 และ 51 ไม่ใช่จำนวนผู้ใช้หรือหลักฐานว่าผู้ใช้เข้าใจขั้นตอนทุกคน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75 วินาที</a:t>
            </a:r>
          </a:p>
          <a:p/>
          <a:p>
            <a:r>
              <a:t>อ่านภาพรวมว่าคะแนนที่พบมากที่สุดคือ 4 ดาว 9 รายการ ตามด้วย 3 ดาว 7 รายการ และ 5 ดาว 5 รายการ ไม่พบ 1 หรือ 2 ดาวในข้อมูลที่เผยแพร่ ค่าเฉลี่ย 82 หาร 21 เท่ากับ 3.90 และ SD แบบตัวอย่าง 0.77 ไม่แปลเป็นระดับดีมากย้อนหลังหากไม่ได้กำหนดเกณฑ์ไว้ก่อน และไม่จัดอันดับโครงงานจากรีวิวเพียงสองรายการ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60 วินาที</a:t>
            </a:r>
          </a:p>
          <a:p/>
          <a:p>
            <a:r>
              <a:t>คะแนนช่วยให้เห็นภาพรวม แต่ข้อความบอกได้ชัดกว่าว่าควรปรับอะไร ผู้โพสต์บางส่วนชอบความง่าย หน้าตา และไอเดียโครงงาน ขณะเดียวกันมีข้อความว่าตัวหนังสือเล็กอ่านยาก และต้องการภาพเฉพาะจุด ตัวอย่างขนาดหรือชนิดวัสดุ และวิธีแก้เมื่อทำแล้วไม่เป็นตามคาด เช่นนิ้วกระดาษไม่ขยับ ข้อมูลเหล่านี้แปลงเป็นงานพัฒนาได้ คือปรับการอ่าน เพิ่มภาพและขนาด และเพิ่มจุดตรวจระหว่างทำ ทั้งหมดเป็นการสรุปความคิดเห็น ไม่ถือทุกข้อความเป็นบั๊กที่เราทดลองยืนยันแล้ว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75 วินาที</a:t>
            </a:r>
          </a:p>
          <a:p/>
          <a:p>
            <a:r>
              <a:t>ผลที่ต้องอ่านร่วมกันมีสามอย่าง หนึ่ง เรามีต้นแบบพร้อมชุดทดสอบ จึงอธิบายได้ว่าระบบทำงานอย่างไรและตรวจอะไรแล้ว ซึ่งเชื่อมกับแนวคิดสร้างและประเมินระบบ สอง แม้ผลซอฟต์แวร์จะผ่าน รีวิวก็ยังขอภาพและรายละเอียดเพิ่ม แสดงว่าการทำงานของโปรแกรมกับความเข้าใจของผู้ใช้เป็นคนละมิติ แนวคิดสื่อหลายรูปแบบช่วยกำหนดว่าจะเลือกภาพอธิบายจุดยากอย่างไร แต่ยังต้องเก็บผลความเข้าใจจริง สาม เนื้อหามีโอกาสใช้กับการเรียนรู้และการใช้วัสดุซ้ำ ทว่าเรายังไม่มีผลก่อน–หลังหรือปริมาณวัสดุที่วัดได้ จึงเสนอให้ประเมินด้านเหล่านั้นเพิ่มเติม การอภิปรายนี้เป็นเหตุผลเชิงแนวคิด ไม่ใช่การทดสอบนัยสำคัญ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40 วินาที</a:t>
            </a:r>
          </a:p>
          <a:p/>
          <a:p>
            <a:r>
              <a:t>สรุปตามวัตถุประสงค์ทีละข้อเพื่อไม่ให้ผลการวิจัยขาดความเชื่อมโยง วัตถุประสงค์การพัฒนาได้ผลผลิตแล้ว การประเมินได้ผลเบื้องต้นทั้งซอฟต์แวร์และรีวิว แต่ยังไม่ครอบคลุมการวัดประสิทธิผลการใช้งานรายบุคคล ข้อคาดหมายสามข้อได้รับการสนับสนุนจากกรณีทดสอบ ไม่ได้พิสูจน์ว่าผู้ทดลองทุกคนทำสำเร็จทุกข้อ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35 วินาที</a:t>
            </a:r>
          </a:p>
          <a:p/>
          <a:p>
            <a:r>
              <a:t>ข้อจำกัดสำคัญคือรีวิวที่วิเคราะห์เป็นข้อมูลที่อนุมัติแล้ว ไม่ครอบคลุมทุกความคิดเห็น และบางข้อความตรงหรือดัดแปลงจากข้อความตัวอย่าง จึงไม่กล่าวว่าทั้งหมดเป็นความคิดเห็นอิสระที่เกิดขึ้นโดยไม่มีอิทธิพล อีกทั้งยังไม่มีผลภารกิจรายบุคคลหรือรหัสที่ยืนยันคนไม่ซ้ำ ส่วนผลการเรียนรู้ การลดขยะ และการทำชิ้นงานจริงก็ยังไม่ได้วัด เราจึงสรุปได้ในระดับการพัฒนาและประเมินต้นแบบเบื้องต้นเท่านั้น ประเด็นที่ต้องวิจัยเพิ่มจะอยู่ในหน้าถัดไป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45 วินาที</a:t>
            </a:r>
          </a:p>
          <a:p/>
          <a:p>
            <a:r>
              <a:t>แบ่งข้อเสนอแนะเป็นสิ่งที่ทำได้กับต้นแบบตอนนี้และสิ่งที่ต้องวิจัยต่อ การเก็บข้อมูลควรขอความยินยอม อธิบายว่าแสดงความคิดเห็นเชิงลบได้ บันทึกความล้มเหลวและความช่วยเหลือด้วย หากจะเปรียบเทียบกับคู่มือทั่วไปต้องจัดเนื้อหาและความยากให้เทียบเคียงกัน รวมทั้งกำหนดวิธีจัดกลุ่มหรือลำดับและแผนวิเคราะห์ล่วงหน้า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เวลาซ้อมประมาณ 20 วินาที</a:t>
            </a:r>
          </a:p>
          <a:p/>
          <a:p>
            <a:r>
              <a:t>สรุปเพียงว่าต้นแบบพัฒนาแล้ว มีผลตรวจซอฟต์แวร์และข้อมูลรีวิวเบื้องต้น และระบุสิ่งที่จะปรับปรุง เปิดรับคำถาม ใช้สไลด์สำรองถัดไปเมื่อมีคำถามเรื่องเก็บข้อมูลหรือทำซ้ำผลทดสอบ ไม่จำเป็นต้องอ่านเอกสารอ้างอิงทุกบรรทัดระหว่างนำเสนอ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หน้าสำรอง — เปิดเมื่อมีคำถาม ไม่อยู่ในเวลา 15 นาที</a:t>
            </a:r>
          </a:p>
          <a:p/>
          <a:p>
            <a:r>
              <a:t>แสดงแหล่งอ้างอิงที่ใช้เชื่อมแนวคิด ไม่ใช้ตัวอย่างชื่อผู้แต่งจาก PDF ต้นแบบเป็นเอกสารอ้างอิงจริง รายการบทความเป็นรายการตั้งต้นที่มี DOI แต่ยังไม่มีบันทึกตรวจฉบับเต็ม จึงไม่อ้างผลตัวเลขหรือวิธีวิจัยเฉพาะจากบทความเหล่านี้ เอกสารเทคนิคและเว็บไซต์ตัวอย่างแยกจากบทความวิชาการ บรรณานุกรมและลิงก์เพิ่มเติมอยู่ในไฟล์ประกอบ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หน้าสำรอง — เปิดเมื่อมีคำถาม ไม่อยู่ในเวลา 15 นาที</a:t>
            </a:r>
          </a:p>
          <a:p/>
          <a:p>
            <a:r>
              <a:t>แสดงแหล่งอ้างอิงที่ใช้เชื่อมแนวคิด ไม่ใช้ตัวอย่างชื่อผู้แต่งจาก PDF ต้นแบบเป็นเอกสารอ้างอิงจริง รายการบทความเป็นรายการตั้งต้นที่มี DOI แต่ยังไม่มีบันทึกตรวจฉบับเต็ม จึงไม่อ้างผลตัวเลขหรือวิธีวิจัยเฉพาะจากบทความเหล่านี้ เอกสารเทคนิคและเว็บไซต์ตัวอย่างแยกจากบทความวิชาการ บรรณานุกรมและลิงก์เพิ่มเติมอยู่ในไฟล์ประกอบ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หน้าสำรอง — เปิดเมื่อมีคำถาม ไม่อยู่ในเวลา 15 นาที</a:t>
            </a:r>
          </a:p>
          <a:p/>
          <a:p>
            <a:r>
              <a:t>หน้านี้เก็บหัวข้อที่ต้องมีตามแบบวิจัยแต่ไม่จำเป็นต้องอ่านทั้งหมดระหว่างนำเสนอ นิยามแยกการใช้ซ้ำจากรีไซเคิล และแยกคู่มือสนับสนุนกิจกรรมจากการจัด PBL ครบกระบวนการ ประโยชน์ระดับบุคคลและสถานศึกษายังเป็นสิ่งที่คาดหวัง ส่วนคุณค่าเชิงความรู้ในงานนี้คือบทเรียนการออกแบบและประเมิน ไม่อ้างผลเชิงทฤษฎีใหม่หรือผลลดขยะที่ไม่ได้วัด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หน้าสำรอง — เปิดเมื่อมีคำถาม ไม่อยู่ในเวลา 15 นาที</a:t>
            </a:r>
          </a:p>
          <a:p/>
          <a:p>
            <a:r>
              <a:t>เครื่องมือที่ใช้งานจริงคือชุดทดสอบและข้อมูลรีวิว ไม่ได้ใช้แบบสอบถามรายข้อที่มีค่า IOC หรือ Cronbach alpha จึงไม่รายงานค่าคุณภาพเครื่องมือที่ไม่ได้ตรวจ คะแนนดาวไม่ใช่คะแนน SUS และการผ่านชุดทดสอบไม่ได้วัดความพึงพอใจรายบุคคล ถ้าจะใช้แบบสอบถามในรอบถัดไปต้องตรวจเครื่องมือก่อนเก็บข้อมูล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หน้าสำรอง — เปิดเมื่อมีคำถาม ไม่อยู่ในเวลา 15 นาที</a:t>
            </a:r>
          </a:p>
          <a:p/>
          <a:p>
            <a:r>
              <a:t>แยกหลักฐานแต่ละชนิดให้ชัด axe ตรวจเฉพาะกฎและหน้าที่เลือก npm audit อ้างฐานช่องโหว่ ณ วันที่ตรวจ PGlite เป็นการทดสอบ SQL ในเครื่อง ไม่ใช่การทดสอบโหลดฐานข้อมูลจริงหลายกระบวนการ และคำยืนยันเข้าสู่ระบบจากผู้จัดทำเป็นการสังเกตบริการจริงในบางเส้นทาง ไม่ใช่ชุดทดสอบอัตโนมัติครอบคลุมทั้งหมด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หน้าสำรอง — เปิดเมื่อมีคำถาม ไม่อยู่ในเวลา 15 นาที</a:t>
            </a:r>
          </a:p>
          <a:p/>
          <a:p>
            <a:r>
              <a:t>นี่เป็นแนวทางสำหรับการเก็บข้อมูลใหม่ ไม่มีการเติมผลลงแบบบันทึกย้อนหลัง งานหลักสี่งานตรงกับสิ่งที่ต้องการประเมินจริง กำหนดคำตอบอ้างอิงและเกณฑ์การช่วยเหลือก่อนเริ่ม ผู้เข้าร่วมให้ความคิดเห็นด้วยถ้อยคำของตนเอง แยกการวัดความเข้าใจขั้นตอนออกจากคะแนนดาว และไม่เปลี่ยนผลที่ไม่สำเร็จเป็นสำเร็จ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หน้าสำรอง — เปิดเมื่อมีคำถาม ไม่อยู่ในเวลา 15 นาที</a:t>
            </a:r>
          </a:p>
          <a:p/>
          <a:p>
            <a:r>
              <a:t>สำหรับคำถามว่าผลตรวจมาจากไหน ให้ชี้รายงานและไฟล์หลักฐานใน GitHub รายงานมีคำสั่งและสภาพแวดล้อมที่ใช้ ไม่สรุปผลทดสอบโหลดหรือผลรีสตาร์ตบริการจริงจากการทดสอบในเครื่อง ข้อมูลประวัติโครงงานและการเก็บผู้ใช้ที่ยังขาดต้องได้จากผู้จัดทำ ส่วนบทความอ้างอิงต้องตรวจต้นฉบับก่อนใช้ส่งฉบับสมบูรณ์</a:t>
            </a:r>
          </a:p>
          <a:p/>
          <a:p>
            <a:r>
              <a:t>ReBuild presentation icons: Lucide</a:t>
            </a:r>
          </a:p>
          <a:p/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hyperlink" Target="https://work-c3to.onrender.com" TargetMode="Externa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2307/25148625" TargetMode="External"/><Relationship Id="rId3" Type="http://schemas.openxmlformats.org/officeDocument/2006/relationships/hyperlink" Target="https://doi.org/10.2753/MIS0742-1222240302" TargetMode="External"/><Relationship Id="rId4" Type="http://schemas.openxmlformats.org/officeDocument/2006/relationships/hyperlink" Target="https://doi.org/10.1016/j.resconrec.2017.09.005" TargetMode="Externa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177/1365480216659733" TargetMode="External"/><Relationship Id="rId3" Type="http://schemas.openxmlformats.org/officeDocument/2006/relationships/hyperlink" Target="https://doi.org/10.1207/S15326985EP3801_6" TargetMode="Externa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โครงงานวิจัย 5 บท / ปีการศึกษา 2569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0576" y="0"/>
            <a:ext cx="5449824" cy="7726679"/>
          </a:xfrm>
          <a:prstGeom prst="rect">
            <a:avLst/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0" y="731520"/>
            <a:ext cx="4572000" cy="457200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8046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77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0632"/>
            <a:ext cx="7973568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การพัฒนาเว็บแอปพลิเคชันเพื่อสนับสนุน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การวางแผนโครงงานจากวัสดุในครัวเรือน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และการประเมินต้นแบบเบื้องต้น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47488"/>
            <a:ext cx="7818120" cy="1764792"/>
          </a:xfrm>
          <a:prstGeom prst="roundRect">
            <a:avLst>
              <a:gd name="adj" fmla="val 5000"/>
            </a:avLst>
          </a:prstGeom>
          <a:solidFill>
            <a:srgbClr val="25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5257800"/>
            <a:ext cx="737006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ผู้จัดทำ  [ชื่อ–นามสกุล / ชั้น / เลขที่]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ครูที่ปรึกษา  [ระบุชื่อ]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โครงการห้องเรียนพิเศษเตรียมวิศวกรรมศาสตร์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โรงเรียนเตรียมอุดมศึกษาพัฒนาการ</a:t>
            </a:r>
          </a:p>
        </p:txBody>
      </p:sp>
      <p:pic>
        <p:nvPicPr>
          <p:cNvPr id="14" name="Picture 13" descr="art-planter.png"/>
          <p:cNvPicPr>
            <a:picLocks noChangeAspect="1"/>
          </p:cNvPicPr>
          <p:nvPr/>
        </p:nvPicPr>
        <p:blipFill>
          <a:blip r:embed="rId2"/>
          <a:srcRect t="586" b="586"/>
          <a:stretch>
            <a:fillRect/>
          </a:stretch>
        </p:blipFill>
        <p:spPr>
          <a:xfrm>
            <a:off x="9592056" y="1097280"/>
            <a:ext cx="4553712" cy="2971800"/>
          </a:xfrm>
          <a:prstGeom prst="rect">
            <a:avLst/>
          </a:prstGeom>
        </p:spPr>
      </p:pic>
      <p:pic>
        <p:nvPicPr>
          <p:cNvPr id="15" name="Picture 14" descr="art-dividers.png"/>
          <p:cNvPicPr>
            <a:picLocks noChangeAspect="1"/>
          </p:cNvPicPr>
          <p:nvPr/>
        </p:nvPicPr>
        <p:blipFill>
          <a:blip r:embed="rId3"/>
          <a:srcRect l="3776" r="3776"/>
          <a:stretch>
            <a:fillRect/>
          </a:stretch>
        </p:blipFill>
        <p:spPr>
          <a:xfrm>
            <a:off x="9509760" y="4581144"/>
            <a:ext cx="2240280" cy="1600200"/>
          </a:xfrm>
          <a:prstGeom prst="rect">
            <a:avLst/>
          </a:prstGeom>
        </p:spPr>
      </p:pic>
      <p:pic>
        <p:nvPicPr>
          <p:cNvPr id="16" name="Picture 15" descr="art-bridge.png"/>
          <p:cNvPicPr>
            <a:picLocks noChangeAspect="1"/>
          </p:cNvPicPr>
          <p:nvPr/>
        </p:nvPicPr>
        <p:blipFill>
          <a:blip r:embed="rId4"/>
          <a:srcRect l="3776" r="3776"/>
          <a:stretch>
            <a:fillRect/>
          </a:stretch>
        </p:blipFill>
        <p:spPr>
          <a:xfrm>
            <a:off x="11932920" y="4581144"/>
            <a:ext cx="2240280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55480" y="6629400"/>
            <a:ext cx="459943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ใช้ของใกล้ตัว • วางแผน • เรียนรู้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จากกล่องที่มีอยู่ → สู่แผนทำของใช้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pic>
        <p:nvPicPr>
          <p:cNvPr id="8" name="Picture 7" descr="art-dividers.png"/>
          <p:cNvPicPr>
            <a:picLocks noChangeAspect="1"/>
          </p:cNvPicPr>
          <p:nvPr/>
        </p:nvPicPr>
        <p:blipFill>
          <a:blip r:embed="rId2"/>
          <a:srcRect l="474" r="474"/>
          <a:stretch>
            <a:fillRect/>
          </a:stretch>
        </p:blipFill>
        <p:spPr>
          <a:xfrm>
            <a:off x="896112" y="2331720"/>
            <a:ext cx="5212080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24712" y="6181344"/>
            <a:ext cx="4800600" cy="384048"/>
          </a:xfrm>
          <a:prstGeom prst="roundRect">
            <a:avLst>
              <a:gd name="adj" fmla="val 20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6227064"/>
            <a:ext cx="45811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โจทย์ตัวอย่าง: จัดลิ้นชัก</a:t>
            </a:r>
          </a:p>
        </p:txBody>
      </p:sp>
      <p:pic>
        <p:nvPicPr>
          <p:cNvPr id="11" name="Picture 10" descr="icon-CircleHelp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212848"/>
            <a:ext cx="557784" cy="5577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08392" y="2157984"/>
            <a:ext cx="6080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ปัญหาที่ใช้กำหนดการพัฒนา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907791"/>
            <a:ext cx="608076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ไม่รู้จะทำอะไร ต้องเตรียมอะไร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หรือเริ่มขั้นตอนไหนก่อน</a:t>
            </a:r>
          </a:p>
        </p:txBody>
      </p:sp>
      <p:pic>
        <p:nvPicPr>
          <p:cNvPr id="14" name="Picture 13" descr="icon-Rout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3877055"/>
            <a:ext cx="557784" cy="5577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08392" y="3822191"/>
            <a:ext cx="6080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แนวทางของ ReBuild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572000"/>
            <a:ext cx="608076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เชื่อมการเลือกงาน ตรวจวัสดุ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อ่านคู่มือ และบันทึกแผน</a:t>
            </a:r>
          </a:p>
        </p:txBody>
      </p:sp>
      <p:pic>
        <p:nvPicPr>
          <p:cNvPr id="17" name="Picture 16" descr="icon-Users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5541264"/>
            <a:ext cx="557784" cy="5577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08392" y="5486400"/>
            <a:ext cx="6080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ประโยชน์ที่คาดหวัง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6236208"/>
            <a:ext cx="608076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ช่วยผู้เริ่มต้นเตรียมงาน และเป็นสื่อ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ให้ครูใช้ประกอบกิจกรรม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ที่มาจากข้อกำหนดของต้นแบบ ไม่ใช่ผลสำรวจประชากร • ผลต่อการเรียนรู้หรือปริมาณขยะยังไม่ได้วัด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วัตถุประสงค์ 3 ข้อ และขอบเขตต้นแบบ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859536" y="2240280"/>
            <a:ext cx="612648" cy="61264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77440"/>
            <a:ext cx="35661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240280"/>
            <a:ext cx="7424927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พัฒนาคู่มือบนเว็บ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880360"/>
            <a:ext cx="74249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ค้นหาและอ่านโครงงานจากวัสดุในครัวเรือน</a:t>
            </a:r>
          </a:p>
        </p:txBody>
      </p:sp>
      <p:sp>
        <p:nvSpPr>
          <p:cNvPr id="12" name="Oval 11"/>
          <p:cNvSpPr/>
          <p:nvPr/>
        </p:nvSpPr>
        <p:spPr>
          <a:xfrm>
            <a:off x="859536" y="3767328"/>
            <a:ext cx="612648" cy="61264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904488"/>
            <a:ext cx="35661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767328"/>
            <a:ext cx="7424927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ช่วยตรวจและวางแผนวัสดุ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4407408"/>
            <a:ext cx="74249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รู้สิ่งที่ต้องเตรียม บันทึกแผนและความคืบหน้า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5294376"/>
            <a:ext cx="612648" cy="61264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431536"/>
            <a:ext cx="35661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5294376"/>
            <a:ext cx="7424927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ประเมินเพื่อปรับปรุงต้นแบบ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5934456"/>
            <a:ext cx="74249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ใช้ผลทดสอบซอฟต์แวร์และรีวิวที่เผยแพร่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82912" y="2176272"/>
            <a:ext cx="4343400" cy="4937760"/>
          </a:xfrm>
          <a:prstGeom prst="roundRect">
            <a:avLst>
              <a:gd name="adj" fmla="val 35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0384" y="2697480"/>
            <a:ext cx="36576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37 โครงงาน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0384" y="3794760"/>
            <a:ext cx="3657600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94 ประเภทวัสดุ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141 ภาพรายขั้น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ภาษาไทย / อังกฤษ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5833872"/>
            <a:ext cx="36576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งานบ้าน • งานใช้ซ้ำ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สวน • วิทยาศาสตร์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และอิเล็กทรอนิกส์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หลักฐานประเมิน: 3 ตุลาคม 2569 • ขอบเขต หมวดงาน นิยาม และประโยชน์ฉบับละเอียด: หน้าสำรอง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แนวคิดและงานวิจัยที่ใช้ตัดสินใจออกแบบ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" y="2212848"/>
            <a:ext cx="4279392" cy="4599432"/>
          </a:xfrm>
          <a:prstGeom prst="roundRect">
            <a:avLst>
              <a:gd name="adj" fmla="val 25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Cod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523744"/>
            <a:ext cx="649224" cy="649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3474720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สร้างแล้วต้องประเมิน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379976"/>
            <a:ext cx="3712463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กรอบการวิจัยเชิงออกแบบ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5074920"/>
            <a:ext cx="3712463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ReBuild มีผลผลิตระบบ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ควบคู่หลักฐานการประเมิน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6245352"/>
            <a:ext cx="37124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Hevner et al. (2004)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Peffers et al. (2007)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2212848"/>
            <a:ext cx="4279392" cy="4599432"/>
          </a:xfrm>
          <a:prstGeom prst="roundRect">
            <a:avLst>
              <a:gd name="adj" fmla="val 25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BookOpen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2523744"/>
            <a:ext cx="649224" cy="649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78424" y="3474720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ทำให้คู่มือเข้าใจง่าย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8424" y="4379976"/>
            <a:ext cx="3712463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สื่อหลายรูปแบบ / โครงงาน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8424" y="5074920"/>
            <a:ext cx="3712463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แบ่งขั้น ใช้ภาพและจุดตรวจ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เพื่อช่วยการวางแผนลงมือทำ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8424" y="6245352"/>
            <a:ext cx="37124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Mayer &amp; Moreno (2003)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Kokotsaki et al. (2016)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57816" y="2212848"/>
            <a:ext cx="4279392" cy="4599432"/>
          </a:xfrm>
          <a:prstGeom prst="roundRect">
            <a:avLst>
              <a:gd name="adj" fmla="val 25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Recycl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2523744"/>
            <a:ext cx="649224" cy="6492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241280" y="3474720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ใช้วัสดุให้เกิดประโยชน์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379976"/>
            <a:ext cx="3712463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เศรษฐกิจหมุนเวียน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5074920"/>
            <a:ext cx="3712463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ออกแบบงานจากของใกล้ตัว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ยังต้องวัดผลการใช้วัสดุจริง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245352"/>
            <a:ext cx="3712463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Kirchherr et al. (2017)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เชื่อมโยงในระดับแนวคิด ไม่ใช่ผลยืนยันประสิทธิผลของ ReBuild • รายการเต็มและสถานะตรวจต้นฉบับ: หน้าสำรอง 20–21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กรอบการศึกษา: พัฒนา → ตรวจระบบ → วิเคราะห์ข้อมูล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05</a:t>
            </a:r>
          </a:p>
        </p:txBody>
      </p:sp>
      <p:pic>
        <p:nvPicPr>
          <p:cNvPr id="8" name="Picture 7" descr="icon-Packag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24028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" y="3246120"/>
            <a:ext cx="40690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ปัจจัยนำเข้า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096512"/>
            <a:ext cx="4069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โจทย์ผู้เริ่มต้น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วัสดุ คู่มือ และข้อกำหนด</a:t>
            </a:r>
          </a:p>
        </p:txBody>
      </p:sp>
      <p:sp>
        <p:nvSpPr>
          <p:cNvPr id="11" name="Chevron 10"/>
          <p:cNvSpPr/>
          <p:nvPr/>
        </p:nvSpPr>
        <p:spPr>
          <a:xfrm>
            <a:off x="4773168" y="2395728"/>
            <a:ext cx="384048" cy="512064"/>
          </a:xfrm>
          <a:prstGeom prst="chevron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Cod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2240280"/>
            <a:ext cx="713232" cy="713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58968" y="3246120"/>
            <a:ext cx="40690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กระบวนการ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4096512"/>
            <a:ext cx="4069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พัฒนาต้นแบบ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ทดสอบและรวบรวมรีวิว</a:t>
            </a:r>
          </a:p>
        </p:txBody>
      </p:sp>
      <p:sp>
        <p:nvSpPr>
          <p:cNvPr id="15" name="Chevron 14"/>
          <p:cNvSpPr/>
          <p:nvPr/>
        </p:nvSpPr>
        <p:spPr>
          <a:xfrm>
            <a:off x="9345167" y="2395728"/>
            <a:ext cx="384048" cy="512064"/>
          </a:xfrm>
          <a:prstGeom prst="chevron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ChartColum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68" y="2240280"/>
            <a:ext cx="713232" cy="713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30968" y="3246120"/>
            <a:ext cx="40690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ผลที่สังเกต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30968" y="4096512"/>
            <a:ext cx="4069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ผลผ่าน/ไม่ผ่าน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คะแนนและประเด็นปรับปรุง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623560"/>
            <a:ext cx="13030200" cy="1389888"/>
          </a:xfrm>
          <a:prstGeom prst="roundRect">
            <a:avLst>
              <a:gd name="adj" fmla="val 4000"/>
            </a:avLst>
          </a:prstGeom>
          <a:solidFill>
            <a:srgbClr val="25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815584"/>
            <a:ext cx="478231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ข้อคาดหมายด้านการทำงาน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483096"/>
            <a:ext cx="12344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อ่านได้แม้ของไม่ครบ • ตรวจวัสดุตามเงื่อนไข • บันทึกและเปิดต่อได้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เป็นการประเมินเชิงพรรณนา ไม่มีตัวแปรต้นที่จัดกระทำเพื่อพิสูจน์เหตุ–ผล • คงรุ่น/ข้อมูล/เงื่อนไขของชุดทดสอบ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วิธีพัฒนาและเครื่องมือที่ใช้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57984"/>
            <a:ext cx="7918704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157984"/>
            <a:ext cx="7918704" cy="338328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5256" y="2276856"/>
            <a:ext cx="68580" cy="68580"/>
          </a:xfrm>
          <a:prstGeom prst="ellipse">
            <a:avLst/>
          </a:prstGeom>
          <a:solidFill>
            <a:srgbClr val="B59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5" y="2276856"/>
            <a:ext cx="68580" cy="6858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2276856"/>
            <a:ext cx="68580" cy="68580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81328" y="2249424"/>
            <a:ext cx="7004304" cy="146304"/>
          </a:xfrm>
          <a:prstGeom prst="roundRect">
            <a:avLst>
              <a:gd name="adj" fmla="val 12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ome-hero.png"/>
          <p:cNvPicPr>
            <a:picLocks noChangeAspect="1"/>
          </p:cNvPicPr>
          <p:nvPr/>
        </p:nvPicPr>
        <p:blipFill>
          <a:blip r:embed="rId2"/>
          <a:srcRect t="4447" b="4447"/>
          <a:stretch>
            <a:fillRect/>
          </a:stretch>
        </p:blipFill>
        <p:spPr>
          <a:xfrm>
            <a:off x="822959" y="2542032"/>
            <a:ext cx="7772400" cy="4425696"/>
          </a:xfrm>
          <a:prstGeom prst="rect">
            <a:avLst/>
          </a:prstGeom>
        </p:spPr>
      </p:pic>
      <p:pic>
        <p:nvPicPr>
          <p:cNvPr id="15" name="Picture 14" descr="icon-Monitor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2231136"/>
            <a:ext cx="557784" cy="5577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48672" y="2231136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ส่วนผู้ใช้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8672" y="2916936"/>
            <a:ext cx="3977639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React + TypeScript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แผนและวัสดุเก็บใน localStorage</a:t>
            </a:r>
          </a:p>
        </p:txBody>
      </p:sp>
      <p:pic>
        <p:nvPicPr>
          <p:cNvPr id="18" name="Picture 17" descr="icon-Databas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3840480"/>
            <a:ext cx="557784" cy="5577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48672" y="3840480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บริการและฐานข้อมูล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8672" y="4526280"/>
            <a:ext cx="3977639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Node.js / Express บน Render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Supabase: บัญชี ชุมชน และรูป</a:t>
            </a:r>
          </a:p>
        </p:txBody>
      </p:sp>
      <p:pic>
        <p:nvPicPr>
          <p:cNvPr id="21" name="Picture 20" descr="icon-ShieldCheck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5449824"/>
            <a:ext cx="557784" cy="5577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948672" y="5449824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ตรวจและเผยแพร่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6135624"/>
            <a:ext cx="3977639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Git/GitHub + เครื่องมือทดสอบ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ตรวจรุ่นโปรแกรมก่อนสรุปผล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ภาพหน้าจอจากต้นแบบ • แผนส่วนตัวยังไม่ซิงก์ข้ามอุปกรณ์อัตโนมัติเมื่อเข้าสู่ระบบ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สาธิตต้นแบบ / ผลผลิตตามวัตถุประสงค์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สาธิต 1 | เลือกงานและเปิดคู่มือได้ทันที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130552"/>
            <a:ext cx="13185648" cy="3520440"/>
          </a:xfrm>
          <a:prstGeom prst="roundRect">
            <a:avLst>
              <a:gd name="adj" fmla="val 35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60" y="2304288"/>
            <a:ext cx="12426150" cy="31272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1832" y="5989320"/>
            <a:ext cx="4160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เป้าหมายชัด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6675120"/>
            <a:ext cx="4160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ช่องแบ่งลิ้นชักจากกล่องเก่า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2" y="5989320"/>
            <a:ext cx="4160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รู้ภาพรวมก่อนทำ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2" y="6675120"/>
            <a:ext cx="4160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เวลาโดยประมาณ • ระดับ • จำนวนขั้น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5832" y="5989320"/>
            <a:ext cx="4160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เริ่มจากการเรียนรู้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5832" y="6675120"/>
            <a:ext cx="41605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ยังไม่มีวัสดุครบก็อ่านทุกขั้นได้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ภาพสาธิตจากต้นแบบในเครื่อง ใช้ข้อมูลตัวอย่างในเบราว์เซอร์ • ไม่ใช่ผลภารกิจของผู้ทดลองหรือการทำชิ้นงานจริง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สาธิตต้นแบบ / ผลผลิตตามวัตถุประสงค์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สาธิต 2 | รู้ว่ามีอะไร และต้องเตรียมอะไรเพิ่ม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157984"/>
            <a:ext cx="8165592" cy="4965192"/>
          </a:xfrm>
          <a:prstGeom prst="roundRect">
            <a:avLst>
              <a:gd name="adj" fmla="val 35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material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382" y="2377440"/>
            <a:ext cx="6292170" cy="45354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0" y="22402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8712" y="2240280"/>
            <a:ext cx="366674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เทียบจำนวน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990088"/>
            <a:ext cx="4599432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ตัวอย่างมีลูกฟูก 1 แผ่น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คู่มือต้องใช้ 2 แผ่น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86791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8712" y="3867912"/>
            <a:ext cx="366674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อ่านเหตุผลและรายละเอียด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617720"/>
            <a:ext cx="4599432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แผ่นต้องยาวพอกับลิ้นชัก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ตรวจขนาดจริงก่อนลงมือ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5495544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8712" y="5495544"/>
            <a:ext cx="3666744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แยกสิ่งที่ยังไม่บันทึก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6245352"/>
            <a:ext cx="4599432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เทปกาวและลิ้นชักยังไม่อยู่ในคลัง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ไม่ได้หมายความว่าไม่มีอยู่จริง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ภาพสาธิตจากต้นแบบในเครื่อง ใช้ข้อมูลตัวอย่างในเบราว์เซอร์ • ไม่ใช่ผลภารกิจของผู้ทดลองหรือการทำชิ้นงานจริง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สาธิตต้นแบบ / ผลผลิตตามวัตถุประสงค์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สาธิต 3 | อ่านขั้นตอน บันทึก และเปิดทำต่อ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2185416"/>
            <a:ext cx="6821424" cy="4297680"/>
          </a:xfrm>
          <a:prstGeom prst="roundRect">
            <a:avLst>
              <a:gd name="adj" fmla="val 3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137" y="2359152"/>
            <a:ext cx="4682781" cy="3867912"/>
          </a:xfrm>
          <a:prstGeom prst="rect">
            <a:avLst/>
          </a:prstGeom>
        </p:spPr>
      </p:pic>
      <p:sp>
        <p:nvSpPr>
          <p:cNvPr id="10" name="Chevron 9"/>
          <p:cNvSpPr/>
          <p:nvPr/>
        </p:nvSpPr>
        <p:spPr>
          <a:xfrm>
            <a:off x="7900416" y="3840480"/>
            <a:ext cx="457200" cy="640080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68512" y="2185416"/>
            <a:ext cx="3136392" cy="4297680"/>
          </a:xfrm>
          <a:prstGeom prst="roundRect">
            <a:avLst>
              <a:gd name="adj" fmla="val 3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-sa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2" y="2626967"/>
            <a:ext cx="2862072" cy="3414576"/>
          </a:xfrm>
          <a:prstGeom prst="rect">
            <a:avLst/>
          </a:prstGeom>
        </p:spPr>
      </p:pic>
      <p:pic>
        <p:nvPicPr>
          <p:cNvPr id="13" name="Picture 12" descr="icon-Bookmark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392" y="2459736"/>
            <a:ext cx="667512" cy="667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70664" y="3639312"/>
            <a:ext cx="1801368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เปิดต่อ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70664" y="4599432"/>
            <a:ext cx="181051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ข้อมูลขั้นที่บันทึก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ยังอยู่เมื่อเปิดใหม่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ในเบราว์เซอร์เดิม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757416"/>
            <a:ext cx="649224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ขั้นตอน + ภาพ + จุดตรวจ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6757416"/>
            <a:ext cx="517550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ตัวอย่างบันทึก 1 จาก 4 ขั้น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ภาพสาธิตจากต้นแบบในเครื่อง ใช้ข้อมูลตัวอย่างในเบราว์เซอร์ • ไม่ใช่ผลภารกิจของผู้ทดลองหรือการทำชิ้นงานจริง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ประเมินอย่างไร: แยกคน ข้อมูล และเครื่องมือ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57984"/>
            <a:ext cx="4270248" cy="4919472"/>
          </a:xfrm>
          <a:prstGeom prst="roundRect">
            <a:avLst>
              <a:gd name="adj" fmla="val 35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Cod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487168"/>
            <a:ext cx="612648" cy="612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31920" y="2487168"/>
            <a:ext cx="83210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410712"/>
            <a:ext cx="369417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ตรวจการทำงาน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4224528"/>
            <a:ext cx="36941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กรณีทดสอบซอฟต์แวร์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5074920"/>
            <a:ext cx="369417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Vitest / PGlite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Playwright / Chromium / axe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06424" y="6080760"/>
            <a:ext cx="3694176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06424" y="6309360"/>
            <a:ext cx="369417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ผ่าน–ไม่ผ่าน–ข้าม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ตามผลที่คาดไว้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5816" y="2157984"/>
            <a:ext cx="4270248" cy="4919472"/>
          </a:xfrm>
          <a:prstGeom prst="roundRect">
            <a:avLst>
              <a:gd name="adj" fmla="val 35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MessageSquar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487168"/>
            <a:ext cx="612648" cy="612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94776" y="2487168"/>
            <a:ext cx="83210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410712"/>
            <a:ext cx="369417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ศึกษาข้อคิดเห็น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224528"/>
            <a:ext cx="36941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21 รายการรีวิวที่เผยแพร่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074920"/>
            <a:ext cx="369417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เว็บไซต์ 19 • โครงงาน 2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คะแนนดาวและข้อความ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0" y="6080760"/>
            <a:ext cx="3694176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0" y="6309360"/>
            <a:ext cx="369417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แยกชนิดและสถานะ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ใช้รายการเป็นหน่วยวิเคราะห์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8672" y="2157984"/>
            <a:ext cx="4270248" cy="4919472"/>
          </a:xfrm>
          <a:prstGeom prst="roundRect">
            <a:avLst>
              <a:gd name="adj" fmla="val 35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Users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36" y="2487168"/>
            <a:ext cx="612648" cy="6126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057632" y="2487168"/>
            <a:ext cx="83210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2136" y="3410712"/>
            <a:ext cx="3694176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ผู้ทดลองที่รายงาน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2136" y="4224528"/>
            <a:ext cx="369417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20 คน ตามข้อมูลผู้จัดทำ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32136" y="5074920"/>
            <a:ext cx="369417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กลุ่มเป้าหมาย: ผู้เริ่มต้น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ที่สนใจงานบ้านและการเรียนรู้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232136" y="6080760"/>
            <a:ext cx="3694176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232136" y="6309360"/>
            <a:ext cx="369417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ยังไม่มีข้อมูลวิธีเลือก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อายุ/เพศ/ระดับการศึกษา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21 รีวิว ≠ 21 คนไม่ซ้ำ • ยังไม่มีผลภารกิจรายบุคคลหรือแบบสอบถามมาตรฐาน • เครื่องมือ/คุณภาพข้อมูลละเอียด: หน้า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เก็บข้อมูลและวิเคราะห์ให้ตรงกับหลักฐาน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96328" y="2167128"/>
            <a:ext cx="0" cy="4910328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59536" y="2185416"/>
            <a:ext cx="3264408" cy="384048"/>
          </a:xfrm>
          <a:prstGeom prst="roundRect">
            <a:avLst>
              <a:gd name="adj" fmla="val 20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31136"/>
            <a:ext cx="30449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การเก็บรวบรวม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099816"/>
            <a:ext cx="587959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ผลซอฟต์แวร์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730752"/>
            <a:ext cx="587959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รุ่น 5125774 • ผลทดสอบ 3 ต.ค. 2569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352544"/>
            <a:ext cx="587959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จุดตัดรีวิว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983479"/>
            <a:ext cx="587959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3 ต.ค. 2569 เวลา 23:04 น. (ไทย)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605272"/>
            <a:ext cx="587959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ตรวจข้อมูลก่อนคำนวณ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6236208"/>
            <a:ext cx="5879592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สถานะเผยแพร่ ประเภทรีวิว และคะแนน 1–5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08392" y="2185416"/>
            <a:ext cx="3264408" cy="384048"/>
          </a:xfrm>
          <a:prstGeom prst="roundRect">
            <a:avLst>
              <a:gd name="adj" fmla="val 20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19" y="2231136"/>
            <a:ext cx="30449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การวิเคราะห์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3099816"/>
            <a:ext cx="60990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ผลซอฟต์แวร์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3730752"/>
            <a:ext cx="6099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นับผ่าน / ไม่ผ่าน / ข้าม แยกชุด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4352544"/>
            <a:ext cx="60990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คะแนนดาว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3256" y="4983479"/>
            <a:ext cx="6099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ความถี่ ร้อยละ ค่าเฉลี่ย และ SD ตัวอย่าง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5605272"/>
            <a:ext cx="60990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ข้อความรีวิว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6236208"/>
            <a:ext cx="6099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จัดประเด็นสิ่งที่ใช้ได้และสิ่งที่ควรปรับ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ใช้สถิติเชิงพรรณนา ไม่มีข้อมูลรองรับ t-test / ANOVA / สหสัมพันธ์ • เวลาโพสต์ไม่ใช่เวลาทำภารกิจ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ผลทดสอบการทำงานของซอฟต์แวร์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19656"/>
            <a:ext cx="1271016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หลักฐานวันที่ 3 ตุลาคม 2569 • รุ่นที่ทดสอบ 5125774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51192" y="2450592"/>
            <a:ext cx="0" cy="4480560"/>
          </a:xfrm>
          <a:prstGeom prst="line">
            <a:avLst/>
          </a:prstGeom>
          <a:ln w="12700">
            <a:solidFill>
              <a:srgbClr val="5474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con-Cod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414016"/>
            <a:ext cx="58521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" y="3182112"/>
            <a:ext cx="3246120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813048"/>
            <a:ext cx="22860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ผ่าน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10328"/>
            <a:ext cx="561441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ตรรกะ / API /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724144"/>
            <a:ext cx="559612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61 กฎข้อมูลและรายการโครงงาน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10 AI/API ด้วยข้อมูลจำลอง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17 ชุมชน/API + 5 SQL ชุมชน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6 SQL จำกัดการโพสต์</a:t>
            </a:r>
          </a:p>
        </p:txBody>
      </p:sp>
      <p:pic>
        <p:nvPicPr>
          <p:cNvPr id="15" name="Picture 14" descr="icon-Monitor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2414016"/>
            <a:ext cx="585216" cy="5852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36992" y="3182112"/>
            <a:ext cx="3246120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58016" y="3813048"/>
            <a:ext cx="22860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ผ่าน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4910328"/>
            <a:ext cx="561441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การทำงานผ่านเบราว์เซอร์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5724144"/>
            <a:ext cx="559612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Playwright + Chromium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ความกว้าง 1440 / 768 / 360 px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ค้นหา คู่มือ วัสดุ บันทึกแผน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และเส้นทางบัญชี/ชุมชนในชุดทดสอบ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ทั้งสองชุด: ไม่ผ่าน 0 / ข้าม 0 • ข้อมูลจำลองในชุดทดสอบไม่ใช่ผู้เข้าร่วมวิจัยหรือการตรวจ OAuth จริงทุกเส้นทาง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การกระจายคะแนนดาวของรีวิว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148840"/>
            <a:ext cx="3657600" cy="4965192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24912"/>
            <a:ext cx="2990088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3.90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078224"/>
            <a:ext cx="2971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จาก 5 คะแนน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974336"/>
            <a:ext cx="2971800" cy="0"/>
          </a:xfrm>
          <a:prstGeom prst="line">
            <a:avLst/>
          </a:prstGeom>
          <a:ln w="12700">
            <a:solidFill>
              <a:srgbClr val="5474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52144" y="5431536"/>
            <a:ext cx="295351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SD = 0.77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มัธยฐาน = 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n = 21 รายการ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965192" y="2578608"/>
          <a:ext cx="8741664" cy="33467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266944" y="2112264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จำนวนรายการรีวิว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7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33.3%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9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42.9%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8096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5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23.8%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7077456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ระดับคะแนนดาว 1–5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เว็บไซต์เฉลี่ย 3.95/5 • โครงงานเฉลี่ย 3.50/5 • ค่าเฉลี่ยรวมเป็นข้อมูลต่างประเภท ไม่ใช่คะแนนแบบสอบถามมาตรฐาน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รีวิวชี้ว่า “รายละเอียดตอนลงมือทำ” ยังต้องชัดขึ้น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67128"/>
            <a:ext cx="3959352" cy="4919472"/>
          </a:xfrm>
          <a:prstGeom prst="roundRect">
            <a:avLst>
              <a:gd name="adj" fmla="val 35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Quot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42032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3639312"/>
            <a:ext cx="3319272" cy="1426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1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“ตัวหนังสือเล็ก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1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อ่านยาก”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669280"/>
            <a:ext cx="331927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ด้านที่ได้รับคำชม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ใช้ง่าย หน้าตาน่าใช้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และได้ไอเดียทำของ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5816" y="2231136"/>
            <a:ext cx="834847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ต้องการภาพจุดยาก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5816" y="2990088"/>
            <a:ext cx="834847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เพิ่มภาพใกล้และผลที่ควรเห็น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เช่น ก้นถุงหลังผูก หรือจุดร้อยเชือก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3831335"/>
            <a:ext cx="834847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รายละเอียดวัสดุไม่พอ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6" y="4590288"/>
            <a:ext cx="834847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เพิ่มขนาด ตัวอย่างชนิดผ้า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และคุณสมบัติเชือกดูดน้ำ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5431536"/>
            <a:ext cx="8348472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ต้องการวิธีแก้เมื่อทำไม่สำเร็จ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6190488"/>
            <a:ext cx="834847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เพิ่มจุดตรวจและการปรับทีละอย่าง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เช่น นิ้วกระดาษไม่ขยับ / การทดลองสะพาน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สรุปจากข้อความที่เผยแพร่ ไม่แสดงชื่อ • เป็นประเด็นพัฒนา ไม่ใช่ข้อผิดพลาดที่ตรวจยืนยันแล้วทุกข้อ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อภิปรายผลเชื่อมกับแนวคิดในบทที่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15</a:t>
            </a:r>
          </a:p>
        </p:txBody>
      </p:sp>
      <p:pic>
        <p:nvPicPr>
          <p:cNvPr id="8" name="Picture 7" descr="icon-Cod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267712"/>
            <a:ext cx="521207" cy="5212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2267712"/>
            <a:ext cx="534009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มีต้นแบบและผลตรวจระบบ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3218688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Hevner; Peffers</a:t>
            </a:r>
          </a:p>
        </p:txBody>
      </p:sp>
      <p:sp>
        <p:nvSpPr>
          <p:cNvPr id="11" name="Chevron 10"/>
          <p:cNvSpPr/>
          <p:nvPr/>
        </p:nvSpPr>
        <p:spPr>
          <a:xfrm>
            <a:off x="6967728" y="2624328"/>
            <a:ext cx="310896" cy="475488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2414016"/>
            <a:ext cx="5861304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ใช้กรอบวิจัยเชิงออกแบบจัดหลักฐาน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แต่ยังต้องประเมินผู้ใช้เพิ่ม</a:t>
            </a:r>
          </a:p>
        </p:txBody>
      </p:sp>
      <p:pic>
        <p:nvPicPr>
          <p:cNvPr id="13" name="Picture 12" descr="icon-Ey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867912"/>
            <a:ext cx="521207" cy="5212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64208" y="3867912"/>
            <a:ext cx="534009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ต้องการภาพและตัวอย่างชัดขึ้น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4818888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Mayer &amp; Moreno</a:t>
            </a:r>
          </a:p>
        </p:txBody>
      </p:sp>
      <p:sp>
        <p:nvSpPr>
          <p:cNvPr id="16" name="Chevron 15"/>
          <p:cNvSpPr/>
          <p:nvPr/>
        </p:nvSpPr>
        <p:spPr>
          <a:xfrm>
            <a:off x="6967728" y="4224528"/>
            <a:ext cx="310896" cy="475488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4014216"/>
            <a:ext cx="5861304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เลือกภาพที่อธิบายจุดยากและแบ่งขั้น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ต้องทดลองความเข้าใจก่อน–หลังจึงวัดผลได้</a:t>
            </a:r>
          </a:p>
        </p:txBody>
      </p:sp>
      <p:pic>
        <p:nvPicPr>
          <p:cNvPr id="18" name="Picture 17" descr="icon-Sprout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468112"/>
            <a:ext cx="521207" cy="5212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4208" y="5468112"/>
            <a:ext cx="534009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มีโอกาสใช้ในกิจกรรมและการใช้ซ้ำ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6419088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Kokotsaki; Kirchherr</a:t>
            </a:r>
          </a:p>
        </p:txBody>
      </p:sp>
      <p:sp>
        <p:nvSpPr>
          <p:cNvPr id="21" name="Chevron 20"/>
          <p:cNvSpPr/>
          <p:nvPr/>
        </p:nvSpPr>
        <p:spPr>
          <a:xfrm>
            <a:off x="6967728" y="5824728"/>
            <a:ext cx="310896" cy="475488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54696" y="5614416"/>
            <a:ext cx="5861304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ออกแบบการเรียนรู้และวัดวัสดุจริงแยกต่างหาก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ก่อนยืนยันผลทางการศึกษาหรือสิ่งแวดล้อม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การเชื่อมโยงเป็นเหตุผลเชิงแนวคิด ไม่ใช่การยืนยันความสัมพันธ์หรือความแตกต่างอย่างมีนัยสำคัญ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สรุปผลตามวัตถุประสงค์และข้อคาดหมาย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2231136"/>
          <a:ext cx="13203936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896"/>
                <a:gridCol w="4800600"/>
                <a:gridCol w="4663440"/>
              </a:tblGrid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วัตถุประสงค์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ผลที่มีหลักฐาน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ขอบเขตข้อสรุป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1. พัฒนาคู่มือบนเว็บ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มีต้นแบบสองภาษา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37 โครงงาน / 94 วัสดุ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ได้ผลผลิตตามขอบเขต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2. ตรวจและวางแผนวัสดุ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มีตรรกะตรวจเงื่อนไข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และการบันทึกแผน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ผลทดสอบสนับสนุน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เฉพาะเงื่อนไขที่ตรวจ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3. ประเมินและหาแนวปรับปรุง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99 + 51 กรณีผ่าน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21 รีวิว เฉลี่ย 3.90/5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ประเมินเบื้องต้นแล้ว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ยังไม่มีผลภารกิจรายคน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6537960"/>
            <a:ext cx="13213080" cy="914400"/>
          </a:xfrm>
          <a:prstGeom prst="roundRect">
            <a:avLst>
              <a:gd name="adj" fmla="val 4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702552"/>
            <a:ext cx="42976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ข้อคาดหมายของระบบ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6684264"/>
            <a:ext cx="8174736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อ่านคู่มือ • ตรวจวัสดุ • บันทึก/เปิดต่อ มีหลักฐานจากชุดทดสอบรองรับ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ขอบเขตข้อสรุป: หลักฐานนี้บอกได้แค่ไหน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17</a:t>
            </a:r>
          </a:p>
        </p:txBody>
      </p:sp>
      <p:pic>
        <p:nvPicPr>
          <p:cNvPr id="8" name="Picture 7" descr="icon-MessageSquar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249424"/>
            <a:ext cx="6400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10512" y="2203704"/>
            <a:ext cx="27706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ข้อมูลรีวิว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5464" y="2203704"/>
            <a:ext cx="8915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ผ่านการอนุมัติก่อนเผยแพร่ และอาจได้รับ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อิทธิพลจากข้อความตัวอย่างที่เตรียมไว้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3236976"/>
            <a:ext cx="8915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ไม่แทนความคิดเห็นอิสระของผู้ใช้ทั้งหมด</a:t>
            </a:r>
          </a:p>
        </p:txBody>
      </p:sp>
      <p:pic>
        <p:nvPicPr>
          <p:cNvPr id="12" name="Picture 11" descr="icon-Users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895344"/>
            <a:ext cx="640080" cy="640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10512" y="3849624"/>
            <a:ext cx="27706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ผลจากคน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3849624"/>
            <a:ext cx="8915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ยังไม่มีรหัสบุคคลไม่ซ้ำและผลภารกิจรายคน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จึงไม่มีอัตราสำเร็จหรือเวลาทำงานให้รายงาน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4882896"/>
            <a:ext cx="8915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จำนวนรีวิวไม่ใช่จำนวนผู้เข้าร่วม</a:t>
            </a:r>
          </a:p>
        </p:txBody>
      </p:sp>
      <p:pic>
        <p:nvPicPr>
          <p:cNvPr id="16" name="Picture 15" descr="icon-FlaskConical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41264"/>
            <a:ext cx="64008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10512" y="5495544"/>
            <a:ext cx="27706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ผลที่ยังไม่ได้วัด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5495544"/>
            <a:ext cx="8915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ยังไม่ได้วัดการเรียนรู้ ปริมาณขยะ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หรือทดสอบชิ้นงานจริงจากคู่มือ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6528816"/>
            <a:ext cx="8915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ไม่สรุปประสิทธิผลด้านเหล่านี้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ข้อจำกัดเหล่านี้ใช้ประกอบการตีความ ไม่ตัดคะแนนต่ำหรือเติมผลที่ไม่มีบันทึก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ข้อเสนอแนะเชิงปฏิบัติและการวิจัยต่อไป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221992"/>
            <a:ext cx="36210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57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pic>
        <p:nvPicPr>
          <p:cNvPr id="9" name="Picture 8" descr="icon-Ey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5" y="2414016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" y="3694176"/>
            <a:ext cx="40599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ปรับเนื้อหาและการอ่าน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791456"/>
            <a:ext cx="4059936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ขนาดตัวอักษรบนมือถือ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ภาพจุดยาก ขนาดวัสดุ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และการแก้ปัญหาระหว่างทำ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221992"/>
            <a:ext cx="36210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57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pic>
        <p:nvPicPr>
          <p:cNvPr id="13" name="Picture 12" descr="icon-Users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414016"/>
            <a:ext cx="594360" cy="594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94960" y="3694176"/>
            <a:ext cx="40599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เก็บผลการใช้งานจริง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791456"/>
            <a:ext cx="4059936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รหัสผู้เข้าร่วมไม่ซ้ำ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ความสำเร็จ เวลา ข้อผิดพลาด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และข้อคิดเห็นด้วยถ้อยคำของตนเอง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7816" y="2221992"/>
            <a:ext cx="36210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57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pic>
        <p:nvPicPr>
          <p:cNvPr id="17" name="Picture 16" descr="icon-ChartColumn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1328" y="2414016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57816" y="3694176"/>
            <a:ext cx="40599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ขยายการประเมิน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6" y="4791456"/>
            <a:ext cx="4059936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ตรวจบริการจริงหลังรีสตาร์ต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วัดผลการเรียนรู้/วัสดุที่ใช้จริง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หรือเปรียบเทียบคู่มือด้วยแผนที่เหมาะสม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93208" y="2221992"/>
            <a:ext cx="0" cy="4507992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46920" y="2221992"/>
            <a:ext cx="0" cy="4507992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รอบต่อไปต้องกำหนดเกณฑ์และตรวจเครื่องมือก่อนเก็บข้อมูล • ไม่เติมผลที่ยังไม่ทราบเป็นผลสำเร็จย้อนหลัง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ขอบคุณ / คำถามและข้อเสนอแนะ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19</a:t>
            </a:r>
          </a:p>
        </p:txBody>
      </p:sp>
      <p:sp>
        <p:nvSpPr>
          <p:cNvPr id="8" name="Oval 7"/>
          <p:cNvSpPr/>
          <p:nvPr/>
        </p:nvSpPr>
        <p:spPr>
          <a:xfrm>
            <a:off x="10168128" y="1719072"/>
            <a:ext cx="3383280" cy="3383280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Sprou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536" y="2404872"/>
            <a:ext cx="1426464" cy="1426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6112" y="2276856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7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187952"/>
            <a:ext cx="894283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พัฒนาต้นแบบจากวัสดุใกล้ตัว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ประเมินตามหลักฐานที่มี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และปรับปรุงจากสิ่งที่ยังไม่ชัดเจน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50976" y="6473952"/>
            <a:ext cx="82296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work-c3to.onrender.com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REFERENCES / เอกสารวิชาการและแหล่งข้อมูล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 (1/2)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94560"/>
            <a:ext cx="12957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39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Hevner, A. R., March, S. T., Park, J., &amp; Ram, S. (2004).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88920"/>
            <a:ext cx="129570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Design science in information systems research. MIS Quarterly, 28(1), 75–105.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859536" y="3374136"/>
            <a:ext cx="129570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https://doi.org/10.2307/25148625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758183"/>
            <a:ext cx="12957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39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Peffers, K., Tuunanen, T., Rothenberger, M. A., &amp; Chatterjee, S. (2007).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352544"/>
            <a:ext cx="129570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A design science research methodology for information systems research. Journal of Management Information Systems, 24(3), 45–77.</a:t>
            </a:r>
          </a:p>
        </p:txBody>
      </p:sp>
      <p:sp>
        <p:nvSpPr>
          <p:cNvPr id="13" name="TextBox 12">
            <a:hlinkClick r:id="rId3"/>
          </p:cNvPr>
          <p:cNvSpPr txBox="1"/>
          <p:nvPr/>
        </p:nvSpPr>
        <p:spPr>
          <a:xfrm>
            <a:off x="859536" y="4937759"/>
            <a:ext cx="129570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https://doi.org/10.2753/MIS0742-1222240302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5321808"/>
            <a:ext cx="12957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39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Kirchherr, J., Reike, D., &amp; Hekkert, M. (2017).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916168"/>
            <a:ext cx="129570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Conceptualizing the circular economy: An analysis of 114 definitions. Resources, Conservation and Recycling, 127, 221–232.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859536" y="6501384"/>
            <a:ext cx="129570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https://doi.org/10.1016/j.resconrec.2017.09.005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รายการวิชาการตั้งต้นพร้อม DOI • ยังไม่มีบันทึกตรวจฉบับเต็มในชุดหลักฐานนี้ ต้องตรวจต้นฉบับก่อนส่งรายงาน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REFERENCES / เอกสารวิชาการและแหล่งข้อมูล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 (2/2)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94560"/>
            <a:ext cx="12957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39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Kokotsaki, D., Menzies, V., &amp; Wiggins, A. (2016).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88920"/>
            <a:ext cx="129570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Project-based learning: A review of the literature. Improving Schools, 19(3), 267–277.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859536" y="3374136"/>
            <a:ext cx="129570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https://doi.org/10.1177/1365480216659733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758183"/>
            <a:ext cx="12957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39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Mayer, R. E., &amp; Moreno, R. (2003).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352544"/>
            <a:ext cx="129570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Nine ways to reduce cognitive load in multimedia learning. Educational Psychologist, 38(1), 43–52.</a:t>
            </a:r>
          </a:p>
        </p:txBody>
      </p:sp>
      <p:sp>
        <p:nvSpPr>
          <p:cNvPr id="13" name="TextBox 12">
            <a:hlinkClick r:id="rId3"/>
          </p:cNvPr>
          <p:cNvSpPr txBox="1"/>
          <p:nvPr/>
        </p:nvSpPr>
        <p:spPr>
          <a:xfrm>
            <a:off x="859536" y="4937759"/>
            <a:ext cx="129570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https://doi.org/10.1207/S15326985EP3801_6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5376672"/>
            <a:ext cx="12874752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5632704"/>
            <a:ext cx="12710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แหล่งข้อมูลและเอกสารประกอบ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19088"/>
            <a:ext cx="1284732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3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NIST/SEMATECH e-Handbook — สูตรสถิติ • Arduino / NASA JPL — คู่มือเนื้อหา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3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Instructables — ตัวอย่างการจัดคู่มือ • ReBuild — ผลทดสอบและข้อมูลรีวิว 3 ต.ค. 2569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รายการวิชาการตั้งต้นพร้อม DOI • ยังไม่มีบันทึกตรวจฉบับเต็มในชุดหลักฐานนี้ ต้องตรวจต้นฉบับก่อนส่งรายงาน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APPENDIX / ใช้เมื่อต้องการรายละเอียด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ข้อมูลประกอบ: ขอบเขต นิยาม และประโยชน์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2231136"/>
            <a:ext cx="6455664" cy="2167128"/>
          </a:xfrm>
          <a:prstGeom prst="roundRect">
            <a:avLst>
              <a:gd name="adj" fmla="val 3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441448"/>
            <a:ext cx="592531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ขอบเขตเนื้อหา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3191256"/>
            <a:ext cx="5925312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37 โครงงาน / 94 วัสดุ / 141 ภาพรายขั้น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จัดบ้าน ทำความสะอาด ซ่อมของ งานบรรจุภัณฑ์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ปลูกต้นไม้ วิทยาศาสตร์ และอิเล็กทรอนิกส์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17536" y="2231136"/>
            <a:ext cx="6455664" cy="2167128"/>
          </a:xfrm>
          <a:prstGeom prst="roundRect">
            <a:avLst>
              <a:gd name="adj" fmla="val 3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7" y="2441448"/>
            <a:ext cx="592531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ขอบเขตระบบและช่วงข้อมูล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7" y="3191256"/>
            <a:ext cx="5925312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เว็บไทย/อังกฤษ บัญชีและชุมชนที่ตรวจโพสต์ก่อน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คลังวัสดุและแผนเก็บในเบราว์เซอร์เดิม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หลักฐาน 3 ต.ค. 2569; ช่วงพัฒนา/สถานที่รอยืนยัน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4718304"/>
            <a:ext cx="6455664" cy="2167128"/>
          </a:xfrm>
          <a:prstGeom prst="roundRect">
            <a:avLst>
              <a:gd name="adj" fmla="val 3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928616"/>
            <a:ext cx="592531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นิยามที่ใช้ในการตีความ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5678424"/>
            <a:ext cx="5925312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การใช้ซ้ำ/ดัดแปลงไม่เท่ากับรีไซเคิลทุกกรณี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คู่มือช่วยกิจกรรม แต่ยังไม่ใช่ PBL ครบกระบวนการ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หน่วยวิเคราะห์: กรณีทดสอบ / รายการรีวิว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17536" y="4718304"/>
            <a:ext cx="6455664" cy="2167128"/>
          </a:xfrm>
          <a:prstGeom prst="roundRect">
            <a:avLst>
              <a:gd name="adj" fmla="val 3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7" y="4928616"/>
            <a:ext cx="592531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ประโยชน์ที่คาดหวัง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5678424"/>
            <a:ext cx="5925312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บุคคล: ผู้เริ่มต้นมีแนวทางเตรียมงาน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สถานศึกษา: ครูมีสื่อสำหรับปรับใช้ในกิจกรรม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ความรู้/ปฏิบัติ: ได้แนวออกแบบและบทเรียนประเมิน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ประโยชน์ด้านการศึกษาและสิ่งแวดล้อมเป็นสิ่งที่คาดหวัง ยังไม่ได้วัดผลจริง • รอชื่อผู้จัดทำ/ครูและข้อมูลการเก็บผู้ทดลอง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เครื่องมือวิจัยและการตรวจคุณภาพข้อมูล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2212848"/>
          <a:ext cx="13185648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4096512"/>
                <a:gridCol w="5751576"/>
              </a:tblGrid>
              <a:tr h="10469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เครื่องมือ/ข้อมูล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ใช้ประเมินอะไร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การตรวจและข้อจำกัด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Vitest + PGlite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ตรรกะ API และ SQL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กำหนดข้อมูลนำเข้าและผลที่คาด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บางกรณีใช้บริการ/ผู้ใช้จำลอง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Playwright + Chromium + axe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การทำงานผ่านเบราว์เซอร์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และกฎการเข้าถึงบางส่วน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ตรวจหน้าจอและเส้นทางที่กำหนด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ไม่ใช่การรับรองทุกกรณี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รีวิวที่เผยแพร่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คะแนนดาวและข้อคิดเห็น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ตรวจประเภท สถานะ และช่วงคะแนน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ข้อมูลผ่านการอนุมัติก่อนเผยแพร่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6601968"/>
            <a:ext cx="13213080" cy="914400"/>
          </a:xfrm>
          <a:prstGeom prst="roundRect">
            <a:avLst>
              <a:gd name="adj" fmla="val 4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766559"/>
            <a:ext cx="42976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เครื่องมือสำหรับรอบต่อไป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6748272"/>
            <a:ext cx="8174736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แบบบันทึกภารกิจ/แบบสอบถามยังไม่มีผลตรวจ IOC หรือความเชื่อมั่น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ผลตรวจคุณภาพและขอบเขตหลักฐาน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2185416"/>
          <a:ext cx="13185648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44"/>
                <a:gridCol w="4590288"/>
                <a:gridCol w="5385816"/>
              </a:tblGrid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รายการตรวจ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ผลที่บันทึก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สิ่งที่ยังสรุปไม่ได้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การเข้าถึงด้วย axe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75 การสแกน / พบการละเมิดกฎ 0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ยังไม่ใช่การรับรอง WCAG ทุกข้อ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TypeScript / build / lint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ผ่าน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ยังมีคำเตือนขนาดไฟล์ฝั่งผู้ใช้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npm audit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พบช่องโหว่ที่รู้จัก 0 รายการ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ยังไม่ยืนยันว่าไม่มีช่องโหว่ทั้งหมด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ตัวนับจำกัดโพสต์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คงอยู่หลังปิด–เปิด PGlite ในเครื่อง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ยังไม่ใช่ผลรีสตาร์ต Render จริง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เข้าสู่ระบบและดูแลเนื้อหา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ผู้จัดทำยืนยัน Google/อีเมลและการอนุมัติ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ยังไม่ยืนยันการส่งเมลหรือโหลดทุกกรณี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สภาพแวดล้อมทดสอบ: Node 24.19.0 • npm 11.9.0 • Chromium 151.0.7922.173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APPENDIX / เครื่องมือที่ยังไม่มีผลการเก็บข้อมูล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สไลด์สำรอง: ภารกิจเก็บข้อมูลรอบถัดไป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2212848"/>
          <a:ext cx="13185648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0944"/>
                <a:gridCol w="5102352"/>
                <a:gridCol w="5102352"/>
              </a:tblGrid>
              <a:tr h="8522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ภารกิจ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เกณฑ์สำเร็จที่ควรกำหนด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ข้อมูลที่บันทึก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8522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1. ค้นหาโครงงาน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เลือกงานตรงเงื่อนไขและเปิดคู่มือ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สำเร็จ/ไม่สำเร็จ เวลา ความช่วยเหลือ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522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2. ระบุวัสดุที่ขาด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เทียบกับชุดวัสดุและคำตอบอ้างอิง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ความถูกต้อง ข้อมูลที่สับสน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8522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3. อธิบายขั้นตอนสำคัญ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บอกลำดับและข้อควรระวังตามเกณฑ์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คำตอบและคะแนนจากเกณฑ์เดียวกัน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522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4. บันทึกและเปิดแผนต่อ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เรียกคืนแผน/ความคืบหน้าในเบราว์เซอร์เดิม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สถานะข้อมูล เวลา ข้อผิดพลาด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6620256"/>
            <a:ext cx="13213080" cy="914400"/>
          </a:xfrm>
          <a:prstGeom prst="roundRect">
            <a:avLst>
              <a:gd name="adj" fmla="val 4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784848"/>
            <a:ext cx="42976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ก่อนเก็บข้อมูล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6766560"/>
            <a:ext cx="8174736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กำหนดโจทย์/เกณฑ์ ขอความยินยอม ทดลองเครื่องมือ และใช้รหัสไม่ซ้ำ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APPENDIX / การตรวจสอบย้อนกลับ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สไลด์สำรอง: หลักฐานและข้อมูลที่ต้องยืนยัน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167128"/>
            <a:ext cx="7836408" cy="4983480"/>
          </a:xfrm>
          <a:prstGeom prst="roundRect">
            <a:avLst>
              <a:gd name="adj" fmla="val 4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551176"/>
            <a:ext cx="724204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แหล่งหลักฐานทางเทคนิค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575304"/>
            <a:ext cx="7242048" cy="2039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รหัสโปรแกรมที่ทดสอบ: 5125774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docs/TEST_REPORT.md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docs/evidence/unit-api-results.json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docs/evidence/browser-results.json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docs/evidence/dependency-audit-2026-10-03.json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6153912"/>
            <a:ext cx="724204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ทำซ้ำ: npm test → npm run build → npm run test:e2e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ต้องใช้สภาพแวดล้อมและตัวแปรตามรายงานทดสอบ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551176"/>
            <a:ext cx="473659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ข้อมูลที่ยังต้องยืนยัน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3657600"/>
            <a:ext cx="4736592" cy="2441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ชื่อผู้จัดทำและครูที่ปรึกษา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ช่วงพัฒนาระบบ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สถานที่และวิธีเลือกผู้ทดลอง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ผลภารกิจรายบุคคล (ถ้ามี)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การตรวจงานวิจัยต้นฉบับ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รายงานชุดนี้ใช้หลักฐานเดิม ไม่ได้รันทดสอบระบบหรือเก็บข้อมูลผู้เข้าร่วมใหม่เพื่อจัดทำสไลด์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 — ฉบับเน้นการนำเสนอ</dc:title>
  <dc:subject>19 หน้าหลัก + 7 หน้าสำรอง; เขียวมินิมอล; สาธิต วิธีประเมิน ผล และอภิปราย</dc:subject>
  <dc:creator>คณะผู้จัดทำ ReBuild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