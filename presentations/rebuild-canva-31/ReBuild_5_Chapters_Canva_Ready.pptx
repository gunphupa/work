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จำนวนรายการ</c:v>
                </c:pt>
              </c:strCache>
            </c:strRef>
          </c:tx>
          <c:dPt>
            <c:idx val="0"/>
            <c:spPr>
              <a:solidFill>
                <a:srgbClr val="D9E1D2"/>
              </a:solidFill>
              <a:ln>
                <a:noFill/>
              </a:ln>
            </c:spPr>
          </c:dPt>
          <c:dPt>
            <c:idx val="1"/>
            <c:spPr>
              <a:solidFill>
                <a:srgbClr val="D9E1D2"/>
              </a:solidFill>
              <a:ln>
                <a:noFill/>
              </a:ln>
            </c:spPr>
          </c:dPt>
          <c:dPt>
            <c:idx val="2"/>
            <c:spPr>
              <a:solidFill>
                <a:srgbClr val="B59C70"/>
              </a:solidFill>
              <a:ln>
                <a:noFill/>
              </a:ln>
            </c:spPr>
          </c:dPt>
          <c:dPt>
            <c:idx val="3"/>
            <c:spPr>
              <a:solidFill>
                <a:srgbClr val="19573C"/>
              </a:solidFill>
              <a:ln>
                <a:noFill/>
              </a:ln>
            </c:spPr>
          </c:dPt>
          <c:dPt>
            <c:idx val="4"/>
            <c:spPr>
              <a:solidFill>
                <a:srgbClr val="839E63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</c:v>
                </c:pt>
                <c:pt idx="3">
                  <c:v>9</c:v>
                </c:pt>
                <c:pt idx="4">
                  <c:v>5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latin typeface="Noto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latin typeface="Noto Sans"/>
              </a:defRPr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แนะนำชื่อโครงงานและผู้จัดทำตามข้อมูลจริง โครงงานนี้มุ่งพัฒนาเครื่องมือสำหรับโครงงานใช้ประโยชน์และการศึกษา พร้อมประเมินต้นแบบจากหลักฐานซอฟต์แวร์และรีวิวที่เผยแพร่ ไม่ใช่การทดลองวัดผลสัมฤทธิ์ทางการเรียนแล้ว ปกเว้นข้อมูลส่วนบุคคลไว้ให้กรอก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อธิบายสถานการณ์ผู้เริ่มต้นที่ไม่รู้จะทำอะไรจากของที่มี และไม่รู้ว่ายังต้องเตรียมอะไร นี่คือที่มาและเหตุผลในการพัฒนาต้นแบบจากข้อกำหนดที่รวบรวม ไม่อ้างว่ามีการสำรวจปัญหากับประชากรเป็นสัดส่วนเท่าใด เป้าหมายคือช่วยให้ข้อมูลแต่ละช่วงเชื่อมโยงกัน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อ่านวัตถุประสงค์ทั้งสามข้อโดยเชื่อมกับสิ่งที่จะรายงานในบทที่ 4 ได้แก่ ผลผลิตระบบ การตรวจวัสดุ และผลประเมินเบื้องต้น ไม่มีวัตถุประสงค์เปรียบเทียบสองกลุ่มหรือทดสอบความสัมพันธ์ทางสถิติ เพราะยังไม่มีข้อมูลสำหรับการวิเคราะห์เหล่านั้น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ระบุขอบเขตเชิงเนื้อหาให้ครบว่าระบบไม่ได้จำกัดเฉพาะอิเล็กทรอนิกส์ ภาพประกอบ 141 ภาพเป็นภาพในคู่มือ ไม่ใช่จำนวนภาพจากผู้ทดลอง วันที่ 3 ตุลาคม 2569 เป็นวันที่ของหลักฐานทดสอบและข้อมูลรีวิว ส่วนวันเริ่มพัฒนาและสถานที่ทดลองยังต้องเติมจากข้อมูลจริง แผนส่วนตัวไม่ซิงก์ข้ามเครื่องเพียงเพราะเข้าสู่ระบบ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ข้อคาดหมายสามข้อใช้ตรวจพฤติกรรมของโปรแกรม ไม่ใช่สมมติฐานว่าการใช้เว็บไซต์ทำให้ผลการเรียนหรือคะแนนผู้ใช้ดีขึ้นอย่างมีนัยสำคัญ ไม่รายงานค่า p เนื่องจากไม่มีการออกแบบเปรียบเทียบหรือข้อมูลสำหรับการทดสอบนั้น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ประโยชน์ระดับบุคคลคือมีเครื่องมือช่วยเตรียมงาน ระดับองค์กรหรือสถานศึกษาคือมีสื่อให้ครูพิจารณาปรับใช้ คุณค่าเชิงความรู้ในระยะนี้คือบทเรียนจากการออกแบบและประเมินต้นแบบ ไม่อ้างว่าเกิดองค์ความรู้ใหม่หรือแก้ปัญหาระดับนโยบายแล้ว และยังไม่ได้วัดว่าขยะลดลงจริง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นิยามที่ชัดช่วยไม่ให้สรุปเกินข้อมูล การนำวัสดุมาทำงานใหม่อาจเป็นการใช้ซ้ำหรือดัดแปลง ไม่จำเป็นต้องเป็นรีไซเคิล การมีคู่มือไม่ได้ยืนยันว่ามีการจัดการเรียนรู้แบบโครงงานครบทุกองค์ประกอบ และผลเชิงตัวเลขที่รายงานใช้กรณีทดสอบกับรายการรีวิวเป็นหน่วยวิเคราะห์ งานวิชาการที่เชื่อมโยงยังต้องตรวจต้นฉบับก่อนส่งรายงานฉบับสมบูรณ์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สองบทความนี้ช่วยวางกรอบงานพัฒนาระบบให้มีการประเมินประกอบ ไม่ใช่รายงานว่าพัฒนาเว็บไซต์สำเร็จเพียงอย่างเดียว เชื่อมกับ ReBuild โดยชี้ปัญหา กำหนดหน้าที่ระบบ พัฒนา และประเมินจากหลักฐานที่มี ยังไม่ควรอ้างว่าดำเนินการตามกรอบทั้งหมดครบถ้วน หรืออ้างผลทดลองของบทความที่ยังไม่ได้ตรวจต้นฉบับ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สรุปว่าบทความแต่ละเรื่องเชื่อมกับองค์ประกอบใดของโครงงาน ไม่ยกผลตัวเลขหรือขนาดกลุ่มตัวอย่างของบทความที่ยังไม่ได้ตรวจต้นฉบับ ส่วน Instructables, Arduino และ NASA เป็นเว็บไซต์ตัวอย่างหรือคู่มือเนื้อหา ไม่จัดเป็นงานวิจัยเชิงประจักษ์แทนบทความเหล่านี้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อธิบายตัวแปรตามแบบการศึกษาที่ทำจริง การประเมินนี้เป็นเชิงพรรณนา ไม่มีตัวแปรอิสระที่จัดกระทำเพื่อเปรียบเทียบกลุ่ม ปัจจัยนำเข้าในการทดสอบคือข้อมูลวัสดุและเงื่อนไขที่กำหนด ผลตามคือสถานะผ่านหรือไม่ผ่านและค่าคะแนนรีวิว เงื่อนไขควบคุมกล่าวถึงชุดทดสอบ ไม่ได้หมายความว่าควบคุมอุปกรณ์ของผู้ทดลองทุกคนให้เหมือนกัน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ขั้นพัฒนาประกอบด้วยกำหนดความต้องการ ศึกษารูปแบบคู่มือ ออกแบบข้อมูลและหน้าใช้งาน พัฒนาตรรกะวัสดุ เชื่อมบัญชีและชุมชน ทดสอบ และจัดทำรายงาน ใช้คอมพิวเตอร์และเบราว์เซอร์เป็นอุปกรณ์หลัก ไม่ใส่สเปกเครื่องผู้ทดลองที่ไม่มีบันทึก บัญชีและชุมชนเชื่อม Supabase แล้ว ข้อมูลแผนส่วนตัวยังอยู่ในเบราว์เซอร์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หัวข้อประชากรและกลุ่มตัวอย่างตามไฟล์ตัวอย่างต้องกล่าวให้ครบ แต่ข้อมูลที่มีระบุได้เพียงกลุ่มเป้าหมายและผู้ทดลอง 20 คนตามคำรายงานของผู้จัดทำ ไม่ทราบวิธีคัดเลือกและประชากรศาสตร์ จึงไม่ใช้ค่าตัวอย่าง 200 คน เพศ อายุ หรือระดับการศึกษาจาก PDF มาแทนข้อมูลจริง หนึ่งคนอาจมีหลายรายการรีวิวได้ และข้อมูลที่เปิดเผยไม่มีรหัสบุคคลที่ยืนยันจำนวนไม่ซ้ำ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เครื่องมือที่ใช้งานจริงคือชุดทดสอบและข้อมูลรีวิว ไม่ได้ใช้แบบสอบถามรายข้อที่มีค่า IOC หรือ Cronbach alpha จึงไม่รายงานค่าคุณภาพเครื่องมือที่ไม่ได้ตรวจ คะแนนดาวไม่ใช่คะแนน SUS และการผ่านชุดทดสอบไม่ได้วัดความพึงพอใจรายบุคคล ถ้าจะใช้แบบสอบถามในรอบถัดไปต้องตรวจเครื่องมือก่อนเก็บข้อมูล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การเก็บข้อมูลครั้งนี้ใช้รายงานผลซอฟต์แวร์และภาพข้อมูลรีวิว ณ จุดตัดเดิม ไม่ได้รันทดสอบหรือเก็บผู้เข้าร่วมรอบใหม่เพื่อสร้างสไลด์ เวลา 23:04 เป็นเวลาตรวจชุดรีวิว ส่วนเวลา 18:41 ถึง 22:30 เป็นช่วงเวลาโพสต์ ไม่ใช่เวลาทดสอบการใช้งาน ไม่อ้างว่ามีเอกสารขออนุญาตหรือความยินยอมที่ยังไม่ได้รับมา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ชี้ว่ารายงานใช้สถิติเชิงพรรณนาตามข้อมูลที่มี ไม่คัดลอกสถิติอนุมานจากตัวอย่างโดยไม่มีแบบวิจัยรองรับ สูตร SD เต็มคือรากที่สองของผลรวมกำลังสองของส่วนต่างจากค่าเฉลี่ยหารด้วย n−1 คะแนนรวมของรีวิวต่างประเภทเป็นเพียงการพรรณนาชุดข้อมูล ไม่ใช่คะแนนแบบสอบถามมาตรฐาน ไม่มีการทดสอบนัยสำคัญ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แสดงหน้าต้นแบบเป็นหลักฐานว่ามีผลผลิตตามวัตถุประสงค์ ไม่ถือภาพหน้าจอเป็นผลทดลองกับผู้ใช้ ระบุฟังก์ชันหลักสามส่วน การค้นหา การอ่าน และการบันทึก พร้อมชี้ว่าบัญชี Google/อีเมลและการดูแลเนื้อหาได้รับคำยืนยันการใช้งานจากผู้จัดทำแล้ว แต่ยังแยกจากผลทดสอบอัตโนมัติ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ระบบตรวจมากกว่าชื่อวัสดุ โดยตรวจจำนวน สภาพ และคุณสมบัติที่กำหนดไว้ ข้อมูลที่ไม่ทราบจะยังเป็นสิ่งที่ต้องตรวจสอบ การตรวจนี้เป็นตรรกะซอฟต์แวร์ ไม่ใช่เครื่องมือวัดสภาพจริงหรือรับรองความปลอดภัยของวัสดุ แผนภาพแสดงประเภทผลของระบบ ไม่ใช่ผลรายคน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จำนวน 99 และ 51 เป็นกรณีทดสอบคนละชุด ไม่มีกรณีที่ข้ามในผลที่บันทึก การผ่าน 100% กล่าวได้เฉพาะชุดที่รัน ไม่ได้หมายความว่าเว็บไซต์ไม่มีบั๊กอื่น กลุ่ม AI/API ทดสอบพฤติกรรมด้วยข้อมูลจำลอง ไม่ได้วัดความแม่นยำของ AI จริง ระบบ AI ยังไม่เชื่อมในบริการที่รายงาน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แยกหลักฐานแต่ละชนิดให้ชัด axe ตรวจเฉพาะกฎและหน้าที่เลือก npm audit อ้างฐานช่องโหว่ ณ วันที่ตรวจ PGlite เป็นการทดสอบ SQL ในเครื่อง ไม่ใช่การทดสอบโหลดฐานข้อมูลจริงหลายกระบวนการ และคำยืนยันเข้าสู่ระบบจากผู้จัดทำเป็นการสังเกตบริการจริงในบางเส้นทาง ไม่ใช่ชุดทดสอบอัตโนมัติครอบคลุมทั้งหมด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แสดงลักษณะชุดข้อมูลก่อนแสดงผลวิเคราะห์ รีวิวเว็บไซต์มี 19 รายการ ส่วนรีวิวโครงงานมี 2 รายการ ได้แก่ช่องแบ่งลิ้นชัก 3 ดาวและตัวดึงซิป 4 ดาว ใช้คะแนนที่เผยแพร่ทั้งหมดโดยไม่ตัดคะแนนต่ำ การคัดเลือกเผยแพร่ก่อนหน้าทำให้ชุดข้อมูลยังมีข้อจำกัดและอาจไม่แทนความคิดเห็นของผู้ใช้ทั้งหมด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อ่านภาพรวมว่าคะแนนที่พบมากที่สุดคือ 4 ดาว 9 รายการ ตามด้วย 3 ดาว 7 รายการ และ 5 ดาว 5 รายการ ไม่พบ 1 หรือ 2 ดาวในข้อมูลที่เผยแพร่ ค่าเฉลี่ย 82 หาร 21 เท่ากับ 3.90 และ SD แบบตัวอย่าง 0.77 ไม่แปลเป็นระดับดีมากย้อนหลังหากไม่ได้กำหนดเกณฑ์ไว้ก่อน และไม่จัดอันดับโครงงานจากรีวิวเพียงสองรายการ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ข้อคิดเห็นมีทั้งจุดเด่นด้านความง่ายและหน้าตา รวมถึงสิ่งที่ควรปรับปรุง ตัวอย่างหนึ่งกล่าวถึงตัวอักษรเล็ก อีกหลายข้อความต้องการรูปใกล้ วิดีโอ และรายละเอียดวัสดุ ความคิดเห็นบางส่วนชื่นชมประโยชน์ทางการศึกษาและสิ่งแวดล้อม แต่ไม่ใช่ผลวัดด้านเหล่านั้น ข้อความนอกประเด็นหรือล้อเล่นไม่นำมาสรุปเป็นข้อค้นพบด้านระบบ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สรุปตามวัตถุประสงค์ทีละข้อเพื่อไม่ให้ผลการวิจัยขาดความเชื่อมโยง วัตถุประสงค์การพัฒนาได้ผลผลิตแล้ว การประเมินได้ผลเบื้องต้นทั้งซอฟต์แวร์และรีวิว แต่ยังไม่ครอบคลุมการวัดประสิทธิผลการใช้งานรายบุคคล ข้อคาดหมายสามข้อได้รับการสนับสนุนจากกรณีทดสอบ ไม่ได้พิสูจน์ว่าผู้ทดลองทุกคนทำสำเร็จทุกข้อ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ข้อจำกัดต้องประกอบการอ่านผลคะแนน ไม่ตีความว่าเป็นความพึงพอใจอิสระของทุกคนหรือแทนประชากรทั้งหมด รีวิวผ่านการอนุมัติและข้อความบางรายการตรงหรือดัดแปลงจากตัวอย่างที่เตรียมไว้ซึ่งระบุในรายงานต้นฉบับแล้ว งานนี้ยังไม่มีผลเรียนก่อน–หลัง ปริมาณวัสดุที่ลดขยะจริง หรือผลทดสอบชิ้นงานจริง จึงไม่อ้างผลเหล่านั้น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อภิปรายว่าผลที่พบชี้แนวทางพัฒนาอย่างไร โดยไม่ใช้ถ้อยคำว่าสอดคล้องอย่างมีนัยสำคัญกับทฤษฎีหากไม่ได้ทดสอบ บทความสื่อหลายรูปแบบช่วยอธิบายเหตุผลในการเลือกภาพ บทความ PBL และเศรษฐกิจหมุนเวียนช่วยกำหนดสิ่งที่จะวัดเพิ่ม ไม่ใช่หลักฐานว่า ReBuild ให้ผลด้านนั้นแล้ว รายการอ้างอิงยังรอตรวจต้นฉบับก่อนส่ง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แบ่งข้อเสนอแนะเป็นสิ่งที่ทำได้กับต้นแบบตอนนี้และสิ่งที่ต้องวิจัยต่อ การเก็บข้อมูลควรขอความยินยอม อธิบายว่าแสดงความคิดเห็นเชิงลบได้ บันทึกความล้มเหลวและความช่วยเหลือด้วย หากจะเปรียบเทียบกับคู่มือทั่วไปต้องจัดเนื้อหาและความยากให้เทียบเคียงกัน รวมทั้งกำหนดวิธีจัดกลุ่มหรือลำดับและแผนวิเคราะห์ล่วงหน้า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แสดงแหล่งอ้างอิงที่ใช้เชื่อมแนวคิด ไม่ใช้ตัวอย่างชื่อผู้แต่งจาก PDF ต้นแบบเป็นเอกสารอ้างอิงจริง รายการบทความเป็นรายการตั้งต้นที่มี DOI แต่ยังไม่มีบันทึกตรวจฉบับเต็ม จึงไม่อ้างผลตัวเลขหรือวิธีวิจัยเฉพาะจากบทความเหล่านี้ เอกสารเทคนิคและเว็บไซต์ตัวอย่างแยกจากบทความวิชาการ บรรณานุกรมและลิงก์เพิ่มเติมอยู่ในไฟล์ประกอบ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แสดงแหล่งอ้างอิงที่ใช้เชื่อมแนวคิด ไม่ใช้ตัวอย่างชื่อผู้แต่งจาก PDF ต้นแบบเป็นเอกสารอ้างอิงจริง รายการบทความเป็นรายการตั้งต้นที่มี DOI แต่ยังไม่มีบันทึกตรวจฉบับเต็ม จึงไม่อ้างผลตัวเลขหรือวิธีวิจัยเฉพาะจากบทความเหล่านี้ เอกสารเทคนิคและเว็บไซต์ตัวอย่างแยกจากบทความวิชาการ บรรณานุกรมและลิงก์เพิ่มเติมอยู่ในไฟล์ประกอบ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สรุปเพียงว่าต้นแบบพัฒนาแล้ว มีผลตรวจซอฟต์แวร์และข้อมูลรีวิวเบื้องต้น และระบุสิ่งที่จะปรับปรุง เปิดรับคำถาม ใช้สไลด์สำรองถัดไปเมื่อมีคำถามเรื่องเก็บข้อมูลหรือทำซ้ำผลทดสอบ ไม่จำเป็นต้องอ่านเอกสารอ้างอิงทุกบรรทัดระหว่างนำเสนอ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นี่เป็นแนวทางสำหรับการเก็บข้อมูลใหม่ ไม่มีการเติมผลลงแบบบันทึกย้อนหลัง งานหลักสี่งานตรงกับสิ่งที่ต้องการประเมินจริง กำหนดคำตอบอ้างอิงและเกณฑ์การช่วยเหลือก่อนเริ่ม ผู้เข้าร่วมให้ความคิดเห็นด้วยถ้อยคำของตนเอง แยกการวัดความเข้าใจขั้นตอนออกจากคะแนนดาว และไม่เปลี่ยนผลที่ไม่สำเร็จเป็นสำเร็จ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สำหรับคำถามว่าผลตรวจมาจากไหน ให้ชี้รายงานและไฟล์หลักฐานใน GitHub รายงานมีคำสั่งและสภาพแวดล้อมที่ใช้ ไม่สรุปผลทดสอบโหลดหรือผลรีสตาร์ตบริการจริงจากการทดสอบในเครื่อง ข้อมูลประวัติโครงงานและการเก็บผู้ใช้ที่ยังขาดต้องได้จากผู้จัดทำ ส่วนบทความอ้างอิงต้องตรวจต้นฉบับก่อนใช้ส่งฉบับสมบูรณ์</a:t>
            </a:r>
          </a:p>
          <a:p/>
          <a:p>
            <a:r>
              <a:t>ReBuild presentation icons: Lucide</a:t>
            </a:r>
          </a:p>
          <a:p/>
          <a:p>
            <a:r>
              <a:t>ISC License</a:t>
            </a:r>
          </a:p>
          <a:p/>
          <a:p>
            <a:r>
              <a:t>Copyright (c) 2026 Lucide Icons and Contributors</a:t>
            </a:r>
          </a:p>
          <a:p/>
          <a:p>
            <a:r>
              <a:t>Permission to use, copy, modify, and/or distribute this software for any</a:t>
            </a:r>
          </a:p>
          <a:p>
            <a:r>
              <a:t>purpose with or without fee is hereby granted, provided that the above</a:t>
            </a:r>
          </a:p>
          <a:p>
            <a:r>
              <a:t>copyright notice and this permission notice appear in all copies.</a:t>
            </a:r>
          </a:p>
          <a:p/>
          <a:p>
            <a:r>
              <a:t>THE SOFTWARE IS PROVIDED "AS IS" AND THE AUTHOR DISCLAIMS ALL WARRANTIES</a:t>
            </a:r>
          </a:p>
          <a:p>
            <a:r>
              <a:t>WITH REGARD TO THIS SOFTWARE INCLUDING ALL IMPLIED WARRANTIES OF</a:t>
            </a:r>
          </a:p>
          <a:p>
            <a:r>
              <a:t>MERCHANTABILITY AND FITNESS. IN NO EVENT SHALL THE AUTHOR BE LIABLE FOR</a:t>
            </a:r>
          </a:p>
          <a:p>
            <a:r>
              <a:t>ANY SPECIAL, DIRECT, INDIRECT, OR CONSEQUENTIAL DAMAGES OR ANY DAMAGES</a:t>
            </a:r>
          </a:p>
          <a:p>
            <a:r>
              <a:t>WHATSOEVER RESULTING FROM LOSS OF USE, DATA OR PROFITS, WHETHER IN AN</a:t>
            </a:r>
          </a:p>
          <a:p>
            <a:r>
              <a:t>ACTION OF CONTRACT, NEGLIGENCE OR OTHER TORTIOUS ACTION, ARISING OUT OF</a:t>
            </a:r>
          </a:p>
          <a:p>
            <a:r>
              <a:t>OR IN CONNECTION WITH THE USE OR PERFORMANCE OF THIS SOFTWARE.</a:t>
            </a:r>
          </a:p>
          <a:p/>
          <a:p>
            <a:r>
              <a:t>---</a:t>
            </a:r>
          </a:p>
          <a:p/>
          <a:p>
            <a:r>
              <a:t>The following Lucide icons are derived from the Feather project:</a:t>
            </a:r>
          </a:p>
          <a:p/>
          <a:p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/>
          <a:p>
            <a:r>
              <a:t>The MIT License (MIT) (for the icons listed above)</a:t>
            </a:r>
          </a:p>
          <a:p/>
          <a:p>
            <a:r>
              <a:t>Copyright (c) 2013-present Cole Bemis</a:t>
            </a:r>
          </a:p>
          <a:p/>
          <a:p>
            <a:r>
              <a:t>Permission is hereby granted, free of charge, to any person obtaining a copy</a:t>
            </a:r>
          </a:p>
          <a:p>
            <a:r>
              <a:t>of this software and associated documentation files (the "Software"), to deal</a:t>
            </a:r>
          </a:p>
          <a:p>
            <a:r>
              <a:t>in the Software without restriction, including without limitation the rights</a:t>
            </a:r>
          </a:p>
          <a:p>
            <a:r>
              <a:t>to use, copy, modify, merge, publish, distribute, sublicense, and/or sell</a:t>
            </a:r>
          </a:p>
          <a:p>
            <a:r>
              <a:t>copies of the Software, and to permit persons to whom the Software is</a:t>
            </a:r>
          </a:p>
          <a:p>
            <a:r>
              <a:t>furnished to do so, subject to the following conditions:</a:t>
            </a:r>
          </a:p>
          <a:p/>
          <a:p>
            <a:r>
              <a:t>The above copyright notice and this permission notice shall be included in all</a:t>
            </a:r>
          </a:p>
          <a:p>
            <a:r>
              <a:t>copies or substantial portions of the Software.</a:t>
            </a:r>
          </a:p>
          <a:p/>
          <a:p>
            <a:r>
              <a:t>THE SOFTWARE IS PROVIDED "AS IS", WITHOUT WARRANTY OF ANY KIND, EXPRESS OR</a:t>
            </a:r>
          </a:p>
          <a:p>
            <a:r>
              <a:t>IMPLIED, INCLUDING BUT NOT LIMITED TO THE WARRANTIES OF MERCHANTABILITY,</a:t>
            </a:r>
          </a:p>
          <a:p>
            <a:r>
              <a:t>FITNESS FOR A PARTICULAR PURPOSE AND NONINFRINGEMENT. IN NO EVENT SHALL THE</a:t>
            </a:r>
          </a:p>
          <a:p>
            <a:r>
              <a:t>AUTHORS OR COPYRIGHT HOLDERS BE LIABLE FOR ANY CLAIM, DAMAGES OR OTHER</a:t>
            </a:r>
          </a:p>
          <a:p>
            <a:r>
              <a:t>LIABILITY, WHETHER IN AN ACTION OF CONTRACT, TORT OR OTHERWISE, ARISING FROM,</a:t>
            </a:r>
          </a:p>
          <a:p>
            <a:r>
              <a:t>OUT OF OR IN CONNECTION WITH THE SOFTWARE OR THE USE OR OTHER DEALINGS IN THE</a:t>
            </a:r>
          </a:p>
          <a:p>
            <a:r>
              <a:t>SOFTWARE.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2307/25148625" TargetMode="External"/><Relationship Id="rId3" Type="http://schemas.openxmlformats.org/officeDocument/2006/relationships/hyperlink" Target="https://doi.org/10.2753/MIS0742-1222240302" TargetMode="External"/><Relationship Id="rId4" Type="http://schemas.openxmlformats.org/officeDocument/2006/relationships/hyperlink" Target="https://doi.org/10.1016/j.resconrec.2017.09.005" TargetMode="Externa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77/1365480216659733" TargetMode="External"/><Relationship Id="rId3" Type="http://schemas.openxmlformats.org/officeDocument/2006/relationships/hyperlink" Target="https://doi.org/10.1207/S15326985EP3801_6" TargetMode="External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hyperlink" Target="https://work-c3to.onrender.com" TargetMode="External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โครงงานวิจัย 5 บท / ปีการศึกษา 2569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0576" y="0"/>
            <a:ext cx="5449824" cy="7726679"/>
          </a:xfrm>
          <a:prstGeom prst="rect">
            <a:avLst/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0" y="731520"/>
            <a:ext cx="4572000" cy="4572000"/>
          </a:xfrm>
          <a:prstGeom prst="ellipse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8046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77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70632"/>
            <a:ext cx="7973568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การพัฒนาเว็บแอปพลิเคชันเพื่อสนับสนุน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การวางแผนโครงงานจากวัสดุในครัวเรือน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และการประเมินต้นแบบเบื้องต้น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47488"/>
            <a:ext cx="7818120" cy="1764792"/>
          </a:xfrm>
          <a:prstGeom prst="roundRect">
            <a:avLst>
              <a:gd name="adj" fmla="val 5000"/>
            </a:avLst>
          </a:prstGeom>
          <a:solidFill>
            <a:srgbClr val="25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5" y="5257800"/>
            <a:ext cx="737006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ผู้จัดทำ  [ชื่อ–นามสกุล / ชั้น / เลขที่]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ครูที่ปรึกษา  [ระบุชื่อ]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โครงการห้องเรียนพิเศษเตรียมวิศวกรรมศาสตร์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โรงเรียนเตรียมอุดมศึกษาพัฒนาการ</a:t>
            </a:r>
          </a:p>
        </p:txBody>
      </p:sp>
      <p:pic>
        <p:nvPicPr>
          <p:cNvPr id="14" name="Picture 13" descr="art-planter.png"/>
          <p:cNvPicPr>
            <a:picLocks noChangeAspect="1"/>
          </p:cNvPicPr>
          <p:nvPr/>
        </p:nvPicPr>
        <p:blipFill>
          <a:blip r:embed="rId2"/>
          <a:srcRect t="586" b="586"/>
          <a:stretch>
            <a:fillRect/>
          </a:stretch>
        </p:blipFill>
        <p:spPr>
          <a:xfrm>
            <a:off x="9592056" y="1097280"/>
            <a:ext cx="4553712" cy="2971800"/>
          </a:xfrm>
          <a:prstGeom prst="rect">
            <a:avLst/>
          </a:prstGeom>
        </p:spPr>
      </p:pic>
      <p:pic>
        <p:nvPicPr>
          <p:cNvPr id="15" name="Picture 14" descr="art-dividers.png"/>
          <p:cNvPicPr>
            <a:picLocks noChangeAspect="1"/>
          </p:cNvPicPr>
          <p:nvPr/>
        </p:nvPicPr>
        <p:blipFill>
          <a:blip r:embed="rId3"/>
          <a:srcRect l="3776" r="3776"/>
          <a:stretch>
            <a:fillRect/>
          </a:stretch>
        </p:blipFill>
        <p:spPr>
          <a:xfrm>
            <a:off x="9509760" y="4581144"/>
            <a:ext cx="2240280" cy="1600200"/>
          </a:xfrm>
          <a:prstGeom prst="rect">
            <a:avLst/>
          </a:prstGeom>
        </p:spPr>
      </p:pic>
      <p:pic>
        <p:nvPicPr>
          <p:cNvPr id="16" name="Picture 15" descr="art-bridge.png"/>
          <p:cNvPicPr>
            <a:picLocks noChangeAspect="1"/>
          </p:cNvPicPr>
          <p:nvPr/>
        </p:nvPicPr>
        <p:blipFill>
          <a:blip r:embed="rId4"/>
          <a:srcRect l="3776" r="3776"/>
          <a:stretch>
            <a:fillRect/>
          </a:stretch>
        </p:blipFill>
        <p:spPr>
          <a:xfrm>
            <a:off x="11932920" y="4581144"/>
            <a:ext cx="2240280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55480" y="6629400"/>
            <a:ext cx="459943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ใช้ของใกล้ตัว • วางแผน • เรียนรู้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มีวัสดุอยู่แล้ว แต่จะเริ่มสร้างอะไร?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pic>
        <p:nvPicPr>
          <p:cNvPr id="8" name="Picture 7" descr="icon-Packag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221992"/>
            <a:ext cx="539496" cy="539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2221992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เลือกชิ้นงานไม่ถูก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907792"/>
            <a:ext cx="55778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ผู้เริ่มต้นอาจมีสิ่งของในบ้าน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แต่ยังไม่รู้ว่าจะนำไปใช้กับงานใด</a:t>
            </a:r>
          </a:p>
        </p:txBody>
      </p:sp>
      <p:pic>
        <p:nvPicPr>
          <p:cNvPr id="11" name="Picture 10" descr="icon-CircleHelp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803904"/>
            <a:ext cx="539496" cy="5394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64208" y="3803904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เตรียมวัสดุไม่ครบ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4489704"/>
            <a:ext cx="55778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ต้องรู้ทั้งจำนวน ขนาด สภาพ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และสิ่งที่ควรตรวจสอบเพิ่มเติม</a:t>
            </a:r>
          </a:p>
        </p:txBody>
      </p:sp>
      <p:pic>
        <p:nvPicPr>
          <p:cNvPr id="14" name="Picture 13" descr="icon-BookOpe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385816"/>
            <a:ext cx="539496" cy="5394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64208" y="5385816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คู่มือยังต้องชัดเจน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6071616"/>
            <a:ext cx="557784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ต้องเชื่อมภาพรวม วัสดุ ขั้นตอน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และจุดตรวจสอบเข้าด้วยกัน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2057400"/>
            <a:ext cx="6089904" cy="5111496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rt-caddy.png"/>
          <p:cNvPicPr>
            <a:picLocks noChangeAspect="1"/>
          </p:cNvPicPr>
          <p:nvPr/>
        </p:nvPicPr>
        <p:blipFill>
          <a:blip r:embed="rId5"/>
          <a:srcRect t="1897" b="1897"/>
          <a:stretch>
            <a:fillRect/>
          </a:stretch>
        </p:blipFill>
        <p:spPr>
          <a:xfrm>
            <a:off x="9299448" y="2340864"/>
            <a:ext cx="3108960" cy="19751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48472" y="4626864"/>
            <a:ext cx="51572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โอกาสของ ReBuild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5486400"/>
            <a:ext cx="5157216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รวมการค้นหา อ่านคู่มือ ตรวจวัสดุ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และบันทึกแผนในเส้นทางเดียว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เปิดอ่านได้แม้ของยังไม่ครบ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ที่มา: ข้อกำหนดและปัญหาที่ใช้พัฒนาต้นแบบ • ยังไม่ใช่ผลสำรวจความชุกของปัญหาในประชากร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วัตถุประสงค์และคำถามการวิจัย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612648" cy="61264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331720"/>
            <a:ext cx="3566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194560"/>
            <a:ext cx="696772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พัฒนาคู่มือบนเว็บ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834639"/>
            <a:ext cx="6967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ค้นหาและอ่านโครงงานจากวัสดุในครัวเรือน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รองรับภาษาไทยและภาษาอังกฤษ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813048"/>
            <a:ext cx="612648" cy="61264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950208"/>
            <a:ext cx="3566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3813048"/>
            <a:ext cx="696772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ช่วยตรวจและวางแผนวัสดุ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4453128"/>
            <a:ext cx="6967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บันทึกจำนวน สภาพ และข้อกำหนด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แสดงสิ่งที่ต้องเตรียมหรือตรวจเพิ่มเติม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431536"/>
            <a:ext cx="612648" cy="61264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5568696"/>
            <a:ext cx="35661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5431536"/>
            <a:ext cx="6967727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ประเมินและหาแนวทางปรับปรุง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6071616"/>
            <a:ext cx="696772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ทดสอบการทำงานของซอฟต์แวร์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และสรุปรีวิวที่เผยแพร่ในระบบ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194560"/>
            <a:ext cx="4636008" cy="4882896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Targe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2" y="2633472"/>
            <a:ext cx="804672" cy="8046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65792" y="3694176"/>
            <a:ext cx="373075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คำถามหลัก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4599432"/>
            <a:ext cx="3730752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ต้นแบบทำงานได้ตาม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ขอบเขตเพียงใด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และข้อมูลที่มีชี้ว่า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ควรปรับปรุงอะไร?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ขอบเขตเนื้อหา ระบบ และช่วงข้อมูล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94560"/>
            <a:ext cx="38404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65576"/>
            <a:ext cx="4206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โครงงาน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9824" y="2194560"/>
            <a:ext cx="38404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9824" y="3465576"/>
            <a:ext cx="4206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ประเภทวัสดุ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21824" y="2194560"/>
            <a:ext cx="38404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141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21824" y="3465576"/>
            <a:ext cx="4206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ภาพประกอบรายขั้น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4270248"/>
            <a:ext cx="12874752" cy="0"/>
          </a:xfrm>
          <a:prstGeom prst="line">
            <a:avLst/>
          </a:prstGeom>
          <a:ln w="12700">
            <a:solidFill>
              <a:srgbClr val="D4CC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6112" y="4690872"/>
            <a:ext cx="129113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จัดบ้าน • ทำความสะอาด • ซ่อมของ • งานประดิษฐ์จากบรรจุภัณฑ์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ปลูกต้นไม้ • วิทยาศาสตร์ • อิเล็กทรอนิกส์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80760"/>
            <a:ext cx="13075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ระบบ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60807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เว็บสองภาษา บัญชี ชุมชน และแผนส่วนตัวในเบราว์เซอร์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79399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ช่วงข้อมูล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6793992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ผลทดสอบและจุดตัดรีวิว: 3 ตุลาคม 2569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ช่วงพัฒนาตั้งแต่เริ่มต้นและสถานที่ทดลองยังรอผู้จัดทำยืนยัน • ไม่ใช้เวลาโพสต์แทนเวลาทำภารกิจ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สมมติฐานในรูปข้อคาดหมายของระบบ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231136"/>
            <a:ext cx="82296" cy="1225296"/>
          </a:xfrm>
          <a:prstGeom prst="rect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BookOpen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2414016"/>
            <a:ext cx="603504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21992" y="224942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 1  อ่านได้แม้ของไม่ครบ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2871215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ยังไม่ได้กรอกคลังวัสดุหรือวัสดุไม่ครบ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ก็เปิดอ่านคู่มือทุกขั้นได้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3785615"/>
            <a:ext cx="82296" cy="1225296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Packag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3968496"/>
            <a:ext cx="603504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1992" y="3803903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 2  ตรวจวัสดุตามเงื่อนไข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4425696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แยกจำนวนไม่พอ สภาพหรือคุณสมบัติไม่ตรง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และข้อมูลที่ยังต้องตรวจสอบ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340096"/>
            <a:ext cx="82296" cy="1225296"/>
          </a:xfrm>
          <a:prstGeom prst="rect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Bookmark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5522976"/>
            <a:ext cx="603504" cy="6035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21992" y="5358383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 3  บันทึกและเปิดงานต่อได้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2" y="5980176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เปิดแผนและความคืบหน้าอีกครั้ง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ในเบราว์เซอร์เดิมเมื่อข้อมูลยังอยู่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เป็นข้อคาดหมายด้านการทำงานจากข้อกำหนดระบบ • การศึกษานี้ไม่ได้จัดกลุ่มทดลอง/ควบคุมเพื่อทดสอบเหตุและผล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1 / บทนำ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ผู้ใช้ประโยชน์และคุณค่าที่คาดหวัง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06</a:t>
            </a:r>
          </a:p>
        </p:txBody>
      </p:sp>
      <p:pic>
        <p:nvPicPr>
          <p:cNvPr id="8" name="Picture 7" descr="icon-Users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304288"/>
            <a:ext cx="667512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19656" y="2304288"/>
            <a:ext cx="5394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ผู้เริ่มต้นและนักเรียน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9656" y="3218688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มีแนวทางเลือกชิ้นงานและรายการวัสดุ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อ่านขั้นตอนก่อนลงมือจริง</a:t>
            </a:r>
          </a:p>
        </p:txBody>
      </p:sp>
      <p:pic>
        <p:nvPicPr>
          <p:cNvPr id="11" name="Picture 10" descr="icon-BookOpen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4" y="2304288"/>
            <a:ext cx="667512" cy="6675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77656" y="2304288"/>
            <a:ext cx="5394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ครูและสถานศึกษา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77656" y="3218688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มีสื่อประกอบกิจกรรมและการวางแผน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นำไปปรับใช้ให้เหมาะกับชั้นเรียน</a:t>
            </a:r>
          </a:p>
        </p:txBody>
      </p:sp>
      <p:pic>
        <p:nvPicPr>
          <p:cNvPr id="14" name="Picture 13" descr="icon-Lightbulb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700016"/>
            <a:ext cx="667512" cy="667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19656" y="4700016"/>
            <a:ext cx="5394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คุณค่าเชิงความรู้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" y="5614416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ได้ตัวอย่างการเชื่อมข้อกำหนดระบบ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กับหลักฐานประเมินและข้อจำกัด</a:t>
            </a:r>
          </a:p>
        </p:txBody>
      </p:sp>
      <p:pic>
        <p:nvPicPr>
          <p:cNvPr id="17" name="Picture 16" descr="icon-Wrench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4700016"/>
            <a:ext cx="667512" cy="667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77656" y="4700016"/>
            <a:ext cx="539496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คุณค่าเชิงปฏิบัติ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5614416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จัดรายการวัสดุ บันทึกความคืบหน้า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และใช้ข้อคิดเห็นพัฒนาคู่มือ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2276856"/>
            <a:ext cx="0" cy="4654296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" y="4425696"/>
            <a:ext cx="12902184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ประโยชน์ด้านการเรียนรู้และสิ่งแวดล้อมเป็นสิ่งที่คาดหวัง ยังไม่ได้วัดผลลัพธ์โดยตรง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แนวคิดหลักและนิยามที่ใช้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5733288" y="3438144"/>
            <a:ext cx="3063240" cy="3063240"/>
          </a:xfrm>
          <a:prstGeom prst="ellipse">
            <a:avLst/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Sprout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3867912"/>
            <a:ext cx="1216152" cy="12161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16752" y="5504688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pic>
        <p:nvPicPr>
          <p:cNvPr id="11" name="Picture 10" descr="icon-Recycl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258568"/>
            <a:ext cx="539496" cy="5394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" y="3044952"/>
            <a:ext cx="417880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นำวัสดุกลับมาใช้ประโยชน์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785616"/>
            <a:ext cx="4224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ใช้ซ้ำหรือดัดแปลงตามความเหมาะสม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ไม่เท่ากับการรีไซเคิลทุกกรณี</a:t>
            </a:r>
          </a:p>
        </p:txBody>
      </p:sp>
      <p:pic>
        <p:nvPicPr>
          <p:cNvPr id="14" name="Picture 13" descr="icon-BookOpe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258568"/>
            <a:ext cx="539496" cy="5394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20072" y="3044952"/>
            <a:ext cx="417880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การเรียนรู้ผ่านโครงงาน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3785616"/>
            <a:ext cx="4224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ใช้คู่มือช่วยวางแผนและสังเกตผล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ยังไม่ถือว่าจัด PBL ครบกระบวนการ</a:t>
            </a:r>
          </a:p>
        </p:txBody>
      </p:sp>
      <p:pic>
        <p:nvPicPr>
          <p:cNvPr id="17" name="Picture 16" descr="icon-Eye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910328"/>
            <a:ext cx="539496" cy="5394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0392" y="5696712"/>
            <a:ext cx="417880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ภาพและคำอธิบาย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6437376"/>
            <a:ext cx="4224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แบ่งข้อมูลเป็นขั้นและใช้ภาพที่ช่วย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อธิบายจุดยากของการปฏิบัติงาน</a:t>
            </a:r>
          </a:p>
        </p:txBody>
      </p:sp>
      <p:pic>
        <p:nvPicPr>
          <p:cNvPr id="20" name="Picture 19" descr="icon-ChartColumn-19573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072" y="4910328"/>
            <a:ext cx="539496" cy="5394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20072" y="5696712"/>
            <a:ext cx="417880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หน่วยวิเคราะห์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6437376"/>
            <a:ext cx="422452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กรณีทดสอบซอฟต์แวร์ / รายการรีวิว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แยกออกจากจำนวนบุคคล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แนวคิดเชื่อมโยง: Kirchherr et al. (2017); Kokotsaki et al. (2016); Mayer &amp; Moreno (2003)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งานวิจัยที่เกี่ยวข้อง: การสร้างและประเมินต้นแบบ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2157984"/>
            <a:ext cx="6400800" cy="4882896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459736"/>
            <a:ext cx="5733288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Hevner et al. (2004)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18688"/>
            <a:ext cx="5733288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Design science in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information systems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553712"/>
            <a:ext cx="573328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กรอบการวิจัยที่มุ่งสร้างและประเมิน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สิ่งประดิษฐ์ทางระบบสารสนเทศ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15568" y="5650992"/>
            <a:ext cx="5760720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15568" y="5961888"/>
            <a:ext cx="5733288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ReBuild ต้องมีทั้งผลผลิตระบบ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และหลักฐานการประเมิน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2157984"/>
            <a:ext cx="6400800" cy="4882896"/>
          </a:xfrm>
          <a:prstGeom prst="roundRect">
            <a:avLst>
              <a:gd name="adj" fmla="val 3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18704" y="2459736"/>
            <a:ext cx="5733288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Peffers et al. (2007)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8704" y="3218688"/>
            <a:ext cx="5733288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 design science research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methodology for IS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4553712"/>
            <a:ext cx="573328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ลำดับจากปัญหา → เป้าหมาย → พัฒนา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→ สาธิต → ประเมิน → สื่อสารผล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18704" y="5650992"/>
            <a:ext cx="5760720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8704" y="5961888"/>
            <a:ext cx="5733288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ใช้จัดลำดับการดำเนินงานและรายงาน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โดยแสดงสิ่งที่ทำจริงกับสิ่งที่ยังต้องศึกษา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กรอบอภิปรายระดับแนวคิด ไม่ได้อ้างว่าดำเนินการตามกรอบวิธีวิจัยครบทุกขั้นแล้ว • บรรณานุกรมเต็มท้ายสไลด์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งานวิจัยที่เกี่ยวข้อง: เนื้อหาและการเรียนรู้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09</a:t>
            </a:r>
          </a:p>
        </p:txBody>
      </p:sp>
      <p:pic>
        <p:nvPicPr>
          <p:cNvPr id="8" name="Picture 7" descr="icon-Recycl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231136"/>
            <a:ext cx="676656" cy="6766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" y="3273552"/>
            <a:ext cx="39410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เศรษฐกิจหมุนเวียน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233672"/>
            <a:ext cx="394106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Kirchherr et al. (2017)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919472"/>
            <a:ext cx="3941063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วิเคราะห์นิยามและขอบเขต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ของเศรษฐกิจหมุนเวียน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" y="6117336"/>
            <a:ext cx="3959352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77824" y="6400800"/>
            <a:ext cx="3941063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ใช้เป็นบริบทการใช้ทรัพยากร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ต้องวัดวัสดุจริงก่อนอ้างผลลดขยะ</a:t>
            </a:r>
          </a:p>
        </p:txBody>
      </p:sp>
      <p:pic>
        <p:nvPicPr>
          <p:cNvPr id="14" name="Picture 13" descr="icon-BookOpen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2231136"/>
            <a:ext cx="676656" cy="6766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04104" y="3273552"/>
            <a:ext cx="39410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การเรียนรู้แบบโครงงาน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4233672"/>
            <a:ext cx="394106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Kokotsaki et al. (2016)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4104" y="4919472"/>
            <a:ext cx="3941063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ทบทวนวรรณกรรมเกี่ยวกับ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Project-based learning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4104" y="6117336"/>
            <a:ext cx="3959352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04104" y="6400800"/>
            <a:ext cx="3941063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ใช้ประกอบการออกแบบกิจกรรม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ต้องมีเครื่องมือวัดการเรียนรู้เพิ่ม</a:t>
            </a:r>
          </a:p>
        </p:txBody>
      </p:sp>
      <p:pic>
        <p:nvPicPr>
          <p:cNvPr id="20" name="Picture 19" descr="icon-Ey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0384" y="2231136"/>
            <a:ext cx="676656" cy="6766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30384" y="3273552"/>
            <a:ext cx="39410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สื่อหลายรูปแบบ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0384" y="4233672"/>
            <a:ext cx="3941063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Mayer &amp; Moreno (2003)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0384" y="4919472"/>
            <a:ext cx="3941063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แนวทางลดภาระทางปัญญา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จากการเรียนรู้ด้วยสื่อหลายรูปแบบ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30384" y="6117336"/>
            <a:ext cx="3959352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930384" y="6400800"/>
            <a:ext cx="3941063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แบ่งขั้นและใช้ภาพที่อธิบายงาน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ต้องประเมินความเข้าใจจริงเพิ่มเติม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เป็นการเชื่อมแนวคิดกับการออกแบบ ReBuild • ไม่ใช่หลักฐานยืนยันผลการเรียนรู้หรือผลด้านสิ่งแวดล้อมของต้นแบบ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บทที่ 2 / แนวคิดและเอกสารที่เกี่ยวข้อง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กรอบแนวคิดและตัวแปรที่ศึกษา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2368296"/>
            <a:ext cx="1033271" cy="1033271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Packag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606040"/>
            <a:ext cx="557784" cy="5577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" y="3831336"/>
            <a:ext cx="4059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ปัจจัยนำเข้า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754880"/>
            <a:ext cx="4078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ความต้องการผู้เริ่มต้น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วัสดุ คู่มือ และข้อกำหนด</a:t>
            </a:r>
          </a:p>
        </p:txBody>
      </p:sp>
      <p:sp>
        <p:nvSpPr>
          <p:cNvPr id="12" name="Chevron 11"/>
          <p:cNvSpPr/>
          <p:nvPr/>
        </p:nvSpPr>
        <p:spPr>
          <a:xfrm>
            <a:off x="4837176" y="2670048"/>
            <a:ext cx="329184" cy="438912"/>
          </a:xfrm>
          <a:prstGeom prst="chevron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58968" y="2368296"/>
            <a:ext cx="1033271" cy="1033271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Cod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606040"/>
            <a:ext cx="557784" cy="5577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58968" y="3831336"/>
            <a:ext cx="4059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กระบวนการ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4754880"/>
            <a:ext cx="4078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ออกแบบและพัฒนาระบบ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ทดสอบและรวบรวมรีวิว</a:t>
            </a:r>
          </a:p>
        </p:txBody>
      </p:sp>
      <p:sp>
        <p:nvSpPr>
          <p:cNvPr id="17" name="Chevron 16"/>
          <p:cNvSpPr/>
          <p:nvPr/>
        </p:nvSpPr>
        <p:spPr>
          <a:xfrm>
            <a:off x="9409176" y="2670048"/>
            <a:ext cx="329184" cy="438912"/>
          </a:xfrm>
          <a:prstGeom prst="chevron">
            <a:avLst/>
          </a:prstGeom>
          <a:solidFill>
            <a:srgbClr val="D7E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30968" y="2368296"/>
            <a:ext cx="1033271" cy="1033271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hartColum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606040"/>
            <a:ext cx="557784" cy="5577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30968" y="3831336"/>
            <a:ext cx="4059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ข้อมูลผลลัพธ์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4754880"/>
            <a:ext cx="4078224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ผลผ่าน/ไม่ผ่าน คะแนนดาว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และประเด็นปรับปรุง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6199632"/>
            <a:ext cx="13112496" cy="822960"/>
          </a:xfrm>
          <a:prstGeom prst="roundRect">
            <a:avLst>
              <a:gd name="adj" fmla="val 4000"/>
            </a:avLst>
          </a:prstGeom>
          <a:solidFill>
            <a:srgbClr val="254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6364224"/>
            <a:ext cx="441655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เงื่อนไขคงที่ในการทดสอบ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0136" y="6364224"/>
            <a:ext cx="783640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รุ่นโปรแกรม • ชุดข้อมูล • กรณีทดสอบ • เบราว์เซอร์/ขนาดหน้าจอ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ลูกศรแสดงลำดับงาน ไม่มีการจัดกระทำตัวแปรอิสระเพื่อทดลองเหตุและผล • ผลตามคือผลทดสอบและรีวิวที่สังเกตได้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วิธีพัฒนาและเครื่องมือที่ใช้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157984"/>
            <a:ext cx="7918704" cy="4882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2157984"/>
            <a:ext cx="7918704" cy="338328"/>
          </a:xfrm>
          <a:prstGeom prst="roundRect">
            <a:avLst>
              <a:gd name="adj" fmla="val 5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05256" y="2276856"/>
            <a:ext cx="68580" cy="68580"/>
          </a:xfrm>
          <a:prstGeom prst="ellipse">
            <a:avLst/>
          </a:prstGeom>
          <a:solidFill>
            <a:srgbClr val="B59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5" y="2276856"/>
            <a:ext cx="68580" cy="68580"/>
          </a:xfrm>
          <a:prstGeom prst="ellipse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9576" y="2276856"/>
            <a:ext cx="68580" cy="68580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81328" y="2249424"/>
            <a:ext cx="7004304" cy="146304"/>
          </a:xfrm>
          <a:prstGeom prst="roundRect">
            <a:avLst>
              <a:gd name="adj" fmla="val 12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ome-hero.png"/>
          <p:cNvPicPr>
            <a:picLocks noChangeAspect="1"/>
          </p:cNvPicPr>
          <p:nvPr/>
        </p:nvPicPr>
        <p:blipFill>
          <a:blip r:embed="rId2"/>
          <a:srcRect t="4447" b="4447"/>
          <a:stretch>
            <a:fillRect/>
          </a:stretch>
        </p:blipFill>
        <p:spPr>
          <a:xfrm>
            <a:off x="822959" y="2542032"/>
            <a:ext cx="7772400" cy="4425696"/>
          </a:xfrm>
          <a:prstGeom prst="rect">
            <a:avLst/>
          </a:prstGeom>
        </p:spPr>
      </p:pic>
      <p:pic>
        <p:nvPicPr>
          <p:cNvPr id="15" name="Picture 14" descr="icon-Monitor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2231136"/>
            <a:ext cx="557784" cy="5577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48672" y="2231136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ส่วนผู้ใช้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8672" y="2916936"/>
            <a:ext cx="3977639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React + TypeScript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แผนและวัสดุเก็บใน localStorage</a:t>
            </a:r>
          </a:p>
        </p:txBody>
      </p:sp>
      <p:pic>
        <p:nvPicPr>
          <p:cNvPr id="18" name="Picture 17" descr="icon-Database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3840480"/>
            <a:ext cx="557784" cy="5577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48672" y="3840480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บริการและฐานข้อมูล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48672" y="4526280"/>
            <a:ext cx="3977639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Node.js / Express บน Render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Supabase: บัญชี ชุมชน และรูป</a:t>
            </a:r>
          </a:p>
        </p:txBody>
      </p:sp>
      <p:pic>
        <p:nvPicPr>
          <p:cNvPr id="21" name="Picture 20" descr="icon-ShieldCheck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5449824"/>
            <a:ext cx="557784" cy="5577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948672" y="5449824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ตรวจและเผยแพร่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6135624"/>
            <a:ext cx="3977639" cy="813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Git/GitHub + เครื่องมือทดสอบ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ตรวจรุ่นโปรแกรมก่อนสรุปผล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ภาพหน้าจอจากต้นแบบ • แผนส่วนตัวยังไม่ซิงก์ข้ามอุปกรณ์อัตโนมัติเมื่อเข้าสู่ระบบ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ประชากร กลุ่มผู้ทดลอง และหน่วยวิเคราะห์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5175504" cy="3502152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560320"/>
            <a:ext cx="2121408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7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2424" y="3136392"/>
            <a:ext cx="130759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050791"/>
            <a:ext cx="453542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ผู้ทดลองตามที่ผู้จัดทำรายงาน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773168"/>
            <a:ext cx="453542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ข้อมูลสาธารณะยังไม่ยืนยัน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จำนวนบุคคลที่ไม่ซ้ำ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7735824" cy="3502152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560320"/>
            <a:ext cx="210312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7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3136392"/>
            <a:ext cx="4727448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รายการรีวิวที่เผยแพร่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4206240"/>
            <a:ext cx="707745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เว็บไซต์ 19 รายการ   |   โครงงาน 2 รายการ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4928616"/>
            <a:ext cx="707745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ใช้รายการรีวิวเป็นหน่วยวิเคราะห์คะแนน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062472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กลุ่มเป้าหมาย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6062472"/>
            <a:ext cx="96286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ผู้เริ่มต้นที่สนใจงานในบ้านและกิจกรรมการเรียนรู้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812280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ข้อมูลที่ยังขาด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6812280"/>
            <a:ext cx="962863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วิธีคัดเลือก • อายุ/เพศ/ระดับการศึกษา • สถานที่ทดลอง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จึงไม่อ้างการสุ่มตัวอย่างหรือสร้างกราฟประชากรศาสตร์จากข้อมูลที่ไม่มี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เครื่องมือวิจัยและการตรวจคุณภาพข้อมูล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212848"/>
          <a:ext cx="13185648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4096512"/>
                <a:gridCol w="5751576"/>
              </a:tblGrid>
              <a:tr h="10469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เครื่องมือ/ข้อมูล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ใช้ประเมินอะไร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การตรวจและข้อจำกัด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Vitest + PGlite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ตรรกะ API และ SQL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กำหนดข้อมูลนำเข้าและผลที่คาด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บางกรณีใช้บริการ/ผู้ใช้จำลอง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Playwright + Chromium + axe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การทำงานผ่านเบราว์เซอร์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และกฎการเข้าถึงบางส่วน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ตรวจหน้าจอและเส้นทางที่กำหนด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ไม่ใช่การรับรองทุกกรณี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รีวิวที่เผยแพร่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คะแนนดาวและข้อคิดเห็น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ตรวจประเภท สถานะ และช่วงคะแนน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ข้อมูลผ่านการอนุมัติก่อนเผยแพร่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6601968"/>
            <a:ext cx="13213080" cy="914400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766559"/>
            <a:ext cx="42976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เครื่องมือสำหรับรอบต่อไป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6748272"/>
            <a:ext cx="817473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แบบบันทึกภารกิจ/แบบสอบถามยังไม่มีผลตรวจ IOC หรือความเชื่อมั่น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การเก็บรวบรวมข้อมูลที่ใช้ในรายงาน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88136" y="2331720"/>
            <a:ext cx="0" cy="4434840"/>
          </a:xfrm>
          <a:prstGeom prst="line">
            <a:avLst/>
          </a:prstGeom>
          <a:ln w="25400">
            <a:solidFill>
              <a:srgbClr val="839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13816" y="2212848"/>
            <a:ext cx="566928" cy="56692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2212848"/>
            <a:ext cx="657453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ตรึงรุ่นซอฟต์แวร์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2807208"/>
            <a:ext cx="657453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รุ่น 5125774 และชุดข้อมูลของรุ่นที่ทดสอบ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" y="3447288"/>
            <a:ext cx="566928" cy="56692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66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1368" y="3447288"/>
            <a:ext cx="657453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รวบรวมผลทางเทคนิค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4041648"/>
            <a:ext cx="657453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บันทึกผ่าน/ไม่ผ่าน/ข้ามจากไฟล์ผลทดสอบ</a:t>
            </a:r>
          </a:p>
        </p:txBody>
      </p:sp>
      <p:sp>
        <p:nvSpPr>
          <p:cNvPr id="17" name="Oval 16"/>
          <p:cNvSpPr/>
          <p:nvPr/>
        </p:nvSpPr>
        <p:spPr>
          <a:xfrm>
            <a:off x="813816" y="4681728"/>
            <a:ext cx="566928" cy="56692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006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4681728"/>
            <a:ext cx="657453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เก็บรายการรีวิวที่เผยแพร่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5276088"/>
            <a:ext cx="657453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ตรวจชนิดรายการ สถานะ และคะแนน 1–5</a:t>
            </a:r>
          </a:p>
        </p:txBody>
      </p:sp>
      <p:sp>
        <p:nvSpPr>
          <p:cNvPr id="21" name="Oval 20"/>
          <p:cNvSpPr/>
          <p:nvPr/>
        </p:nvSpPr>
        <p:spPr>
          <a:xfrm>
            <a:off x="813816" y="5916168"/>
            <a:ext cx="566928" cy="566928"/>
          </a:xfrm>
          <a:prstGeom prst="ellipse">
            <a:avLst/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6035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1368" y="5916168"/>
            <a:ext cx="6574536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คำนวณและสรุปข้อความ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1368" y="6510528"/>
            <a:ext cx="657453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แยกประเภทรีวิวและระบุข้อจำกัดของข้อมูล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62872" y="2157984"/>
            <a:ext cx="4690872" cy="4956048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Calenda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5208" y="2569464"/>
            <a:ext cx="685800" cy="685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65208" y="3639312"/>
            <a:ext cx="391363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 ตุลาคม 2569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4645152"/>
            <a:ext cx="391363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จุดตัดข้อมูลรีวิว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23:04 น. เวลาไทย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5980176"/>
            <a:ext cx="391363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เวลาโพสต์ที่พบ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18:41–22:30 น.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เวลาโพสต์ไม่ใช่เวลาที่ผู้เข้าร่วมทำภารกิจ • ยังไม่มีแบบบันทึกภารกิจรายบุคคลในชุดข้อมูลนี้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3 / วิธีดำเนินการวิจัย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วิธีวิเคราะห์ข้อมูลและสถิติที่ใช้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57984"/>
            <a:ext cx="4910328" cy="4937760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42616"/>
            <a:ext cx="422452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สถิติเชิงพรรณนา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57600"/>
            <a:ext cx="422452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ความถี่และร้อยละ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ค่าเฉลี่ย และ SD แบบตัวอย่าง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5212080"/>
            <a:ext cx="4224528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ร้อยละ = (จำนวน / ทั้งหมด) × 100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ค่าเฉลี่ย = ผลรวมคะแนน / 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SD ใช้ตัวหาร n − 1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2304288"/>
            <a:ext cx="75895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ผลซอฟต์แวร์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3008376"/>
            <a:ext cx="75895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สรุปจำนวนผ่าน ไม่ผ่าน และข้าม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แยกตามชุดทดสอบ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895344"/>
            <a:ext cx="75895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คะแนนรีวิว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599431"/>
            <a:ext cx="75895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นับตามรายการ และแยกเว็บไซต์/โครงงาน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 = จำนวนรีวิวที่มีคะแนน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5486400"/>
            <a:ext cx="75895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ข้อความรีวิว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6190488"/>
            <a:ext cx="7589520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อ่านและจัดประเด็นเพื่อพัฒนา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ไม่ถือทุกข้อคิดเห็นเป็นข้อบกพร่องที่ยืนยันแล้ว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ไม่ใช้ t-test, ANOVA หรือสหสัมพันธ์ เนื่องจากยังไม่มีข้อมูล/แบบวิจัยรองรับ • สูตร: NIST/SEMATECH e-Handbook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ผลตามวัตถุประสงค์ที่ 1: ได้ต้นแบบที่ใช้งานได้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2112264"/>
            <a:ext cx="6291072" cy="5047488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ject-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212848"/>
            <a:ext cx="5942193" cy="4828032"/>
          </a:xfrm>
          <a:prstGeom prst="rect">
            <a:avLst/>
          </a:prstGeom>
        </p:spPr>
      </p:pic>
      <p:pic>
        <p:nvPicPr>
          <p:cNvPr id="10" name="Picture 9" descr="icon-Search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242316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02752" y="2423160"/>
            <a:ext cx="563270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ค้นหาและเลือกโครงงาน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337560"/>
            <a:ext cx="563270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หมวดหมู่และคู่มือสองภาษา</a:t>
            </a:r>
          </a:p>
        </p:txBody>
      </p:sp>
      <p:pic>
        <p:nvPicPr>
          <p:cNvPr id="13" name="Picture 12" descr="icon-BookOpe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3904487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02752" y="3904487"/>
            <a:ext cx="563270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อ่านขั้นตอนพร้อมภาพ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818888"/>
            <a:ext cx="563270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เปิดได้แม้ยังไม่มีวัสดุครบ</a:t>
            </a:r>
          </a:p>
        </p:txBody>
      </p:sp>
      <p:pic>
        <p:nvPicPr>
          <p:cNvPr id="16" name="Picture 15" descr="icon-Bookmark-1957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5385816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02752" y="5385816"/>
            <a:ext cx="563270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บันทึกงานและความคืบหน้า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6300216"/>
            <a:ext cx="5632704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ส่งออก/นำเข้าข้อมูลสำรอง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หลักฐานผลผลิต: ระบบและหน้าจอ • ไม่ใช่อัตราความสำเร็จของผู้ทดลอง 20 คน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ผลตามวัตถุประสงค์ที่ 2: ตรวจความพร้อมของวัสดุ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231136"/>
            <a:ext cx="3995928" cy="4279392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Packag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633472"/>
            <a:ext cx="795528" cy="795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79576" y="3813048"/>
            <a:ext cx="32461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ข้อมูลคลังวัสดุ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6" y="4837176"/>
            <a:ext cx="324612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ประเภทและจำนวน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หน่วย สภาพ และคุณสมบัติ</a:t>
            </a:r>
          </a:p>
        </p:txBody>
      </p:sp>
      <p:sp>
        <p:nvSpPr>
          <p:cNvPr id="12" name="Chevron 11"/>
          <p:cNvSpPr/>
          <p:nvPr/>
        </p:nvSpPr>
        <p:spPr>
          <a:xfrm>
            <a:off x="5175504" y="3858768"/>
            <a:ext cx="457200" cy="594360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231136"/>
            <a:ext cx="3685032" cy="1280160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414016"/>
            <a:ext cx="32369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ครบตามเงื่อนไข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999232"/>
            <a:ext cx="3236976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จำนวนและรายละเอียดตรง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03536" y="2231136"/>
            <a:ext cx="3685032" cy="1280160"/>
          </a:xfrm>
          <a:prstGeom prst="roundRect">
            <a:avLst>
              <a:gd name="adj" fmla="val 3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22992" y="2414016"/>
            <a:ext cx="32369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จำนวนไม่พอ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992" y="2999232"/>
            <a:ext cx="3236976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ต้องเตรียมจำนวนเพิ่ม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730752"/>
            <a:ext cx="3685032" cy="1280160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3913632"/>
            <a:ext cx="32369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ไม่พบรายการ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4498848"/>
            <a:ext cx="3236976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ยังไม่มีในคลัง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03536" y="3730752"/>
            <a:ext cx="3685032" cy="1280160"/>
          </a:xfrm>
          <a:prstGeom prst="roundRect">
            <a:avLst>
              <a:gd name="adj" fmla="val 3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2" y="3913632"/>
            <a:ext cx="32369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สภาพไม่เหมาะสม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2992" y="4498848"/>
            <a:ext cx="3236976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ต้องเลือกวัสดุอื่น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5230368"/>
            <a:ext cx="3685032" cy="1280160"/>
          </a:xfrm>
          <a:prstGeom prst="roundRect">
            <a:avLst>
              <a:gd name="adj" fmla="val 3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4496" y="5413248"/>
            <a:ext cx="32369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คุณสมบัติไม่ตรง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5998464"/>
            <a:ext cx="3236976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ต้องตรวจข้อกำหนด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03536" y="5230368"/>
            <a:ext cx="3685032" cy="1280160"/>
          </a:xfrm>
          <a:prstGeom prst="roundRect">
            <a:avLst>
              <a:gd name="adj" fmla="val 3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22992" y="5413248"/>
            <a:ext cx="323697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ข้อมูลไม่เพียงพอ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5998464"/>
            <a:ext cx="3236976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ยังต้องตรวจสอบเพิ่ม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แผนภาพอธิบายตรรกะของระบบ • ชุดทดสอบตรวจการจัดสรรจำนวนไม่ซ้ำและข้อมูลที่ไม่ทราบ • ไม่ยืนยันสภาพสิ่งของจริง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ผลทดสอบการทำงานของซอฟต์แวร์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19656"/>
            <a:ext cx="1271016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หลักฐานวันที่ 3 ตุลาคม 2569 • รุ่นที่ทดสอบ 5125774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51192" y="2450592"/>
            <a:ext cx="0" cy="4480560"/>
          </a:xfrm>
          <a:prstGeom prst="line">
            <a:avLst/>
          </a:prstGeom>
          <a:ln w="12700">
            <a:solidFill>
              <a:srgbClr val="5474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con-Cod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14016"/>
            <a:ext cx="58521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3182112"/>
            <a:ext cx="3246120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813048"/>
            <a:ext cx="22860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ผ่าน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10328"/>
            <a:ext cx="561441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ตรรกะ / API /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724144"/>
            <a:ext cx="559612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61 กฎข้อมูลและรายการโครงงาน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10 AI/API ด้วยข้อมูลจำลอง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17 ชุมชน/API + 5 SQL ชุมชน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6 SQL จำกัดการโพสต์</a:t>
            </a:r>
          </a:p>
        </p:txBody>
      </p:sp>
      <p:pic>
        <p:nvPicPr>
          <p:cNvPr id="15" name="Picture 14" descr="icon-Monito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2414016"/>
            <a:ext cx="585216" cy="5852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36992" y="3182112"/>
            <a:ext cx="3246120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58016" y="3813048"/>
            <a:ext cx="22860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9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ผ่าน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4910328"/>
            <a:ext cx="5614416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การทำงานผ่านเบราว์เซอร์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5724144"/>
            <a:ext cx="559612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Playwright + Chromium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ความกว้าง 1440 / 768 / 360 px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ค้นหา คู่มือ วัสดุ บันทึกแผน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และเส้นทางบัญชี/ชุมชนในชุดทดสอบ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ทั้งสองชุด: ไม่ผ่าน 0 / ข้าม 0 • ข้อมูลจำลองในชุดทดสอบไม่ใช่ผู้เข้าร่วมวิจัยหรือการตรวจ OAuth จริงทุกเส้นทาง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ผลตรวจคุณภาพและขอบเขตหลักฐาน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185416"/>
          <a:ext cx="13185648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9544"/>
                <a:gridCol w="4590288"/>
                <a:gridCol w="5385816"/>
              </a:tblGrid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รายการตรวจ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ผลที่บันทึก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สิ่งที่ยังสรุปไม่ได้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การเข้าถึงด้วย axe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75 การสแกน / พบการละเมิดกฎ 0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ยังไม่ใช่การรับรอง WCAG ทุกข้อ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TypeScript / build / lint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ผ่าน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ยังมีคำเตือนขนาดไฟล์ฝั่งผู้ใช้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npm audit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พบช่องโหว่ที่รู้จัก 0 รายการ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ยังไม่ยืนยันว่าไม่มีช่องโหว่ทั้งหมด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ตัวนับจำกัดโพสต์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คงอยู่หลังปิด–เปิด PGlite ในเครื่อง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ยังไม่ใช่ผลรีสตาร์ต Render จริง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เข้าสู่ระบบและดูแลเนื้อหา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ผู้จัดทำยืนยัน Google/อีเมลและการอนุมัติ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7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ยังไม่ยืนยันการส่งเมลหรือโหลดทุกกรณี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สภาพแวดล้อมทดสอบ: Node 24.19.0 • npm 11.9.0 • Chromium 151.0.7922.173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ลักษณะของข้อมูลรีวิวที่นำมาวิเคราะห์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3172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3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215384"/>
            <a:ext cx="387705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รายการที่เผยแพร่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358384"/>
            <a:ext cx="3922776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จุดตัด: 3 ต.ค. 2569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เวลา 23:04 น. (ไทย)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294376" y="2414016"/>
          <a:ext cx="86410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2651760"/>
                <a:gridCol w="2651760"/>
              </a:tblGrid>
              <a:tr h="83439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ประเภทรีวิว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จำนวน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ผลรวมคะแนน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เว็บไซต์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19 รายการ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75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โครงงาน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 รายการ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7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รวม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21 รายการ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1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82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312664" y="6190488"/>
            <a:ext cx="8613648" cy="905256"/>
          </a:xfrm>
          <a:prstGeom prst="roundRect">
            <a:avLst>
              <a:gd name="adj" fmla="val 4000"/>
            </a:avLst>
          </a:prstGeom>
          <a:solidFill>
            <a:srgbClr val="EC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6327648"/>
            <a:ext cx="8055864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เก็บทุกระดับคะแนนที่เผยแพร่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ไม่ใช้จำนวนรายการแทนจำนวนผู้ใช้ไม่ซ้ำ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วิเคราะห์เฉพาะข้อมูลสาธารณะที่ได้รับอนุมัติ • ข้อมูลที่รออนุมัติหรือไม่เผยแพร่ไม่อยู่ในชุดนี้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การกระจายคะแนนดาวของรีวิว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148840"/>
            <a:ext cx="3657600" cy="4965192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24912"/>
            <a:ext cx="2990088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6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3.90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078224"/>
            <a:ext cx="2971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จาก 5 คะแนน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4974336"/>
            <a:ext cx="2971800" cy="0"/>
          </a:xfrm>
          <a:prstGeom prst="line">
            <a:avLst/>
          </a:prstGeom>
          <a:ln w="12700">
            <a:solidFill>
              <a:srgbClr val="5474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52144" y="5431536"/>
            <a:ext cx="295351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SD = 0.77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มัธยฐาน = 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n = 21 รายการ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965192" y="2578608"/>
          <a:ext cx="8741664" cy="33467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266944" y="2112264"/>
            <a:ext cx="7955279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จำนวนรายการรีวิว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7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33.3%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9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42.9%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8096" y="6217920"/>
            <a:ext cx="1481328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5 รายการ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65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23.8%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7077456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ระดับคะแนนดาว 1–5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เว็บไซต์เฉลี่ย 3.95/5 • โครงงานเฉลี่ย 3.50/5 • ค่าเฉลี่ยรวมเป็นข้อมูลต่างประเภท ไม่ใช่คะแนนแบบสอบถามมาตรฐาน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4 / ผลการวิจัย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ข้อคิดเห็นที่ชี้จุดปรับปรุง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148840"/>
            <a:ext cx="4023360" cy="4937760"/>
          </a:xfrm>
          <a:prstGeom prst="roundRect">
            <a:avLst>
              <a:gd name="adj" fmla="val 4000"/>
            </a:avLst>
          </a:prstGeom>
          <a:solidFill>
            <a:srgbClr val="195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Quot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542032"/>
            <a:ext cx="777240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3675887"/>
            <a:ext cx="3355848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“ตัวหนังสือเล็ก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อ่านยาก”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5715000"/>
            <a:ext cx="335584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ข้อความจากรีวิวที่เผยแพร่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ไม่แสดงชื่อผู้โพสต์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2322576"/>
            <a:ext cx="844905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ภาพและวิดีโอเฉพาะจุดยาก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3127248"/>
            <a:ext cx="844905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ภาพก้นถุงหลังผูก • คลิปร้อยเชือก • ภาพผลที่ถูกต้อง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3840480"/>
            <a:ext cx="844905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ขนาดและคุณสมบัติวัสดุ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4645152"/>
            <a:ext cx="844905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ตัวอย่างขนาดลิ้นชัก • ชนิดผ้า • เชือกดูดน้ำ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5358383"/>
            <a:ext cx="844905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การแก้ปัญหาและกิจกรรมเรียนรู้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6163055"/>
            <a:ext cx="844905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วิธีตรวจเมื่อนิ้วไม่ขยับ • ควบคุมระยะฐาน/ชนิดเหรียญ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สรุปเนื้อหาเชิงพรรณนา ไม่รายงานความถี่รายประเด็นหรือถือทุกข้อความเป็นข้อผิดพลาดที่ตรวจยืนยันแล้ว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สรุปผลตามวัตถุประสงค์และข้อคาดหมาย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231136"/>
          <a:ext cx="13203936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9896"/>
                <a:gridCol w="4800600"/>
                <a:gridCol w="4663440"/>
              </a:tblGrid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วัตถุประสงค์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ผลที่มีหลักฐาน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ขอบเขตข้อสรุป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1. พัฒนาคู่มือบนเว็บ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มีต้นแบบสองภาษา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37 โครงงาน / 94 วัสดุ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ได้ผลผลิตตามขอบเขต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2. ตรวจและวางแผนวัสดุ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มีตรรกะตรวจเงื่อนไข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และการบันทึกแผน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ผลทดสอบสนับสนุน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เฉพาะเงื่อนไขที่ตรวจ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3. ประเมินและหาแนวปรับปรุง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99 + 51 กรณีผ่าน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21 รีวิว เฉลี่ย 3.90/5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ประเมินเบื้องต้นแล้ว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20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ยังไม่มีผลภารกิจรายคน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6537960"/>
            <a:ext cx="13213080" cy="914400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702552"/>
            <a:ext cx="42976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ข้อคาดหมายของระบบ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6684264"/>
            <a:ext cx="817473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อ่านคู่มือ • ตรวจวัสดุ • บันทึก/เปิดต่อ มีหลักฐานจากชุดทดสอบรองรับ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ข้อค้นพบสำคัญและข้อจำกัดการตีความ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24</a:t>
            </a:r>
          </a:p>
        </p:txBody>
      </p:sp>
      <p:pic>
        <p:nvPicPr>
          <p:cNvPr id="8" name="Picture 7" descr="icon-CircleCheck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19456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94560"/>
            <a:ext cx="560527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ต้นแบบเชื่อมการวางแผนได้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999232"/>
            <a:ext cx="560527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รวมคู่มือ ข้อมูลวัสดุ และการบันทึกงานในระบบเดียว</a:t>
            </a:r>
          </a:p>
        </p:txBody>
      </p:sp>
      <p:pic>
        <p:nvPicPr>
          <p:cNvPr id="11" name="Picture 10" descr="icon-CircleCheck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749039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45920" y="3749039"/>
            <a:ext cx="560527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ซอฟต์แวร์ผ่านชุดที่ตรวจ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553712"/>
            <a:ext cx="560527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พบหลักฐานการทำงานตามเงื่อนไขที่กำหนด</a:t>
            </a:r>
          </a:p>
        </p:txBody>
      </p:sp>
      <p:pic>
        <p:nvPicPr>
          <p:cNvPr id="14" name="Picture 13" descr="icon-CircleCheck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30352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45920" y="5303520"/>
            <a:ext cx="5605272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เนื้อหายังต้องช่วยตัดสินใจ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6108192"/>
            <a:ext cx="5605272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รีวิวชี้ความต้องการภาพ ขนาดวัสดุ และวิธีแก้ปัญหา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2167128"/>
            <a:ext cx="5989320" cy="4983480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2624328"/>
            <a:ext cx="5266944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ข้อจำกัดของข้อมูล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657600"/>
            <a:ext cx="526694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• รีวิวผ่านการอนุมัติก่อนเผยแพร่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• จำนวนคนไม่ซ้ำยังยืนยันไม่ได้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• บางข้อความตรงหรือปรับจาก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  ตัวอย่างที่เตรียมไว้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• ยังไม่มีเวลา/ผลภารกิจรายบุคคล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6492240"/>
            <a:ext cx="5266944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จึงใช้พรรณนาชุดข้อมูลและวางแผนปรับปรุง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อภิปรายผลเชื่อมกับแนวคิดในบทที่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25</a:t>
            </a:r>
          </a:p>
        </p:txBody>
      </p:sp>
      <p:pic>
        <p:nvPicPr>
          <p:cNvPr id="8" name="Picture 7" descr="icon-Cod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267712"/>
            <a:ext cx="521207" cy="5212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4208" y="2267712"/>
            <a:ext cx="5340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มีต้นแบบและผลตรวจระบบ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3218688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Hevner; Peffers</a:t>
            </a:r>
          </a:p>
        </p:txBody>
      </p:sp>
      <p:sp>
        <p:nvSpPr>
          <p:cNvPr id="11" name="Chevron 10"/>
          <p:cNvSpPr/>
          <p:nvPr/>
        </p:nvSpPr>
        <p:spPr>
          <a:xfrm>
            <a:off x="6967728" y="2624328"/>
            <a:ext cx="310896" cy="475488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2414016"/>
            <a:ext cx="5861304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ใช้กรอบวิจัยเชิงออกแบบจัดหลักฐาน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แต่ยังต้องประเมินผู้ใช้เพิ่ม</a:t>
            </a:r>
          </a:p>
        </p:txBody>
      </p:sp>
      <p:pic>
        <p:nvPicPr>
          <p:cNvPr id="13" name="Picture 12" descr="icon-Eye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867912"/>
            <a:ext cx="521207" cy="5212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64208" y="3867912"/>
            <a:ext cx="5340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ต้องการภาพและตัวอย่างชัดขึ้น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4818888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Mayer &amp; Moreno</a:t>
            </a:r>
          </a:p>
        </p:txBody>
      </p:sp>
      <p:sp>
        <p:nvSpPr>
          <p:cNvPr id="16" name="Chevron 15"/>
          <p:cNvSpPr/>
          <p:nvPr/>
        </p:nvSpPr>
        <p:spPr>
          <a:xfrm>
            <a:off x="6967728" y="4224528"/>
            <a:ext cx="310896" cy="475488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4014216"/>
            <a:ext cx="5861304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เลือกภาพที่อธิบายจุดยากและแบ่งขั้น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ต้องทดลองความเข้าใจก่อน–หลังจึงวัดผลได้</a:t>
            </a:r>
          </a:p>
        </p:txBody>
      </p:sp>
      <p:pic>
        <p:nvPicPr>
          <p:cNvPr id="18" name="Picture 17" descr="icon-Sprout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468112"/>
            <a:ext cx="521207" cy="5212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4208" y="5468112"/>
            <a:ext cx="534009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มีโอกาสใช้ในกิจกรรมและการใช้ซ้ำ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6419088"/>
            <a:ext cx="53400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Kokotsaki; Kirchherr</a:t>
            </a:r>
          </a:p>
        </p:txBody>
      </p:sp>
      <p:sp>
        <p:nvSpPr>
          <p:cNvPr id="21" name="Chevron 20"/>
          <p:cNvSpPr/>
          <p:nvPr/>
        </p:nvSpPr>
        <p:spPr>
          <a:xfrm>
            <a:off x="6967728" y="5824728"/>
            <a:ext cx="310896" cy="475488"/>
          </a:xfrm>
          <a:prstGeom prst="chevron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54696" y="5614416"/>
            <a:ext cx="5861304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ออกแบบการเรียนรู้และวัดวัสดุจริงแยกต่างหาก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ก่อนยืนยันผลทางการศึกษาหรือสิ่งแวดล้อม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การเชื่อมโยงเป็นเหตุผลเชิงแนวคิด ไม่ใช่การยืนยันความสัมพันธ์หรือความแตกต่างอย่างมีนัยสำคัญ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บทที่ 5 / สรุป อภิปรายผล 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ข้อเสนอแนะเชิงปฏิบัติและการวิจัยต่อไป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01</a:t>
            </a:r>
          </a:p>
        </p:txBody>
      </p:sp>
      <p:pic>
        <p:nvPicPr>
          <p:cNvPr id="9" name="Picture 8" descr="icon-Eye-1957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5" y="2414016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ปรับเนื้อหาและการอ่าน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ขนาดตัวอักษรบนมือถือ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ภาพจุดยาก ขนาดวัสดุ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และการแก้ปัญหาระหว่างทำ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02</a:t>
            </a:r>
          </a:p>
        </p:txBody>
      </p:sp>
      <p:pic>
        <p:nvPicPr>
          <p:cNvPr id="13" name="Picture 12" descr="icon-Users-1957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414016"/>
            <a:ext cx="59436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94960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เก็บผลการใช้งานจริง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รหัสผู้เข้าร่วมไม่ซ้ำ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ความสำเร็จ เวลา ข้อผิดพลาด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และข้อคิดเห็นด้วยถ้อยคำของตนเอง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7816" y="2221992"/>
            <a:ext cx="362102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5700" b="1">
                <a:solidFill>
                  <a:srgbClr val="839E63"/>
                </a:solidFill>
                <a:latin typeface="Noto Sans"/>
                <a:ea typeface="Noto Sans Thai"/>
                <a:cs typeface="Noto Sans Thai"/>
              </a:rPr>
              <a:t>03</a:t>
            </a:r>
          </a:p>
        </p:txBody>
      </p:sp>
      <p:pic>
        <p:nvPicPr>
          <p:cNvPr id="17" name="Picture 16" descr="icon-ChartColumn-1957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1328" y="2414016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57816" y="3694176"/>
            <a:ext cx="4059936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7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ขยายการประเมิน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4791456"/>
            <a:ext cx="4059936" cy="1801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ตรวจบริการจริงหลังรีสตาร์ต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วัดผลการเรียนรู้/วัสดุที่ใช้จริง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หรือเปรียบเทียบคู่มือด้วยแผนที่เหมาะสม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93208" y="2221992"/>
            <a:ext cx="0" cy="4507992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46920" y="2221992"/>
            <a:ext cx="0" cy="4507992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รอบต่อไปต้องกำหนดเกณฑ์และตรวจเครื่องมือก่อนเก็บข้อมูล • ไม่เติมผลที่ยังไม่ทราบเป็นผลสำเร็จย้อนหลัง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 / เอกสารวิชาการและแหล่งข้อมูล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 (1/2)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94560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Hevner, A. R., March, S. T., Park, J., &amp; Ram, S. (2004).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88920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Design science in information systems research. MIS Quarterly, 28(1), 75–105.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859536" y="3374136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https://doi.org/10.2307/25148625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758183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Peffers, K., Tuunanen, T., Rothenberger, M. A., &amp; Chatterjee, S. (2007).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352544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A design science research methodology for information systems research. Journal of Management Information Systems, 24(3), 45–77.</a:t>
            </a:r>
          </a:p>
        </p:txBody>
      </p:sp>
      <p:sp>
        <p:nvSpPr>
          <p:cNvPr id="13" name="TextBox 12">
            <a:hlinkClick r:id="rId3"/>
          </p:cNvPr>
          <p:cNvSpPr txBox="1"/>
          <p:nvPr/>
        </p:nvSpPr>
        <p:spPr>
          <a:xfrm>
            <a:off x="859536" y="4937759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https://doi.org/10.2753/MIS0742-1222240302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5321808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Kirchherr, J., Reike, D., &amp; Hekkert, M. (2017).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916168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Conceptualizing the circular economy: An analysis of 114 definitions. Resources, Conservation and Recycling, 127, 221–232.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859536" y="6501384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https://doi.org/10.1016/j.resconrec.2017.09.005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รายการวิชาการตั้งต้นพร้อม DOI • ยังไม่มีบันทึกตรวจฉบับเต็มในชุดหลักฐานนี้ ต้องตรวจต้นฉบับก่อนส่งรายงาน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REFERENCES / เอกสารวิชาการและแหล่งข้อมูล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เอกสารอ้างอิง (2/2)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94560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Kokotsaki, D., Menzies, V., &amp; Wiggins, A. (2016).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88920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Project-based learning: A review of the literature. Improving Schools, 19(3), 267–277.</a:t>
            </a:r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859536" y="3374136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https://doi.org/10.1177/1365480216659733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758183"/>
            <a:ext cx="12957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39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Mayer, R. E., &amp; Moreno, R. (2003).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352544"/>
            <a:ext cx="1295704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8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Nine ways to reduce cognitive load in multimedia learning. Educational Psychologist, 38(1), 43–52.</a:t>
            </a:r>
          </a:p>
        </p:txBody>
      </p:sp>
      <p:sp>
        <p:nvSpPr>
          <p:cNvPr id="13" name="TextBox 12">
            <a:hlinkClick r:id="rId3"/>
          </p:cNvPr>
          <p:cNvSpPr txBox="1"/>
          <p:nvPr/>
        </p:nvSpPr>
        <p:spPr>
          <a:xfrm>
            <a:off x="859536" y="4937759"/>
            <a:ext cx="129570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https://doi.org/10.1207/S15326985EP3801_6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5376672"/>
            <a:ext cx="12874752" cy="0"/>
          </a:xfrm>
          <a:prstGeom prst="line">
            <a:avLst/>
          </a:prstGeom>
          <a:ln w="12700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5632704"/>
            <a:ext cx="127101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แหล่งข้อมูลและเอกสารประกอบ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19088"/>
            <a:ext cx="1284732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3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NIST/SEMATECH e-Handbook — สูตรสถิติ • Arduino / NASA JPL — คู่มือเนื้อหา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3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Instructables — ตัวอย่างการจัดคู่มือ • ReBuild — ผลทดสอบและข้อมูลรีวิว 3 ต.ค. 2569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รายการวิชาการตั้งต้นพร้อม DOI • ยังไม่มีบันทึกตรวจฉบับเต็มในชุดหลักฐานนี้ ต้องตรวจต้นฉบับก่อนส่งรายงาน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ขอบคุณ / คำถามและข้อเสนอแนะ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4161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29</a:t>
            </a:r>
          </a:p>
        </p:txBody>
      </p:sp>
      <p:sp>
        <p:nvSpPr>
          <p:cNvPr id="8" name="Oval 7"/>
          <p:cNvSpPr/>
          <p:nvPr/>
        </p:nvSpPr>
        <p:spPr>
          <a:xfrm>
            <a:off x="10168128" y="1719072"/>
            <a:ext cx="3383280" cy="3383280"/>
          </a:xfrm>
          <a:prstGeom prst="ellipse">
            <a:avLst/>
          </a:prstGeom>
          <a:solidFill>
            <a:srgbClr val="285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Sprou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536" y="2404872"/>
            <a:ext cx="1426464" cy="1426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6112" y="2276856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7800" b="1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187952"/>
            <a:ext cx="894283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พัฒนาต้นแบบจากวัสดุใกล้ตัว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ประเมินตามหลักฐานที่มี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0">
                <a:solidFill>
                  <a:srgbClr val="FFFFFF"/>
                </a:solidFill>
                <a:latin typeface="Noto Sans"/>
                <a:ea typeface="Noto Sans Thai"/>
                <a:cs typeface="Noto Sans Thai"/>
              </a:rPr>
              <a:t>และปรับปรุงจากสิ่งที่ยังไม่ชัดเจน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50976" y="6473952"/>
            <a:ext cx="8229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0">
                <a:solidFill>
                  <a:srgbClr val="D7E3C9"/>
                </a:solidFill>
                <a:latin typeface="Noto Sans"/>
                <a:ea typeface="Noto Sans Thai"/>
                <a:cs typeface="Noto Sans Thai"/>
              </a:rPr>
              <a:t>work-c3to.onrender.com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APPENDIX / เครื่องมือที่ยังไม่มีผลการเก็บข้อมูล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สไลด์สำรอง: ภารกิจเก็บข้อมูลรอบถัดไป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6384" y="2212848"/>
          <a:ext cx="13185648" cy="426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0944"/>
                <a:gridCol w="5102352"/>
                <a:gridCol w="5102352"/>
              </a:tblGrid>
              <a:tr h="8522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ภารกิจ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เกณฑ์สำเร็จที่ควรกำหนด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ข้อมูลที่บันทึก</a:t>
                      </a:r>
                    </a:p>
                  </a:txBody>
                  <a:tcPr marL="155448" marR="137160" marT="109728" marB="91440" anchor="ctr">
                    <a:solidFill>
                      <a:srgbClr val="19573C"/>
                    </a:solidFill>
                  </a:tcPr>
                </a:tc>
              </a:tr>
              <a:tr h="8522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1. ค้นหาโครงงาน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เลือกงานตรงเงื่อนไขและเปิดคู่มือ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สำเร็จ/ไม่สำเร็จ เวลา ความช่วยเหลือ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522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2. ระบุวัสดุที่ขาด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เทียบกับชุดวัสดุและคำตอบอ้างอิง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ความถูกต้อง ข้อมูลที่สับสน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  <a:tr h="85222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3. อธิบายขั้นตอนสำคัญ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บอกลำดับและข้อควรระวังตามเกณฑ์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คำตอบและคะแนนจากเกณฑ์เดียวกัน</a:t>
                      </a:r>
                    </a:p>
                  </a:txBody>
                  <a:tcPr marL="155448" marR="137160" marT="109728" marB="91440" anchor="ctr">
                    <a:solidFill>
                      <a:srgbClr val="ECF1E5"/>
                    </a:solidFill>
                  </a:tcPr>
                </a:tc>
              </a:tr>
              <a:tr h="85222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4. บันทึกและเปิดแผนต่อ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เรียกคืนแผน/ความคืบหน้าในเบราว์เซอร์เดิม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800" b="0">
                          <a:solidFill>
                            <a:srgbClr val="233B30"/>
                          </a:solidFill>
                          <a:latin typeface="Noto Sans"/>
                          <a:ea typeface="Noto Sans Thai"/>
                          <a:cs typeface="Noto Sans Thai"/>
                        </a:rPr>
                        <a:t>สถานะข้อมูล เวลา ข้อผิดพลาด</a:t>
                      </a:r>
                    </a:p>
                  </a:txBody>
                  <a:tcPr marL="155448" marR="137160" marT="109728" marB="91440" anchor="ctr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6620256"/>
            <a:ext cx="13213080" cy="914400"/>
          </a:xfrm>
          <a:prstGeom prst="roundRect">
            <a:avLst>
              <a:gd name="adj" fmla="val 4000"/>
            </a:avLst>
          </a:prstGeom>
          <a:solidFill>
            <a:srgbClr val="F2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784848"/>
            <a:ext cx="429768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ก่อนเก็บข้อมูล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6766560"/>
            <a:ext cx="8174736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กำหนดโจทย์/เกณฑ์ ขอความยินยอม ทดลองเครื่องมือ และใช้รหัสไม่ซ้ำ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A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93192"/>
            <a:ext cx="109728" cy="182880"/>
          </a:xfrm>
          <a:prstGeom prst="rect">
            <a:avLst/>
          </a:prstGeom>
          <a:solidFill>
            <a:srgbClr val="83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338328"/>
            <a:ext cx="1261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APPENDIX / การตรวจสอบย้อนกลับ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3167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2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สไลด์สำรอง: หลักฐานและข้อมูลที่ต้องยืนยัน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7726679"/>
            <a:ext cx="13350240" cy="0"/>
          </a:xfrm>
          <a:prstGeom prst="line">
            <a:avLst/>
          </a:prstGeom>
          <a:ln w="8255">
            <a:solidFill>
              <a:srgbClr val="D9E1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872983"/>
            <a:ext cx="5486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0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REBUILD  / 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4520" y="7827264"/>
            <a:ext cx="685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167128"/>
            <a:ext cx="7836408" cy="4983480"/>
          </a:xfrm>
          <a:prstGeom prst="roundRect">
            <a:avLst>
              <a:gd name="adj" fmla="val 4000"/>
            </a:avLst>
          </a:prstGeom>
          <a:solidFill>
            <a:srgbClr val="FC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551176"/>
            <a:ext cx="7242048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แหล่งหลักฐานทางเทคนิค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575304"/>
            <a:ext cx="7242048" cy="2039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รหัสโปรแกรมที่ทดสอบ: 5125774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docs/TEST_REPORT.md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docs/evidence/unit-api-results.json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docs/evidence/browser-results.json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docs/evidence/dependency-audit-2026-10-03.json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6153912"/>
            <a:ext cx="7242048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ทำซ้ำ: npm test → npm run build → npm run test:e2e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ต้องใช้สภาพแวดล้อมและตัวแปรตามรายงานทดสอบ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551176"/>
            <a:ext cx="473659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600" b="1">
                <a:solidFill>
                  <a:srgbClr val="19573C"/>
                </a:solidFill>
                <a:latin typeface="Noto Sans"/>
                <a:ea typeface="Noto Sans Thai"/>
                <a:cs typeface="Noto Sans Thai"/>
              </a:rPr>
              <a:t>ข้อมูลที่ยังต้องยืนยัน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3657600"/>
            <a:ext cx="4736592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ชื่อผู้จัดทำและครูที่ปรึกษา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ช่วงพัฒนาระบบ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สถานที่และวิธีเลือกผู้ทดลอง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ผลภารกิจรายบุคคล (ถ้ามี)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0">
                <a:solidFill>
                  <a:srgbClr val="233B30"/>
                </a:solidFill>
                <a:latin typeface="Noto Sans"/>
                <a:ea typeface="Noto Sans Thai"/>
                <a:cs typeface="Noto Sans Thai"/>
              </a:rPr>
              <a:t>การตรวจงานวิจัยต้นฉบับ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7333488"/>
            <a:ext cx="13167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30" b="0">
                <a:solidFill>
                  <a:srgbClr val="637267"/>
                </a:solidFill>
                <a:latin typeface="Noto Sans"/>
                <a:ea typeface="Noto Sans Thai"/>
                <a:cs typeface="Noto Sans Thai"/>
              </a:rPr>
              <a:t>รายงานชุดนี้ใช้หลักฐานเดิม ไม่ได้รันทดสอบระบบหรือเก็บข้อมูลผู้เข้าร่วมใหม่เพื่อจัดทำสไลด์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 — การนำเสนอวิจัย 5 บท</dc:title>
  <dc:subject>ครบหัวข้อตาม PDF ตัวอย่าง; โทนเขียวมินิมอล; แก้ไขต่อและนำเข้า Canva ได้</dc:subject>
  <dc:creator>คณะผู้จัดทำ ReBuild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