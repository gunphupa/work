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โครงงานวิจัย • เว็บแอปพลิเคชันเพื่อการใช้ประโยชน์ในชีวิตประจำวัน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66960" y="0"/>
            <a:ext cx="2057400" cy="7708392"/>
          </a:xfrm>
          <a:prstGeom prst="rect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024360" y="0"/>
            <a:ext cx="2606040" cy="7708392"/>
          </a:xfrm>
          <a:prstGeom prst="rect">
            <a:avLst/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1426464"/>
            <a:ext cx="786384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78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ReBuild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2852928"/>
            <a:ext cx="813816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การพัฒนาเว็บแอปพลิเคชันเพื่อสนับสนุนการวางแผน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และเรียนรู้การสร้างชิ้นงานใช้ประโยชน์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จากวัสดุในครัวเรือน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83480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ของเดิม  •  ประโยชน์ใหม่  •  เรียนรู้จากการลงมือทำ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" y="5806440"/>
            <a:ext cx="7955279" cy="1389888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5568" y="5989320"/>
            <a:ext cx="749807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7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ผู้จัดทำ  [ชื่อ–นามสกุล / ชั้น / เลขที่]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7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อาจารย์ที่ปรึกษา  [ระบุชื่อ]   |   โรงเรียน  [ระบุชื่อ]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7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ปีการศึกษา  [ระบุปี]</a:t>
            </a:r>
          </a:p>
        </p:txBody>
      </p:sp>
      <p:pic>
        <p:nvPicPr>
          <p:cNvPr id="36" name="Picture 35" descr="project-cards.png"/>
          <p:cNvPicPr>
            <a:picLocks noChangeAspect="1"/>
          </p:cNvPicPr>
          <p:nvPr/>
        </p:nvPicPr>
        <p:blipFill>
          <a:blip r:embed="rId2"/>
          <a:srcRect l="17700" r="17700"/>
          <a:stretch>
            <a:fillRect/>
          </a:stretch>
        </p:blipFill>
        <p:spPr>
          <a:xfrm>
            <a:off x="9418320" y="1124712"/>
            <a:ext cx="443484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1  /  บทนำ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ที่มา ความสำคัญ และวัตถุประสงค์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2416" y="2359152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ปัญหาและความสำคัญ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วัสดุในบ้านสามารถนำกลับมาสร้างของใช้ได้ แต่ผู้เริ่มต้นอาจไม่ทราบว่าจะทำอะไร ต้องเตรียมของเท่าใด หรือควรเริ่มจากขั้นตอนไหน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38644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58100" y="2359152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58100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5883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แนวทางของ ReBuild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4675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จัดโครงงานตามประโยชน์ใช้งาน พร้อมรายการวัสดุ คำอธิบาย และภาพรายขั้น โดยเปิดให้อ่านได้แม้ยังมีวัสดุไม่ครบ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2416" y="4905756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วัตถุประสงค์ด้านการพัฒนา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พัฒนาเว็บสำหรับค้นหาโครงงาน ตรวจรายการวัสดุ อ่านคู่มือ และบันทึกแผนงานที่เชื่อมโยงกับชีวิตประจำวันและการศึกษา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38644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658100" y="4905756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58100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5883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วัตถุประสงค์ด้านการประเมิน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4675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ศึกษาความสำเร็จ เวลา และความคิดเห็นจากการใช้งาน เพื่อนำปัญหาและข้อเสนอแนะจริงไปปรับปรุงระบบ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1  /  บทนำ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สมมติฐาน ขอบเขต และประโยชน์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2416" y="2359152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สมมติฐานที่เสนอ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คาดว่าคู่มือที่จัดเป็นลำดับและอ่านได้โดยไม่บังคับเตรียมวัสดุครบ จะช่วยให้ผู้ใช้ทำภารกิจตามเกณฑ์ได้ ต้องตรวจด้วยข้อมูลจริง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38644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58100" y="2359152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58100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5883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ขอบเขตเนื้อหาและระบบ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4675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งานจัดบ้าน ทำความสะอาด ซ่อมของ งานประดิษฐ์ ปลูกต้นไม้ วิทยาศาสตร์ และอิเล็กทรอนิกส์ • คู่มือ คลังวัสดุ แผนงาน และชุมชน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2416" y="4905756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ขอบเขตการศึกษา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ประเมินการทำงานของระบบและการใช้งาน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กลุ่มตัวอย่างจริง [   ] คน ณ [สถานที่]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ช่วงดำเนินงาน [เดือน/ปี] ถึง [เดือน/ปี]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38644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658100" y="4905756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58100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5883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ประโยชน์ที่คาดว่าจะได้รับ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4675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ผู้ใช้มีแนวทางเตรียมงานจากวัสดุในบ้าน ครูและนักเรียนมีสื่อกิจกรรม และผู้พัฒนาได้ข้อมูลเพื่อปรับปรุงต้นแบบ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7168896"/>
            <a:ext cx="126187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3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ต้นแบบมี 37 โครงงาน / 94 ประเภทวัสดุ • ยังไม่สรุปผลการเรียนรู้ การลดขยะ หรือความปลอดภัยของชิ้นงานทุกแบบ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2  /  แนวคิดและเอกสารที่เกี่ยวข้อง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แนวคิดและเอกสารที่เกี่ยวข้อง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2416" y="2359152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แนวคิดที่นำมาใช้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การเลือกวัสดุให้เหมาะกับงาน การเรียนรู้ผ่านกิจกรรม การแบ่งคู่มือเป็นขั้นย่อย และการออกแบบให้ผู้เริ่มต้นเข้าถึงข้อมูลได้ง่าย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38644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58100" y="2359152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58100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5883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ตัวอย่างการนำเสนอคู่มือ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4675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Instructables: ใช้ตัวอย่างที่ได้รับเป็นแนวทางจัดบทนำ วัสดุ ภาพรายขั้น และการแบ่งปันผลงาน ไม่ใช่หลักฐานประสิทธิผลของ ReBuild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2416" y="4905756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แหล่งเนื้อหาโครงงาน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Arduino Documentation และ NASA JPL Education: ใช้อ้างอิงรายการอุปกรณ์ ขั้นตอน และข้อควรตรวจ โดยแยกการอ่านเอกสารจากการสร้างจริง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38644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658100" y="4905756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58100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5883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งานวิจัยเชิงประจักษ์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4675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[เพิ่มผู้วิจัย / ปี / วิธีศึกษา / ผลที่พบ]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[ระบุสิ่งที่นำมาประยุกต์และข้อจำกัด]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เติมเฉพาะงานที่อ่านและตรวจแหล่งที่มาแล้ว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2  /  แนวคิดและเอกสารที่เกี่ยวข้อง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กรอบแนวคิดการวิจัย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05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6112" y="2560320"/>
            <a:ext cx="3950208" cy="3291840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70432" y="2852928"/>
            <a:ext cx="340156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ปัจจัยนำเข้า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" y="3712463"/>
            <a:ext cx="340156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1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ความต้องการผู้เริ่มต้น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1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วัสดุในครัวเรือน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1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เนื้อหาโครงงานและคู่มือ</a:t>
            </a:r>
          </a:p>
        </p:txBody>
      </p:sp>
      <p:sp>
        <p:nvSpPr>
          <p:cNvPr id="32" name="Chevron 31"/>
          <p:cNvSpPr/>
          <p:nvPr/>
        </p:nvSpPr>
        <p:spPr>
          <a:xfrm>
            <a:off x="4946904" y="3703320"/>
            <a:ext cx="310896" cy="594360"/>
          </a:xfrm>
          <a:prstGeom prst="chevron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58383" y="2560320"/>
            <a:ext cx="3950208" cy="3291840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32703" y="2852928"/>
            <a:ext cx="340156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กระบวนการ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32703" y="3712463"/>
            <a:ext cx="340156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1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ค้นหาและเลือกโครงงาน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1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ตรวจวัสดุและอ่านขั้นตอน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1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บันทึกแผนและการทำงาน</a:t>
            </a:r>
          </a:p>
        </p:txBody>
      </p:sp>
      <p:sp>
        <p:nvSpPr>
          <p:cNvPr id="36" name="Chevron 35"/>
          <p:cNvSpPr/>
          <p:nvPr/>
        </p:nvSpPr>
        <p:spPr>
          <a:xfrm>
            <a:off x="9409176" y="3703320"/>
            <a:ext cx="310896" cy="594360"/>
          </a:xfrm>
          <a:prstGeom prst="chevron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820656" y="2560320"/>
            <a:ext cx="3950208" cy="3291840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94976" y="2852928"/>
            <a:ext cx="340156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ผลที่ต้องประเมิน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4976" y="3712463"/>
            <a:ext cx="340156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1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ความสำเร็จของภารกิจ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1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เวลาและความช่วยเหลือ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1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ความคิดเห็นและข้อเสนอแนะ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6217920"/>
            <a:ext cx="12801600" cy="786384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5568" y="6382512"/>
            <a:ext cx="12390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800" b="0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วัด: ความสำเร็จ เวลา ความช่วยเหลือ และความคิดเห็น  |  ควบคุม: โจทย์ ภาษา รุ่นเว็บ และเงื่อนไขเริ่มต้น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7168896"/>
            <a:ext cx="126187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3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เป็นกรอบการประเมินการใช้งาน • หากต้องการเปรียบเทียบวิธีอื่น ต้องกำหนดตัวแปรต้นและแผนทดลองเพิ่มเติมก่อนเก็บข้อมูล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  /  วิธีดำเนินการวิจัย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การพัฒนาและองค์ประกอบของต้นแบบ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06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home-hero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4400" y="2194560"/>
            <a:ext cx="7315200" cy="4572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86800" y="2240280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ศึกษาและออกแบบ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798064"/>
            <a:ext cx="498348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รวบรวมความต้องการ จัดหมวดงาน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และออกแบบลำดับการใช้งาน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3703320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พัฒนาและตรวจระบบ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261104"/>
            <a:ext cx="498348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เว็บ คู่มือ คลังวัสดุ แผนงาน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บัญชีผู้ใช้ และการอนุมัติชุมชน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166360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ทดลองใช้และปรับปรุง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5724144"/>
            <a:ext cx="498348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นำร่อง ปรับเครื่องมือวิจัย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แล้วตรึงรุ่นก่อนเก็บข้อมูลจริง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7168896"/>
            <a:ext cx="126187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3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เว็บ: React/TypeScript • เซิร์ฟเวอร์: Node.js • บัญชีและชุมชน: Supabase • วัสดุและแผนส่วนตัว: เบราว์เซอร์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  /  วิธีดำเนินการวิจัย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ประชากร กลุ่มตัวอย่าง และเครื่องมือ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07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2416" y="2359152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ประชากรและการคัดเลือก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ผู้เริ่มต้นที่สนใจงานจากวัสดุในบ้าน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กลุ่มเก็บจริง [ระบุ] จำนวน [   ] คน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วิธีคัดเลือก [ระบุวิธีที่ใช้จริง]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38644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58100" y="2359152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58100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5883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เครื่องมือเก็บข้อมูล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4675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ต้นแบบ ReBuild • โจทย์ 4 ภารกิจ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แบบบันทึกเวลา/ความสำเร็จ/ปัญหา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แบบสอบถาม 8 ข้อ และคำถามปลายเปิด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2416" y="4905756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การตรวจคุณภาพเครื่องมือ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ให้อาจารย์หรือผู้ตรวจทบทวนโจทย์และเกณฑ์คะแนน ทดลองนำร่องแล้วปรับก่อนเก็บจริง แบบสอบถามเป็นเครื่องมือที่ผู้วิจัยสร้างเอง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38644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658100" y="4905756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58100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5883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สิทธิและการควบคุมเงื่อนไข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4675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ขอความยินยอม ใช้รหัสแทนชื่อ และถอนตัวได้ แยกข้อมูลนำร่อง ใช้โจทย์ ภาษา และคำแนะนำเหมือนกันทุกคน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  /  วิธีดำเนินการวิจัย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ภารกิจและการเก็บรวบรวมข้อมูล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08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41248" y="2057400"/>
          <a:ext cx="12893040" cy="3877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5212080"/>
                <a:gridCol w="4846320"/>
              </a:tblGrid>
              <a:tr h="775411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"/>
                        </a:rPr>
                        <a:t>ภารกิจ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"/>
                        </a:rPr>
                        <a:t>สิ่งที่ผู้เข้าร่วมทำ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"/>
                        </a:rPr>
                        <a:t>เกณฑ์ที่สังเกต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</a:tr>
              <a:tr h="775411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T1 ค้นหาและอ่าน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หาคู่มือช่องแบ่งลิ้นชักจากหน้าแรก โดยคลังยังว่าง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เปิดคู่มือเป้าหมายและอ่านถึงขั้นสุดท้าย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</a:tr>
              <a:tr h="775411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T2 ตรวจวัสดุ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เทียบวัสดุที่กำหนดกับรายการในคู่มือ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ระบุสิ่งที่ขาดและจำนวนได้ครบ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</a:tr>
              <a:tr h="775411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T3 อธิบายขั้นตอน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อธิบายร่องประกบ การตรวจท้ายงาน และข้อจำกัด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คำตอบครบและมีความหมายตรงกับคู่มือ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</a:tr>
              <a:tr h="775412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T4 บันทึกแผน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บันทึกหมายเหตุ รีเฟรช และเปิดแผนเดิม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พบแผนและข้อความเดิมหลังรีเฟรช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868680" y="6812280"/>
            <a:ext cx="126187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3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ลำดับ: ชี้แจงและยินยอม → ทำ T1–T4 พร้อมจับเวลา → ตอบแบบสอบถาม → ตรวจความครบถ้วนของข้อมูล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  /  วิธีดำเนินการวิจัย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การวิเคราะห์ข้อมูลและสถิติที่ใช้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09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41248" y="2057400"/>
          <a:ext cx="12893040" cy="3877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4389120"/>
                <a:gridCol w="5120640"/>
              </a:tblGrid>
              <a:tr h="775411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"/>
                        </a:rPr>
                        <a:t>ข้อมูล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"/>
                        </a:rPr>
                        <a:t>วิธีสรุป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"/>
                        </a:rPr>
                        <a:t>เงื่อนไข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</a:tr>
              <a:tr h="775411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2000" b="0">
                          <a:solidFill>
                            <a:srgbClr val="23352C"/>
                          </a:solidFill>
                          <a:latin typeface="Noto Sans"/>
                        </a:rPr>
                        <a:t>ความสำเร็จ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2000" b="0">
                          <a:solidFill>
                            <a:srgbClr val="23352C"/>
                          </a:solidFill>
                          <a:latin typeface="Noto Sans"/>
                        </a:rPr>
                        <a:t>จำนวนและร้อยละ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2000" b="0">
                          <a:solidFill>
                            <a:srgbClr val="23352C"/>
                          </a:solidFill>
                          <a:latin typeface="Noto Sans"/>
                        </a:rPr>
                        <a:t>แยกสำเร็จเอง / สำเร็จเมื่อช่วย / ไม่สำเร็จ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</a:tr>
              <a:tr h="775411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2000" b="0">
                          <a:solidFill>
                            <a:srgbClr val="23352C"/>
                          </a:solidFill>
                          <a:latin typeface="Noto Sans"/>
                        </a:rPr>
                        <a:t>เวลาในการทำงาน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2000" b="0">
                          <a:solidFill>
                            <a:srgbClr val="23352C"/>
                          </a:solidFill>
                          <a:latin typeface="Noto Sans"/>
                        </a:rPr>
                        <a:t>ค่าเฉลี่ยหรือมัธยฐาน หน่วยวินาที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2000" b="0">
                          <a:solidFill>
                            <a:srgbClr val="23352C"/>
                          </a:solidFill>
                          <a:latin typeface="Noto Sans"/>
                        </a:rPr>
                        <a:t>ระบุจำนวนที่ใช้คำนวณและผู้ที่หมดเวลา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</a:tr>
              <a:tr h="775411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2000" b="0">
                          <a:solidFill>
                            <a:srgbClr val="23352C"/>
                          </a:solidFill>
                          <a:latin typeface="Noto Sans"/>
                        </a:rPr>
                        <a:t>แบบสอบถาม 1–5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2000" b="0">
                          <a:solidFill>
                            <a:srgbClr val="23352C"/>
                          </a:solidFill>
                          <a:latin typeface="Noto Sans"/>
                        </a:rPr>
                        <a:t>ความถี่ ค่าเฉลี่ย และ SD รายข้อ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2000" b="0">
                          <a:solidFill>
                            <a:srgbClr val="23352C"/>
                          </a:solidFill>
                          <a:latin typeface="Noto Sans"/>
                        </a:rPr>
                        <a:t>ใช้คำตอบจริง ข้อที่เว้นว่างไม่แทนด้วยศูนย์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</a:tr>
              <a:tr h="775412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2000" b="0">
                          <a:solidFill>
                            <a:srgbClr val="23352C"/>
                          </a:solidFill>
                          <a:latin typeface="Noto Sans"/>
                        </a:rPr>
                        <a:t>ความคิดเห็นปลายเปิด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2000" b="0">
                          <a:solidFill>
                            <a:srgbClr val="23352C"/>
                          </a:solidFill>
                          <a:latin typeface="Noto Sans"/>
                        </a:rPr>
                        <a:t>จัดกลุ่มประเด็นและนับผู้กล่าวถึง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2000" b="0">
                          <a:solidFill>
                            <a:srgbClr val="23352C"/>
                          </a:solidFill>
                          <a:latin typeface="Noto Sans"/>
                        </a:rPr>
                        <a:t>อ้างอิงจากคำตอบและบันทึกจริง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868680" y="6784848"/>
            <a:ext cx="126187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3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อัตราสำเร็จเอง = จำนวนผู้ทำสำเร็จเอง ÷ จำนวนผู้ทดลองภารกิจนั้น × 100 • ไม่ใช้จำนวนกรณีทดสอบซอฟต์แวร์เป็นจำนวนคน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4  /  ผลการวิจัย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ข้อมูลกลุ่มตัวอย่างและผลการทำภารกิจ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12710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กลุ่มผู้ใช้ [ระบุ] • เก็บจริง [   ] คน • อุปกรณ์ [ระบุ] • วันที่/รุ่นเว็บ [ระบุ]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10</a:t>
            </a:r>
          </a:p>
        </p:txBody>
      </p:sp>
      <p:sp>
        <p:nvSpPr>
          <p:cNvPr id="10" name="Oval 9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841248" y="2377440"/>
          <a:ext cx="12893039" cy="3877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2011680"/>
                <a:gridCol w="2560320"/>
                <a:gridCol w="2651760"/>
                <a:gridCol w="1920240"/>
              </a:tblGrid>
              <a:tr h="775411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"/>
                        </a:rPr>
                        <a:t>ภารกิจ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"/>
                        </a:rPr>
                        <a:t>ทดลองจริง</a:t>
                      </a:r>
                    </a:p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"/>
                        </a:rPr>
                        <a:t>(คน)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"/>
                        </a:rPr>
                        <a:t>สำเร็จเอง</a:t>
                      </a:r>
                    </a:p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"/>
                        </a:rPr>
                        <a:t>(คน / %)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"/>
                        </a:rPr>
                        <a:t>สำเร็จเมื่อช่วย</a:t>
                      </a:r>
                    </a:p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"/>
                        </a:rPr>
                        <a:t>(คน)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"/>
                        </a:rPr>
                        <a:t>เวลา</a:t>
                      </a:r>
                    </a:p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"/>
                        </a:rPr>
                        <a:t>(วินาที)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</a:tr>
              <a:tr h="775411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T1 ค้นหาและอ่านคู่มือ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 / [   ]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</a:tr>
              <a:tr h="775411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T2 ระบุวัสดุที่ขาด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 / [   ]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</a:tr>
              <a:tr h="775411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T3 อธิบายขั้นตอน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 / [   ]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</a:tr>
              <a:tr h="775412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T4 บันทึกและเปิดแผน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 / [   ]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868680" y="7168896"/>
            <a:ext cx="126187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3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รอกรอกผลจริง • ระบุจำนวนผู้ไม่สำเร็จ/ถอนตัว และเหตุการณ์ขัดข้องประกอบ • ช่องว่างไม่ใช่ผลเท่ากับศูนย์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4  /  ผลการวิจัย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ผลความคิดเห็นและข้อค้นพบสำคัญ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12710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รอกรอกผลแบบสอบถามจริง • รายงานรายข้อในเอกสารประกอบ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11</a:t>
            </a:r>
          </a:p>
        </p:txBody>
      </p:sp>
      <p:sp>
        <p:nvSpPr>
          <p:cNvPr id="10" name="Oval 9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841248" y="2377440"/>
          <a:ext cx="128930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1828800"/>
                <a:gridCol w="2468880"/>
                <a:gridCol w="2011680"/>
                <a:gridCol w="1920240"/>
              </a:tblGrid>
              <a:tr h="75438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"/>
                        </a:rPr>
                        <a:t>ประเด็นประเมิน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"/>
                        </a:rPr>
                        <a:t>ข้อคำถาม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"/>
                        </a:rPr>
                        <a:t>ผู้ตอบ (คน)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"/>
                        </a:rPr>
                        <a:t>ค่าเฉลี่ย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"/>
                        </a:rPr>
                        <a:t>SD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การเริ่มใช้งานและค้นหา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Q1–Q2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วัสดุและสิ่งที่ขาด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Q3–Q4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คำอธิบายและภาพ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Q5–Q6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การบันทึกและกลับมาดู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Q7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ความพึงพอใจโดยรวม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Q8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00" b="0">
                          <a:solidFill>
                            <a:srgbClr val="23352C"/>
                          </a:solidFill>
                          <a:latin typeface="Noto Sans"/>
                        </a:rPr>
                        <a:t>[   ]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868680" y="7168896"/>
            <a:ext cx="126187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3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ข้อค้นพบ: [จุดที่ทำได้ดี] / [ปัญหาที่พบ] / [ข้อเสนอแนะ] • ไม่ใช้ความคิดเห็นหรือคะแนนดาวจำลองเป็นข้อมูลวิจัย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5  /  สรุป อภิปรายผล และข้อเสนอแนะ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สรุปผลและอภิปรายผลการวิจัย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12710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เว้นไว้เติมหลังวิเคราะห์ผล • ยังไม่สรุปว่าสมมติฐานได้รับการยืนยัน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12</a:t>
            </a:r>
          </a:p>
        </p:txBody>
      </p:sp>
      <p:sp>
        <p:nvSpPr>
          <p:cNvPr id="10" name="Oval 9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2468880"/>
            <a:ext cx="6323076" cy="2093975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2416" y="2679192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2416" y="274320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267004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สรุปตามวัตถุประสงค์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" y="3383280"/>
            <a:ext cx="5811012" cy="10881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[เติมผลด้านการพัฒนาระบบและการทำภารกิจ พร้อมจำนวนผู้เข้าร่วมและเงื่อนไขที่ใช้ศึกษา]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38644" y="2468880"/>
            <a:ext cx="6323076" cy="2093975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58100" y="2679192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58100" y="274320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5883" y="267004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สรุปความคิดเห็นของผู้ใช้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4675" y="3383280"/>
            <a:ext cx="5811012" cy="10881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[เติมคะแนนและประเด็นสำคัญจากคำตอบจริง ระบุหลักฐานที่รองรับข้อสรุป]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4855464"/>
            <a:ext cx="6323076" cy="2093975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42416" y="5065776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2416" y="5129783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0200" y="5056631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อภิปรายความสอดคล้อง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" y="5769864"/>
            <a:ext cx="5811012" cy="10881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[เชื่อมผลที่พบกับแนวคิดและงานวิจัยที่อ่านจริง อธิบายบริบทที่เหมือนหรือแตกต่าง]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38644" y="4855464"/>
            <a:ext cx="6323076" cy="2093975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658100" y="5065776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58100" y="5129783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5883" y="5056631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อภิปรายสิ่งที่ไม่เป็นไปตามคาด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4675" y="5769864"/>
            <a:ext cx="5811012" cy="10881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[อธิบายปัญหาและปัจจัยที่อาจเกี่ยวข้อง แยกข้อสังเกตจากการคาดเดา และระบุขอบเขตการสรุป]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5  /  สรุป อภิปรายผล และข้อเสนอแนะ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ข้อจำกัดและข้อเสนอแนะ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13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2416" y="2359152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ข้อจำกัดของต้นแบบ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วัสดุและแผนยังไม่ซิงก์ข้ามเครื่อง คู่มือมีขอบเขตจำกัด ภาพเป็นแผนภาพ และยังไม่ได้ทดสอบสร้างจริงทุกโครงงาน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38644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58100" y="2359152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58100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5883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ข้อจำกัดของการศึกษา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4675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ผลต้องตีความตามกลุ่มตัวอย่าง อุปกรณ์ และประสบการณ์ผู้ใช้ การใช้งานสำเร็จไม่เท่ากับพิสูจน์การเรียนรู้หรือการลดขยะ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2416" y="4905756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ข้อเสนอแนะเชิงปฏิบัติ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[เติมลำดับปัญหาที่ควรแก้จากผลจริง]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พิจารณาปรับคำอธิบาย ภาพเฉพาะขั้น และตัวอย่างขนาดตามความต้องการที่พบ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38644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658100" y="4905756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58100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5883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แนวทางวิจัยต่อไป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4675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ศึกษากับผู้ใช้หลากหลาย ทดสอบชิ้นงานจริง และใช้แบบวัดก่อน–หลังที่ตรวจคุณภาพแล้วหากต้องการประเมินผลการเรียนรู้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เอกสารอ้างอิงและแหล่งข้อมูล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14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2057400"/>
            <a:ext cx="12710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ReBuild — ระบบและเอกสารการพัฒนา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496312"/>
            <a:ext cx="126187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https://github.com/gunphupa/work • README, CONTENT, ARCHITECTURE และชุดวิจัย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008376"/>
            <a:ext cx="12710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Arduino — Built-in Examples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447288"/>
            <a:ext cx="126187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https://docs.arduino.cc/built-in-examples/ • ตรวจเนื้อหาจากคลังเอกสารทางการของโครงงาน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959352"/>
            <a:ext cx="12710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NASA JPL Education — Make a Straw Rocket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398264"/>
            <a:ext cx="126187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https://www.jpl.nasa.gov/edu/resources/project/make-a-straw-rocket/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910328"/>
            <a:ext cx="12710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Mohammed Nihal — ตัวอย่างบทความบน Instructables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349240"/>
            <a:ext cx="126187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Build Your Own Automatic Watch Winder With Arduino Nano • ใช้ภาพและข้อความที่ผู้ใช้ส่งเป็นแนวทางจัดคู่มือ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861304"/>
            <a:ext cx="12710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เอกสารวิชาการที่เกี่ยวข้อง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6300216"/>
            <a:ext cx="126187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[เพิ่มชื่อผู้แต่ง ปี ชื่อเรื่อง และแหล่งเผยแพร่ หลังตรวจเอกสารจริง]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REBUILD • 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ขอบคุณครับ / ค่ะ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15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01200" y="0"/>
            <a:ext cx="5029200" cy="7708392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78440" y="1051560"/>
            <a:ext cx="3383280" cy="338328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0" y="2231136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35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ReBuild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2560320"/>
            <a:ext cx="832104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4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ของเดิม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4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ประโยชน์ใหม่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4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เรียนรู้ได้ทุกวัน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925312"/>
            <a:ext cx="80467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5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เปิดรับคำถามและข้อเสนอแนะ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355080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6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work-c3to.onrender.com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