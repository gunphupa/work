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โครงงานวิจัย • เว็บแอปพลิเคชันเพื่อการใช้ประโยชน์ในชีวิตประจำวัน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0"/>
            <a:ext cx="2057400" cy="7708392"/>
          </a:xfrm>
          <a:prstGeom prst="rect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24360" y="0"/>
            <a:ext cx="2606040" cy="7708392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1426464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7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852928"/>
            <a:ext cx="81381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การพัฒนาเว็บแอปพลิเคชันเพื่อสนับสนุนการวางแผน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และเรียนรู้การสร้างชิ้นงานใช้ประโยชน์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จากวัสดุในครัวเรือน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ของเดิม  •  ประโยชน์ใหม่  •  เรียนรู้จากการลงมือทำ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" y="5806440"/>
            <a:ext cx="7955279" cy="1389888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598932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ผู้จัดทำ  [ชื่อ–นามสกุล / ชั้น / เลขที่]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อาจารย์ที่ปรึกษา  [ระบุชื่อ]   |   โรงเรียน  [ระบุชื่อ]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ปีการศึกษา  [ระบุปี]</a:t>
            </a:r>
          </a:p>
        </p:txBody>
      </p:sp>
      <p:pic>
        <p:nvPicPr>
          <p:cNvPr id="36" name="Picture 35" descr="project-cards.png"/>
          <p:cNvPicPr>
            <a:picLocks noChangeAspect="1"/>
          </p:cNvPicPr>
          <p:nvPr/>
        </p:nvPicPr>
        <p:blipFill>
          <a:blip r:embed="rId2"/>
          <a:srcRect l="17700" r="17700"/>
          <a:stretch>
            <a:fillRect/>
          </a:stretch>
        </p:blipFill>
        <p:spPr>
          <a:xfrm>
            <a:off x="9418320" y="1124712"/>
            <a:ext cx="44348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 /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ที่มาและความสำคัญของโครงงาน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ปัญหาที่ต้องการแก้ไข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วัสดุในบ้าน เช่น กระดาษ กล่อง แกนกระดาษ และผ้าเก่า ยังนำมาทำของใช้ได้ แต่ผู้เริ่มต้นอาจไม่ทราบว่าจะเริ่มจากงานใดและต้องเตรียมอะไร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ข้อจำกัดของการเริ่มทำงาน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คำแนะนำที่กระจัดกระจายหรือไม่มีรายการวัสดุชัดเจน ทำให้วางแผนยาก จึงต้องการคู่มือที่เลือกอ่านและติดตามได้เป็นลำดับ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แนวทางของ ReBuild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จัดโครงงานตามประโยชน์ใช้งาน พร้อมวัสดุ คำอธิบาย ภาพประกอบ และการบันทึกแผน โดยเปิดอ่านได้แม้วัสดุยังไม่ครบ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ความสำคัญต่อการศึกษา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เชื่อมงานในชีวิตประจำวันกับการวางแผน ตรวจวัสดุ และสังเกตผล เป็นสื่อประกอบกิจกรรม ไม่ใช่หลักฐานว่าผลการเรียนรู้เพิ่มขึ้นแล้ว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 /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วัตถุประสงค์และสมมติฐานการวิจัย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พัฒนาเว็บสำหรับค้นหาโครงงานจากวัสดุในครัวเรือน อ่านคำแนะนำ และบันทึกแผนงานที่ใช้ได้ในชีวิตประจำวันและการศึกษา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ตรวจสอบการทำงาน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ตรวจฟังก์ชัน กฎข้อมูล API ฐานข้อมูล และเส้นทางใช้งานผ่านเบราว์เซอร์ภายใต้กรณีทดสอบที่กำหนด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รวบรวมความคิดเห็น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สรุปคะแนนและข้อความรีวิวที่เผยแพร่บนเว็บไซต์ เพื่อหาแนวทางปรับปรุงคำแนะนำ ภาพประกอบ และการใช้งาน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สมมติฐานเชิงพัฒนา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คาดว่าคู่มือเป็นลำดับจะช่วยให้ผู้ใช้วางแผนได้สะดวกขึ้น ข้อมูลครั้งนี้ประเมินระบบและข้อคิดเห็น ยังไม่ยืนยันผลเชิงเหตุและผลหรือความเร็วที่เพิ่มขึ้น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 /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ขอบเขตและประโยชน์ที่คาดว่าจะได้รับ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เนื้อหาและกลุ่มงาน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37 โครงงาน • 94 ประเภทวัสดุ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จัดบ้าน ทำความสะอาด ซ่อมของ งานประดิษฐ์ ปลูกต้นไม้ วิทยาศาสตร์ และอิเล็กทรอนิกส์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ขอบเขตการใช้งาน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เว็บภาษาไทย/อังกฤษ ค้นหาโครงงาน คลังวัสดุ คู่มือ บันทึกแผน บัญชี และรีวิวที่ต้องอนุมัติก่อนเผยแพร่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ขอบเขตข้อมูลที่นำเสนอ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ข้อมูลวันที่ 3 ตุลาคม 2569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ผู้จัดทำแจ้งผู้ทดลอง 20 คน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วิเคราะห์รีวิวที่เผยแพร่ 21 รายการ และผลทดสอบซอฟต์แวร์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ประโยชน์ที่คาดหวัง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ผู้ใช้เลือกเตรียมงานได้เป็นระบบ ครูและนักเรียนมีสื่อกิจกรรม และผู้พัฒนามีประเด็นสำหรับปรับปรุงต้นแบบ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 /  แนวคิดและเอกสารที่เกี่ยวข้อง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แนวคิดหลักที่ใช้ในการออกแบบ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การนำวัสดุกลับมาใช้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พิจารณาสภาพ ขนาด และคุณสมบัติของวัสดุให้เหมาะกับงาน พร้อมข้อจำกัดก่อนลงมือ ไม่ตัดสินจากชื่อวัสดุเพียงอย่างเดียว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การเรียนรู้ผ่านกิจกรรม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เชื่อมเป้าหมายกับการวางแผน เตรียมของ ทำตามขั้น และตรวจสิ่งที่สังเกตได้ แนวคิดนี้ใช้ในการออกแบบคู่มือ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คู่มือแบบเป็นลำดับ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แบ่งงานเป็นขั้นย่อย มีคำอธิบาย ภาพ และจุดตรวจ เพื่อให้ผู้ใช้ติดตาม ย้อนอ่าน และกลับมาทำต่อได้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การออกแบบเพื่อผู้เริ่มต้น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เริ่มจากประโยชน์ที่อยากได้ ใช้หมวดหมู่เข้าใจง่าย และไม่บังคับให้กรอกวัสดุครบก่อนเข้าถึงเนื้อหา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 /  แนวคิดและเอกสารที่เกี่ยวข้อง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เอกสารและตัวอย่างระบบที่เกี่ยวข้อง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41248" y="2057400"/>
          <a:ext cx="12893040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92040"/>
                <a:gridCol w="4983480"/>
              </a:tblGrid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แหล่งข้อมูล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สิ่งที่นำมาใช้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ขอบเขตหลักฐาน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Instructables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ตัวอย่างที่ได้รับ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รูปแบบบทนำ วัสดุ ภาพรายขั้น และพื้นที่แบ่งปันผลงาน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เป็นตัวอย่างการนำเสนอ ไม่ใช่ผลวิจัยของ ReBuild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Arduino Documentation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อุปกรณ์ วงจร และขั้นตอนโครงงานอิเล็กทรอนิกส์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ตรวจเนื้อหาจากเอกสาร ไม่เท่ากับทดลองวงจรจริง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NASA JPL Education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กิจกรรม Make a Straw Rocket และแนวทางสังเกตผล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แหล่งคู่มือกิจกรรมที่ระบุที่มา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ReBuild / เอกสารโครงการ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ข้อมูลวัสดุ คู่มือ สถาปัตยกรรม และรายงานทดสอบ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หลักฐานการพัฒนาซอฟต์แวร์รุ่นที่ตรวจ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บทนี้สังเคราะห์แนวคิดและเอกสารพัฒนา • ยังไม่มีการทบทวนงานวิจัยเชิงประจักษ์เพียงพอสำหรับอ้างผลเปรียบเทียบ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 /  แนวคิดและเอกสารที่เกี่ยวข้อง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กรอบแนวคิดและนิยามการประเมิน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วัสดุและข้อมูลโครงงาน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แนวทางจัดคู่มือ</a:t>
            </a:r>
          </a:p>
        </p:txBody>
      </p:sp>
      <p:sp>
        <p:nvSpPr>
          <p:cNvPr id="32" name="Chevron 31"/>
          <p:cNvSpPr/>
          <p:nvPr/>
        </p:nvSpPr>
        <p:spPr>
          <a:xfrm>
            <a:off x="4946904" y="3703320"/>
            <a:ext cx="310896" cy="594360"/>
          </a:xfrm>
          <a:prstGeom prst="chevron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58383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32703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2703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พัฒนาเว็บและตรวจระบบ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เปิดให้ทดลองใช้งาน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รวบรวมรีวิวที่เผยแพร่</a:t>
            </a:r>
          </a:p>
        </p:txBody>
      </p:sp>
      <p:sp>
        <p:nvSpPr>
          <p:cNvPr id="36" name="Chevron 35"/>
          <p:cNvSpPr/>
          <p:nvPr/>
        </p:nvSpPr>
        <p:spPr>
          <a:xfrm>
            <a:off x="9409176" y="3703320"/>
            <a:ext cx="310896" cy="594360"/>
          </a:xfrm>
          <a:prstGeom prst="chevron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20656" y="2560320"/>
            <a:ext cx="3950208" cy="3291840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94976" y="2852928"/>
            <a:ext cx="340156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ข้อมูลผลลัพธ์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3712463"/>
            <a:ext cx="34015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ผลผ่าน/ไม่ผ่านของซอฟต์แวร์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คะแนนดาวและข้อความรีวิว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ประเด็นปรับปรุงต้นแบบ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6291072"/>
            <a:ext cx="12801600" cy="713232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" y="6437376"/>
            <a:ext cx="12390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700" b="0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หน่วยวิเคราะห์: กรณีทดสอบซอฟต์แวร์ / รายการรีวิว • คะแนนดาวไม่ใช่คะแนนการเรียนรู้หรือแบบสอบถามมาตรฐาน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การพัฒนาและองค์ประกอบของระบบ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ome-her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2194560"/>
            <a:ext cx="7315200" cy="4572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22402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ออกแบบเนื้อหาและเส้นทาง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79806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จัดหมวดงาน รายการวัสดุ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และขั้นตอนที่เปิดอ่านได้ทันที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0332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6110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React/TypeScript + Node.js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Supabase สำหรับบัญชีและชุมชน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16636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ตรวจและปรับปรุง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724144"/>
            <a:ext cx="498348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ทดสอบฟังก์ชันและเบราว์เซอร์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ใช้ข้อคิดเห็นระบุประเด็นพัฒนาต่อ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ให้บริการผ่าน Render • วัสดุและแผนส่วนตัวเก็บในเบราว์เซอร์ • การเข้าสู่ระบบยังไม่ทำให้แผนซิงก์ข้ามเครื่อง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ผู้ทดลองและแหล่งข้อมูลที่ใช้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กลุ่มเป้าหมาย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ผู้เริ่มต้นที่สนใจงานใช้ประโยชน์จากวัสดุในบ้านและกิจกรรมการเรียนรู้ ผู้จัดทำรายงานว่ามีผู้ทดลองใช้งานจริง 20 คน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ชุดรีวิวที่ตรวจได้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พบรีวิวเผยแพร่ 21 รายการ แบ่งเป็นรีวิวเว็บไซต์ 19 รายการ และรีวิวโครงงาน 2 รายการ ไม่ใช้จำนวนรีวิวแทนจำนวนคนที่ไม่ซ้ำกัน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วันที่และช่วงเวลาของข้อมูล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วันที่ 3 ตุลาคม 2569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เวลาโพสต์ที่พบ: 18:41–22:30 น.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เวลาประเทศไทย เป็นเวลาโพสต์ ไม่ใช่เวลาทำภารกิจ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ขอบเขตการคัดเลือก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วิเคราะห์เฉพาะรีวิวที่ผ่านการอนุมัติและเผยแพร่ ณ จุดตรวจ ไม่ครอบคลุมผู้ไม่โพสต์หรือข้อความที่ยังไม่เผยแพร่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เครื่องมือและการเก็บรวบรวมข้อมูล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การตรวจซอฟต์แวร์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Vitest สำหรับกฎข้อมูล/API/SQL และ Playwright สำหรับเส้นทางใช้เว็บ ร่วมกับ axe และ npm audit บันทึกผลจากตัวรันจริง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การรวบรวมรีวิว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อ่านข้อมูลสาธารณะจากหน้ารีวิวเว็บไซต์และทั้ง 37 โครงงาน เก็บประเภทรีวิว คะแนน เนื้อหา และเวลาโพสต์เพื่อตรวจยอดรวม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การตรวจความถูกต้อง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ตรวจว่าอ่านครบทุกหน้าของรายการ แยกเว็บไซต์กับโครงงาน คำนวณจำนวนและคะแนนซ้ำจากข้อมูล และอ้างรุ่นซอฟต์แวร์ที่ทดสอบ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ข้อมูลที่ยังไม่ได้บันทึก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ยังไม่มีบันทึกเวลาและผลสำเร็จรายคนในการค้นหาโครงงาน ระบุวัสดุที่ขาด อธิบายขั้นตอน และบันทึก/เปิดแผน จึงยังคำนวณผลภารกิจไม่ได้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 /  วิธีดำเนินการวิจัย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วิธีวิเคราะห์ข้อมูลและสถิติที่ใช้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41248" y="2057400"/>
          <a:ext cx="12893040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846320"/>
                <a:gridCol w="5257800"/>
              </a:tblGrid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ข้อมูล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วิธีสรุป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</a:rPr>
                        <a:t>เงื่อนไขการตีความ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ผลทดสอบซอฟต์แวร์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จำนวนกรณีผ่าน ไม่ผ่าน และข้ามการทดสอบ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ผลตามกรณีและสภาพแวดล้อมที่ตรวจ ไม่ใช่จำนวนผู้เข้าร่วม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คะแนนรีวิว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ความถี่ ร้อยละ ค่าเฉลี่ย และ SD ของรายการ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แยกประเภทก่อนสรุปรวม ไม่ใช่คะแนนความพึงพอใจจากเครื่องมือมาตรฐาน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75411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ข้อความรีวิว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จัดเป็นประเด็นด้านการใช้งาน เนื้อหา ภาพ และข้อเสนอแนะ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เป็นการอ่านสรุปประเด็น ยังไม่ได้ตรวจความสอดคล้องระหว่างผู้จัดหมวด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754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ตัวแปรและข้อเปรียบเทียบ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ใช้การพรรณนาผลที่มี ไม่ทดสอบ t-test หรือ ANOVA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23352C"/>
                          </a:solidFill>
                          <a:latin typeface="Noto Sans"/>
                        </a:rPr>
                        <a:t>ไม่มีการแบ่งกลุ่มควบคุมหรือข้อมูลก่อน–หลังสำหรับสรุปเหตุและผล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ค่าเฉลี่ยรวม = ผลรวมคะแนน ÷ จำนวนรีวิว • SD คำนวณแบบตัวอย่างด้วยตัวหาร n−1 • คงรีวิวทุกคะแนนในยอดรวม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ผลทดสอบการทำงานของซอฟต์แวร์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ผลจริงวันที่ 3 ตุลาคม 2569 • รุ่นซอฟต์แวร์ 5125774 • ไม่ใช่ผลการทดลองกับมนุษย์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2514600"/>
            <a:ext cx="6172200" cy="4224528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2761488"/>
            <a:ext cx="5532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5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99 / 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67328"/>
            <a:ext cx="55321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ฟังก์ชัน • API • ฐานข้อมูล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62856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61 กฎข้อมูลและแค็ตตาล็อก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10 กรณี AI/API แบบจำลอง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17 ชุมชน/API + 5 SQL ชุมชน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6 SQL โควตาการโพสต์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2514600"/>
            <a:ext cx="6172200" cy="4224528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19" y="2761488"/>
            <a:ext cx="5532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5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51 / 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3767328"/>
            <a:ext cx="553212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การใช้งานผ่านเบราว์เซอร์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4562856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Chromium ผ่าน Playwright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หน้าจอ 1440 / 768 / 360 พิกเซล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ทดสอบค้นหา คู่มือ บันทึกข้อมูล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และสถานะบัญชี/ชุมชนด้วยข้อมูลทดสอบ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ทั้งสองชุด: ไม่ผ่าน 0 / ข้าม 0 • ข้อมูลบัญชีและผู้ให้บริการในชุดอัตโนมัติเป็นข้อมูลทดสอบ ไม่ใช่การทดสอบ OAuth จริงทั้งหมด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ผลตรวจคุณภาพและขอบเขตของหลักฐาน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41248" y="2057400"/>
          <a:ext cx="12893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617720"/>
                <a:gridCol w="4892040"/>
              </a:tblGrid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</a:rPr>
                        <a:t>รายการ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</a:rPr>
                        <a:t>ผลที่ตรวจพบ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</a:rPr>
                        <a:t>ข้อจำกัด</a:t>
                      </a:r>
                    </a:p>
                  </a:txBody>
                  <a:tcPr marL="146304" marR="146304" marT="109728" marB="73152" anchor="ctr">
                    <a:solidFill>
                      <a:srgbClr val="1957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การเข้าถึงด้วย axe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75 การสแกน ไม่พบข้อผิดพลาดตามกฎที่ใช้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ไม่ใช่การรับรอง WCAG ครบทุกข้อ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Dependency audit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0 ช่องโหว่ที่ฐานข้อมูลรายงาน ณ วันที่ตรวจ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ไม่ใช่การรับรองว่าระบบไม่มีช่องโหว่ทุกประเภท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TypeScript / build / lint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ผ่านสำหรับรุ่นที่ทดสอบ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มีคำเตือนขนาดไฟล์ฝั่งผู้ใช้ซึ่งไม่ทำให้ build ล้มเหลว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ความคงอยู่ของโควตา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ค่าคงอยู่เมื่อปิดและเปิดฐานข้อมูล PGlite ใหม่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เป็นการตรวจฐานข้อมูลในเครื่อง ไม่ใช่หลักฐานรีสตาร์ต Render จริง</a:t>
                      </a:r>
                    </a:p>
                  </a:txBody>
                  <a:tcPr marL="146304" marR="146304" marT="109728" marB="73152" anchor="ctr">
                    <a:solidFill>
                      <a:srgbClr val="FCFC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บัญชีและการอนุมัติ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ผู้จัดทำรายงานว่าล็อกอิน อนุมัติ และลบรีวิวได้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00" b="0">
                          <a:solidFill>
                            <a:srgbClr val="23352C"/>
                          </a:solidFill>
                          <a:latin typeface="Noto Sans"/>
                        </a:rPr>
                        <a:t>แยกการรายงานการลองใช้จริงจากชุดทดสอบอัตโนมัติ</a:t>
                      </a:r>
                    </a:p>
                  </a:txBody>
                  <a:tcPr marL="146304" marR="146304" marT="109728" marB="73152" anchor="ctr">
                    <a:solidFill>
                      <a:srgbClr val="EFF3E9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สภาพแวดล้อม: Node 24.19.0 • npm 11.9.0 • Chromium 151 • ไม่ได้วัดความแม่นยำ AI หรือทดสอบชิ้นงานจริงทุกโครงงาน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ผลคะแนนรีวิวที่เผยแพร่บนเว็บไซต์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ข้อมูลวันที่ 3 ตุลาคม 2569 • ตรวจรายการ ณ 23:04 น. ตามเวลาไทย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2487168"/>
            <a:ext cx="3886200" cy="4297680"/>
          </a:xfrm>
          <a:prstGeom prst="roundRect">
            <a:avLst>
              <a:gd name="adj" fmla="val 12000"/>
            </a:avLst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2770632"/>
            <a:ext cx="324612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7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977639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รายการรีวิว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818888"/>
            <a:ext cx="324612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เฉลี่ยรวม 3.90 / 5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= 0.77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260604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 ดาว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660904"/>
            <a:ext cx="4754880" cy="274320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660904"/>
            <a:ext cx="2641600" cy="27432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56848" y="260604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5 รายการ  (23.8%)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321868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4 ดาว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273552"/>
            <a:ext cx="4754880" cy="274320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273552"/>
            <a:ext cx="4754880" cy="27432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356848" y="3218688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9 รายการ  (42.9%)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3831336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 ดาว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886200"/>
            <a:ext cx="4754880" cy="274320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3886200"/>
            <a:ext cx="3698240" cy="27432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56848" y="38313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7 รายการ  (33.3%)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6088" y="4443984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 ดาว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498848"/>
            <a:ext cx="4754880" cy="274320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56848" y="4443984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0 รายการ  (0.0%)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6088" y="5056632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 ดาว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111496"/>
            <a:ext cx="4754880" cy="274320"/>
          </a:xfrm>
          <a:prstGeom prst="rect">
            <a:avLst/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56848" y="5056632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0 รายการ  (0.0%)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6007608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เว็บไซต์: 19 รายการ เฉลี่ย 3.95 / 5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โครงงาน: 2 รายการ เฉลี่ย 3.50 /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สรุปตามรายการ ไม่ใช่จำนวนคนไม่ซ้ำ • ค่าเฉลี่ยรวมผสมรีวิวต่างประเภท ใช้อธิบายชุดข้อมูล ไม่ใช่คะแนนแบบสอบถามมาตรฐาน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 /  ผลการวิจัย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ข้อคิดเห็นและประเด็นที่ควรปรับปรุง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สิ่งที่ได้รับคำชม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มีข้อความชื่นชมการนำทาง ความสบายตา และแนวคิดนำของในบ้านมาใช้ต่อ สะท้อนประเด็นที่ผู้โพสต์มองว่ามีประโยชน์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ภาพและคำอธิบายเฉพาะขั้น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ขอภาพใกล้ ๆ ตอนผูกก้นถุง ร้อยเชือก เย็บผ้า และวิดีโอสั้นที่ตรงขั้นตอน รวมถึงวิธีตรวจเมื่อทำแล้วไม่เป็นไปตามคาด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วัสดุและเงื่อนไขการทดลอง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ขอตัวอย่างขนาดกระดาษ ชนิดผ้าและเชือก ข้อจำกัดเมื่อเปียก และการกำหนดฐาน/เหรียญให้เหมือนกันก่อนเทียบผล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ส่วนติดต่อและตัวเลือก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มีข้อความว่า “ตัวหนังสือเล็ก อ่านยาก” พร้อมข้อเสนอเรื่องธีม จำนวนโครงงาน และระดับความยาก ควรตรวจต่อกับอุปกรณ์ที่ผู้ใช้พบปัญหา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7168896"/>
            <a:ext cx="12618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เป็นการสรุปประเด็นจากข้อความ ไม่ใช่ข้อยืนยันว่าทุกข้อความเป็นบั๊กที่ทำซ้ำได้ หรือว่าผู้ใช้ทุกคนเห็นเหมือนกัน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สรุปผลตามวัตถุประสงค์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พัฒนาต้นแบบได้ตามขอบเขตหลัก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มีระบบค้นหา คู่มือ วัสดุ แผนงาน และชุมชน พร้อมเนื้อหา 37 โครงงานและวัสดุ 94 ประเภท โดยยังมีข้อจำกัดของต้นแบบ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ระบบผ่านกรณีทดสอบที่ดำเนินการ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ผ่าน 99 กรณีด้านฟังก์ชัน/API/SQL และ 51 กรณีผ่านเบราว์เซอร์ เป็นหลักฐานเฉพาะรุ่นและเงื่อนไขที่ตรวจ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ได้ข้อมูลประเด็นพัฒนาต่อ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รีวิวเผยแพร่ 21 รายการมีค่าเฉลี่ยรวม 3.90/5 และมีข้อเสนอที่นำไปตรวจต่อได้ เช่น ภาพละเอียด วัสดุ และขนาดตัวอักษร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สมมติฐานยังยืนยันไม่ได้ทั้งหมด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ยังไม่มีเวลา/ผลสำเร็จรายบุคคลหรือแบบวัดการเรียนรู้ จึงไม่สรุปว่าระบบช่วยให้ทำงานเร็วขึ้น เรียนรู้มากขึ้น หรือลดขยะได้จริง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การอภิปรายผล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ความสอดคล้องกับแนวคิดออกแบบ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ข้อเสนอเรื่องภาพและคำอธิบายรายขั้นสอดคล้องกับจุดมุ่งหมายของคู่มือแบบเป็นลำดับ แต่ความสอดคล้องนี้ไม่ใช่การพิสูจน์ความสัมพันธ์เชิงเหตุผล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คะแนนดาวกับเนื้อหาอาจต่างกัน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บางรีวิวให้คะแนนสูงแต่ยังระบุสิ่งที่ไม่ชัด จึงควรอ่านข้อเสนอควบคู่กับคะแนน ไม่ใช้ค่าเฉลี่ยเพียงค่าเดียวตัดสินความพร้อมของระบบ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อัตโนมัติผ่านยังต้องตรวจผู้ใช้จริง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axe ไม่พบปัญหาในหน้าที่ตรวจ แต่มีรีวิวเรื่องตัวหนังสือเล็ก สองอย่างไม่ขัดกัน เพราะการตรวจอัตโนมัติไม่ครอบคลุมประสบการณ์อ่านทั้งหมด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ลำดับความสำคัญของการปรับปรุง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เริ่มจากความอ่านง่าย ภาพจุดสำคัญ และตัวอย่างวัสดุ จากนั้นทดสอบกับผู้ใช้ก่อนขยายจำนวนโครงงานหรือเพิ่มตัวเลือกตกแต่ง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ข้อจำกัดของข้อมูลและการศึกษา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ที่มาของข้อความรีวิว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บางข้อความตรงหรือปรับจากข้อความตัวอย่างที่เตรียมไว้ จึงไม่ใช่ความคิดเห็นอิสระทั้งหมด คะแนนรวมไม่ควรแทนผลสำรวจที่ไม่มีการชี้นำ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จำนวนคนและการคัดเลือกข้อมูล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ผู้จัดทำแจ้งผู้ทดลอง 20 คน แต่ข้อมูลสาธารณะยืนยันได้ 21 รีวิว ไม่ยืนยันคนไม่ซ้ำ และแสดงเฉพาะรายการที่ผ่านการอนุมัติ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เครื่องมือและข้อมูลที่ยังขาด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ไม่มีผลแบบสอบถามรายข้อ เวลา หรืออัตราสำเร็จภารกิจที่บันทึกไว้ ไม่มีการตรวจความเชื่อมั่นของเครื่องมือหรือเปรียบเทียบกับกลุ่มควบคุม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ขอบเขตทางเทคนิคและกายภาพ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ผลทดสอบอ้างเฉพาะรุ่นที่ตรวจ ไม่ใช่ระบบปลอดข้อผิดพลาดทุกกรณี และยังไม่ครอบคลุมผลสร้างชิ้นงาน ความปลอดภัยทุกแบบ หรือผลลดขยะ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 /  สรุป อภิปรายผล 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ข้อเสนอแนะและแนวทางพัฒนาต่อ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19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" y="2359152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ปรับความชัดเจนก่อนเพิ่มฟีเจอร์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ตรวจการอ่านบนมือถือและการขยายข้อความ เพิ่มภาพใกล้ในขั้นที่ซับซ้อน ตัวอย่างขนาด และคำแนะนำเลือกวัสดุให้ตรงงาน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8644" y="2148840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58100" y="2359152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58100" y="2423160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5883" y="2350008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เพิ่มการแก้ปัญหาและการตรวจงาน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4675" y="3063240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ใส่คำถาม “ถ้าไม่สำเร็จควรตรวจอะไร” และเกณฑ์ทดลองที่ทำซ้ำได้ เช่น ชนิดวัสดุ ระยะฐาน และวิธีบันทึกผลแต่ละรอบ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EF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4905756"/>
            <a:ext cx="429768" cy="429768"/>
          </a:xfrm>
          <a:prstGeom prst="ellipse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เก็บข้อมูลรอบถัดไปอย่างเป็นระบบ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ให้ผู้ใช้เขียนจากประสบการณ์เอง ทำภารกิจค้นหา ตรวจวัสดุ อธิบายขั้นตอน และบันทึก/เปิดแผน พร้อมจับเวลา เก็บรหัสผู้ทดลอง และตรึงรุ่นเว็บ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8644" y="4695444"/>
            <a:ext cx="6323076" cy="2253996"/>
          </a:xfrm>
          <a:prstGeom prst="roundRect">
            <a:avLst>
              <a:gd name="adj" fmla="val 12000"/>
            </a:avLst>
          </a:prstGeom>
          <a:solidFill>
            <a:srgbClr val="F3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58100" y="4905756"/>
            <a:ext cx="429768" cy="429768"/>
          </a:xfrm>
          <a:prstGeom prst="ellipse">
            <a:avLst/>
          </a:prstGeom>
          <a:solidFill>
            <a:srgbClr val="B59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58100" y="496976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5883" y="4896612"/>
            <a:ext cx="53629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ขยายขอบเขตการวิจัย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4675" y="5609844"/>
            <a:ext cx="5811012" cy="1248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900" b="0">
                <a:solidFill>
                  <a:srgbClr val="23352C"/>
                </a:solidFill>
                <a:latin typeface="Noto Sans"/>
                <a:ea typeface="Noto Sans Thai"/>
                <a:cs typeface="Noto Sans Thai"/>
              </a:rPr>
              <a:t>ศึกษาผู้ใช้หลายกลุ่ม ทดสอบชิ้นงานจริง และเพิ่มแบบวัดก่อน–หลังที่ตรวจคุณภาพแล้วหากต้องการอ้างผลการเรียนรู้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เอกสารอ้างอิงและหลักฐานประกอบ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057400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— เนื้อหาและโครงสร้างระบบ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496312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github.com/gunphupa/work • README, docs/CONTENT.md และ docs/ARCHITECTURE.md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08376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— หลักฐานทดสอบ 3 ตุลาคม 2569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47288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docs/evidence/unit-api-results.json, browser-results.json และ dependency-audit-2026-10-03.json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59352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รีวิวที่เผยแพร่บน ReBuild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98264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work-c3to.onrender.com • 21 รายการ ณ จุดตรวจ 3 ต.ค. 2569 เวลา 23:04 น. (ไทย)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10328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Arduino Documentation / NASA JPL Education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docs.arduino.cc/built-in-examples/ • jpl.nasa.gov/edu/resources/project/make-a-straw-rocket/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61304"/>
            <a:ext cx="1271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ตัวอย่าง Instructables ที่ได้รับจากผู้จัดทำ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300216"/>
            <a:ext cx="126187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Mohammed Nihal, Build Your Own Automatic Watch Winder With Arduino Nano • ใช้อ้างอิงรูปแบบคู่มือ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8229600"/>
          </a:xfrm>
          <a:prstGeom prst="rect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8229600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188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 •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86968"/>
            <a:ext cx="129387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3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ขอบคุณครับ / ค่ะ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7708392"/>
            <a:ext cx="12938760" cy="10972"/>
          </a:xfrm>
          <a:prstGeom prst="rect">
            <a:avLst/>
          </a:prstGeom>
          <a:solidFill>
            <a:srgbClr val="D7D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83640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9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ReBuild  /  โครงงานวิจัย 5 บท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7772400"/>
            <a:ext cx="777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700"/>
              </a:spcAft>
            </a:pPr>
            <a:r>
              <a:rPr sz="1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9" name="Oval 8"/>
          <p:cNvSpPr/>
          <p:nvPr/>
        </p:nvSpPr>
        <p:spPr>
          <a:xfrm>
            <a:off x="1325880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39596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39596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9596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39596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3312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312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2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7028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67028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7028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7028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807440" y="690372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807440" y="704088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07440" y="717804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807440" y="7315200"/>
            <a:ext cx="22860" cy="2286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0"/>
            <a:ext cx="5029200" cy="7708392"/>
          </a:xfrm>
          <a:prstGeom prst="rect">
            <a:avLst/>
          </a:prstGeom>
          <a:solidFill>
            <a:srgbClr val="195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1051560"/>
            <a:ext cx="3383280" cy="3383280"/>
          </a:xfrm>
          <a:prstGeom prst="ellipse">
            <a:avLst/>
          </a:prstGeom>
          <a:solidFill>
            <a:srgbClr val="7C9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2231136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3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560320"/>
            <a:ext cx="832104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ของเดิม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ประโยชน์ใหม่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4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เรียนรู้ได้ทุกวัน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25312"/>
            <a:ext cx="80467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2500" b="0">
                <a:solidFill>
                  <a:srgbClr val="647166"/>
                </a:solidFill>
                <a:latin typeface="Noto Sans"/>
                <a:ea typeface="Noto Sans Thai"/>
                <a:cs typeface="Noto Sans Thai"/>
              </a:rPr>
              <a:t>เปิดรับคำถามและข้อเสนอแนะ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5508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