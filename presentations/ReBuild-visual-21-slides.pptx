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notesMaster" Target="notesMasters/notesMaster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style val="1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จำนวนรีวิว</c:v>
                </c:pt>
              </c:strCache>
            </c:strRef>
          </c:tx>
          <c:dPt>
            <c:idx val="0"/>
            <c:spPr>
              <a:solidFill>
                <a:srgbClr val="839E63"/>
              </a:solidFill>
              <a:ln>
                <a:noFill/>
              </a:ln>
            </c:spPr>
          </c:dPt>
          <c:dPt>
            <c:idx val="1"/>
            <c:spPr>
              <a:solidFill>
                <a:srgbClr val="19573C"/>
              </a:solidFill>
              <a:ln>
                <a:noFill/>
              </a:ln>
            </c:spPr>
          </c:dPt>
          <c:dPt>
            <c:idx val="2"/>
            <c:spPr>
              <a:solidFill>
                <a:srgbClr val="B59C70"/>
              </a:solidFill>
              <a:ln>
                <a:noFill/>
              </a:ln>
            </c:spPr>
          </c:dPt>
          <c:cat>
            <c:strRef>
              <c:f>Sheet1!$A$2:$A$4</c:f>
              <c:strCache>
                <c:ptCount val="3"/>
                <c:pt idx="0">
                  <c:v>5 ดาว</c:v>
                </c:pt>
                <c:pt idx="1">
                  <c:v>4 ดาว</c:v>
                </c:pt>
                <c:pt idx="2">
                  <c:v>3 ดาว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</c:v>
                </c:pt>
                <c:pt idx="1">
                  <c:v>9</c:v>
                </c:pt>
                <c:pt idx="2">
                  <c:v>7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Element credits and licensing (not a presentation script):</a:t>
            </a:r>
          </a:p>
          <a:p/>
          <a:p>
            <a:r>
              <a:t>ISC License</a:t>
            </a:r>
          </a:p>
          <a:p/>
          <a:p>
            <a:r>
              <a:t>Copyright (c) 2026 Lucide Icons and Contributors</a:t>
            </a:r>
          </a:p>
          <a:p/>
          <a:p>
            <a:r>
              <a:t>Permission to use, copy, modify, and/or distribute this software for any</a:t>
            </a:r>
          </a:p>
          <a:p>
            <a:r>
              <a:t>purpose with or without fee is hereby granted, provided that the above</a:t>
            </a:r>
          </a:p>
          <a:p>
            <a:r>
              <a:t>copyright notice and this permission notice appear in all copies.</a:t>
            </a:r>
          </a:p>
          <a:p/>
          <a:p>
            <a:r>
              <a:t>THE SOFTWARE IS PROVIDED "AS IS" AND THE AUTHOR DISCLAIMS ALL WARRANTIES</a:t>
            </a:r>
          </a:p>
          <a:p>
            <a:r>
              <a:t>WITH REGARD TO THIS SOFTWARE INCLUDING ALL IMPLIED WARRANTIES OF</a:t>
            </a:r>
          </a:p>
          <a:p>
            <a:r>
              <a:t>MERCHANTABILITY AND FITNESS. IN NO EVENT SHALL THE AUTHOR BE LIABLE FOR</a:t>
            </a:r>
          </a:p>
          <a:p>
            <a:r>
              <a:t>ANY SPECIAL, DIRECT, INDIRECT, OR CONSEQUENTIAL DAMAGES OR ANY DAMAGES</a:t>
            </a:r>
          </a:p>
          <a:p>
            <a:r>
              <a:t>WHATSOEVER RESULTING FROM LOSS OF USE, DATA OR PROFITS, WHETHER IN AN</a:t>
            </a:r>
          </a:p>
          <a:p>
            <a:r>
              <a:t>ACTION OF CONTRACT, NEGLIGENCE OR OTHER TORTIOUS ACTION, ARISING OUT OF</a:t>
            </a:r>
          </a:p>
          <a:p>
            <a:r>
              <a:t>OR IN CONNECTION WITH THE USE OR PERFORMANCE OF THIS SOFTWARE.</a:t>
            </a:r>
          </a:p>
          <a:p/>
          <a:p>
            <a:r>
              <a:t>---</a:t>
            </a:r>
          </a:p>
          <a:p/>
          <a:p>
            <a:r>
              <a:t>The following Lucide icons are derived from the Feather project:</a:t>
            </a:r>
          </a:p>
          <a:p/>
          <a:p>
            <a:r>
              <a:t>airplay, alert-circle, alert-octagon, alert-triangle, aperture, arrow-down-circle, arrow-down-left, arrow-down-right, arrow-down, arrow-left-circle, arrow-left, arrow-right-circle, arrow-right, arrow-up-circle, arrow-up-left, arrow-up-right, arrow-up, at-sign, calendar, cast, check, chevron-down, chevron-left, chevron-right, chevron-up, chevrons-down, chevrons-left, chevrons-right, chevrons-up, circle, clipboard, clock, code, columns, command, compass, corner-down-left, corner-down-right, corner-left-down, corner-left-up, corner-right-down, corner-right-up, corner-up-left, corner-up-right, crosshair, database, divide-circle, divide-square, dollar-sign, download, external-link, feather, frown, hash, headphones, help-circle, info, italic, key, layout, life-buoy, link-2, link, loader, lock, log-in, log-out, maximize, meh, minimize, minimize-2, minus-circle, minus-square, minus, monitor, moon, more-horizontal, more-vertical, move, music, navigation-2, navigation, octagon, pause-circle, percent, plus-circle, plus-square, plus, power, radio, rss, search, server, share, shopping-bag, sidebar, smartphone, smile, square, table-2, tablet, target, terminal, trash-2, trash, triangle, tv, type, upload, x-circle, x-octagon, x-square, x, zoom-in, zoom-out</a:t>
            </a:r>
          </a:p>
          <a:p/>
          <a:p>
            <a:r>
              <a:t>The MIT License (MIT) (for the icons listed above)</a:t>
            </a:r>
          </a:p>
          <a:p/>
          <a:p>
            <a:r>
              <a:t>Copyright (c) 2013-present Cole Bemis</a:t>
            </a:r>
          </a:p>
          <a:p/>
          <a:p>
            <a:r>
              <a:t>Permission is hereby granted, free of charge, to any person obtaining a copy</a:t>
            </a:r>
          </a:p>
          <a:p>
            <a:r>
              <a:t>of this software and associated documentation files (the "Software"), to deal</a:t>
            </a:r>
          </a:p>
          <a:p>
            <a:r>
              <a:t>in the Software without restriction, including without limitation the rights</a:t>
            </a:r>
          </a:p>
          <a:p>
            <a:r>
              <a:t>to use, copy, modify, merge, publish, distribute, sublicense, and/or sell</a:t>
            </a:r>
          </a:p>
          <a:p>
            <a:r>
              <a:t>copies of the Software, and to permit persons to whom the Software is</a:t>
            </a:r>
          </a:p>
          <a:p>
            <a:r>
              <a:t>furnished to do so, subject to the following conditions:</a:t>
            </a:r>
          </a:p>
          <a:p/>
          <a:p>
            <a:r>
              <a:t>The above copyright notice and this permission notice shall be included in all</a:t>
            </a:r>
          </a:p>
          <a:p>
            <a:r>
              <a:t>copies or substantial portions of the Software.</a:t>
            </a:r>
          </a:p>
          <a:p/>
          <a:p>
            <a:r>
              <a:t>THE SOFTWARE IS PROVIDED "AS IS", WITHOUT WARRANTY OF ANY KIND, EXPRESS OR</a:t>
            </a:r>
          </a:p>
          <a:p>
            <a:r>
              <a:t>IMPLIED, INCLUDING BUT NOT LIMITED TO THE WARRANTIES OF MERCHANTABILITY,</a:t>
            </a:r>
          </a:p>
          <a:p>
            <a:r>
              <a:t>FITNESS FOR A PARTICULAR PURPOSE AND NONINFRINGEMENT. IN NO EVENT SHALL THE</a:t>
            </a:r>
          </a:p>
          <a:p>
            <a:r>
              <a:t>AUTHORS OR COPYRIGHT HOLDERS BE LIABLE FOR ANY CLAIM, DAMAGES OR OTHER</a:t>
            </a:r>
          </a:p>
          <a:p>
            <a:r>
              <a:t>LIABILITY, WHETHER IN AN ACTION OF CONTRACT, TORT OR OTHERWISE, ARISING FROM,</a:t>
            </a:r>
          </a:p>
          <a:p>
            <a:r>
              <a:t>OUT OF OR IN CONNECTION WITH THE SOFTWARE OR THE USE OR OTHER DEALINGS IN THE</a:t>
            </a:r>
          </a:p>
          <a:p>
            <a:r>
              <a:t>SOFTWARE.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openxmlformats.org/officeDocument/2006/relationships/image" Target="../media/image15.png"/><Relationship Id="rId8" Type="http://schemas.openxmlformats.org/officeDocument/2006/relationships/image" Target="../media/image1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4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1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Relationship Id="rId4" Type="http://schemas.openxmlformats.org/officeDocument/2006/relationships/image" Target="../media/image2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3" Type="http://schemas.openxmlformats.org/officeDocument/2006/relationships/image" Target="../media/image27.png"/><Relationship Id="rId4" Type="http://schemas.openxmlformats.org/officeDocument/2006/relationships/image" Target="../media/image28.png"/><Relationship Id="rId5" Type="http://schemas.openxmlformats.org/officeDocument/2006/relationships/image" Target="../media/image2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3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Relationship Id="rId3" Type="http://schemas.openxmlformats.org/officeDocument/2006/relationships/image" Target="../media/image32.png"/><Relationship Id="rId4" Type="http://schemas.openxmlformats.org/officeDocument/2006/relationships/image" Target="../media/image33.png"/><Relationship Id="rId5" Type="http://schemas.openxmlformats.org/officeDocument/2006/relationships/image" Target="../media/image3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Relationship Id="rId3" Type="http://schemas.openxmlformats.org/officeDocument/2006/relationships/image" Target="../media/image34.png"/><Relationship Id="rId4" Type="http://schemas.openxmlformats.org/officeDocument/2006/relationships/image" Target="../media/image3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Relationship Id="rId3" Type="http://schemas.openxmlformats.org/officeDocument/2006/relationships/image" Target="../media/image29.png"/><Relationship Id="rId4" Type="http://schemas.openxmlformats.org/officeDocument/2006/relationships/image" Target="../media/image28.png"/><Relationship Id="rId5" Type="http://schemas.openxmlformats.org/officeDocument/2006/relationships/image" Target="../media/image37.png"/><Relationship Id="rId6" Type="http://schemas.openxmlformats.org/officeDocument/2006/relationships/image" Target="../media/image1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image" Target="../media/image3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Relationship Id="rId3" Type="http://schemas.openxmlformats.org/officeDocument/2006/relationships/image" Target="../media/image40.png"/><Relationship Id="rId4" Type="http://schemas.openxmlformats.org/officeDocument/2006/relationships/image" Target="../media/image19.png"/><Relationship Id="rId5" Type="http://schemas.openxmlformats.org/officeDocument/2006/relationships/image" Target="../media/image7.png"/><Relationship Id="rId6" Type="http://schemas.openxmlformats.org/officeDocument/2006/relationships/image" Target="../media/image36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33.png"/><Relationship Id="rId4" Type="http://schemas.openxmlformats.org/officeDocument/2006/relationships/image" Target="../media/image32.png"/><Relationship Id="rId5" Type="http://schemas.openxmlformats.org/officeDocument/2006/relationships/image" Target="../media/image8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Relationship Id="rId3" Type="http://schemas.openxmlformats.org/officeDocument/2006/relationships/image" Target="../media/image40.png"/><Relationship Id="rId4" Type="http://schemas.openxmlformats.org/officeDocument/2006/relationships/image" Target="../media/image15.png"/><Relationship Id="rId5" Type="http://schemas.openxmlformats.org/officeDocument/2006/relationships/image" Target="../media/image30.png"/><Relationship Id="rId6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Relationship Id="rId3" Type="http://schemas.openxmlformats.org/officeDocument/2006/relationships/image" Target="../media/image11.png"/><Relationship Id="rId4" Type="http://schemas.openxmlformats.org/officeDocument/2006/relationships/image" Target="../media/image42.png"/><Relationship Id="rId5" Type="http://schemas.openxmlformats.org/officeDocument/2006/relationships/image" Target="../media/image1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image" Target="../media/image29.png"/><Relationship Id="rId4" Type="http://schemas.openxmlformats.org/officeDocument/2006/relationships/image" Target="../media/image40.png"/><Relationship Id="rId5" Type="http://schemas.openxmlformats.org/officeDocument/2006/relationships/image" Target="../media/image21.png"/><Relationship Id="rId6" Type="http://schemas.openxmlformats.org/officeDocument/2006/relationships/image" Target="../media/image19.png"/><Relationship Id="rId7" Type="http://schemas.openxmlformats.org/officeDocument/2006/relationships/notesSlide" Target="../notesSlides/notesSlide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4.png"/><Relationship Id="rId4" Type="http://schemas.openxmlformats.org/officeDocument/2006/relationships/hyperlink" Target="https://work-c3to.onrender.com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3E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393192"/>
            <a:ext cx="109728" cy="182880"/>
          </a:xfrm>
          <a:prstGeom prst="rect">
            <a:avLst/>
          </a:prstGeom>
          <a:solidFill>
            <a:srgbClr val="839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338328"/>
            <a:ext cx="12618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00" b="1">
                <a:solidFill>
                  <a:srgbClr val="D7E3C9"/>
                </a:solidFill>
                <a:latin typeface="Noto Sans"/>
                <a:ea typeface="Noto Sans Thai"/>
                <a:cs typeface="Noto Sans Thai"/>
              </a:rPr>
              <a:t>โครงงานวิจัย • เว็บแอปพลิเคชันเพื่อการใช้ประโยชน์ในชีวิตประจำวัน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68680"/>
            <a:ext cx="1316736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</a:p>
        </p:txBody>
      </p:sp>
      <p:cxnSp>
        <p:nvCxnSpPr>
          <p:cNvPr id="5" name="Connector 4"/>
          <p:cNvCxnSpPr/>
          <p:nvPr/>
        </p:nvCxnSpPr>
        <p:spPr>
          <a:xfrm>
            <a:off x="640080" y="7726679"/>
            <a:ext cx="13350240" cy="0"/>
          </a:xfrm>
          <a:prstGeom prst="line">
            <a:avLst/>
          </a:prstGeom>
          <a:ln w="8255">
            <a:solidFill>
              <a:srgbClr val="41614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7872983"/>
            <a:ext cx="54864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00" b="0">
                <a:solidFill>
                  <a:srgbClr val="D7E3C9"/>
                </a:solidFill>
                <a:latin typeface="Noto Sans"/>
                <a:ea typeface="Noto Sans Thai"/>
                <a:cs typeface="Noto Sans Thai"/>
              </a:rPr>
              <a:t>REBUILD  /  RESEARCH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04520" y="7827264"/>
            <a:ext cx="6858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300" b="1">
                <a:solidFill>
                  <a:srgbClr val="D7E3C9"/>
                </a:solidFill>
                <a:latin typeface="Noto Sans"/>
                <a:ea typeface="Noto Sans Thai"/>
                <a:cs typeface="Noto Sans Thai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869680" y="0"/>
            <a:ext cx="5760720" cy="7726679"/>
          </a:xfrm>
          <a:prstGeom prst="rect">
            <a:avLst/>
          </a:prstGeom>
          <a:solidFill>
            <a:srgbClr val="F2EA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281160" y="365760"/>
            <a:ext cx="4937760" cy="4937760"/>
          </a:xfrm>
          <a:prstGeom prst="ellipse">
            <a:avLst/>
          </a:prstGeom>
          <a:solidFill>
            <a:srgbClr val="D7E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13821613" y="5230368"/>
            <a:ext cx="85496" cy="1943100"/>
          </a:xfrm>
          <a:prstGeom prst="line">
            <a:avLst/>
          </a:prstGeom>
          <a:ln w="19050">
            <a:solidFill>
              <a:srgbClr val="19573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ardrop 10"/>
          <p:cNvSpPr/>
          <p:nvPr/>
        </p:nvSpPr>
        <p:spPr>
          <a:xfrm rot="18900000">
            <a:off x="13487400" y="5074920"/>
            <a:ext cx="298771" cy="578266"/>
          </a:xfrm>
          <a:prstGeom prst="teardrop">
            <a:avLst/>
          </a:prstGeom>
          <a:solidFill>
            <a:srgbClr val="1957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ardrop 11"/>
          <p:cNvSpPr/>
          <p:nvPr/>
        </p:nvSpPr>
        <p:spPr>
          <a:xfrm rot="2700000">
            <a:off x="13837158" y="5292547"/>
            <a:ext cx="240944" cy="466344"/>
          </a:xfrm>
          <a:prstGeom prst="teardrop">
            <a:avLst/>
          </a:prstGeom>
          <a:solidFill>
            <a:srgbClr val="1957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ardrop 12"/>
          <p:cNvSpPr/>
          <p:nvPr/>
        </p:nvSpPr>
        <p:spPr>
          <a:xfrm rot="18900000">
            <a:off x="13487400" y="5618988"/>
            <a:ext cx="298771" cy="578266"/>
          </a:xfrm>
          <a:prstGeom prst="teardrop">
            <a:avLst/>
          </a:prstGeom>
          <a:solidFill>
            <a:srgbClr val="1957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ardrop 13"/>
          <p:cNvSpPr/>
          <p:nvPr/>
        </p:nvSpPr>
        <p:spPr>
          <a:xfrm rot="2700000">
            <a:off x="13837158" y="5836615"/>
            <a:ext cx="240944" cy="466344"/>
          </a:xfrm>
          <a:prstGeom prst="teardrop">
            <a:avLst/>
          </a:prstGeom>
          <a:solidFill>
            <a:srgbClr val="1957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ardrop 14"/>
          <p:cNvSpPr/>
          <p:nvPr/>
        </p:nvSpPr>
        <p:spPr>
          <a:xfrm rot="18900000">
            <a:off x="13487400" y="6163056"/>
            <a:ext cx="298771" cy="578266"/>
          </a:xfrm>
          <a:prstGeom prst="teardrop">
            <a:avLst/>
          </a:prstGeom>
          <a:solidFill>
            <a:srgbClr val="1957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ardrop 15"/>
          <p:cNvSpPr/>
          <p:nvPr/>
        </p:nvSpPr>
        <p:spPr>
          <a:xfrm rot="2700000">
            <a:off x="13837158" y="6380683"/>
            <a:ext cx="240944" cy="466344"/>
          </a:xfrm>
          <a:prstGeom prst="teardrop">
            <a:avLst/>
          </a:prstGeom>
          <a:solidFill>
            <a:srgbClr val="1957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8952" y="1481328"/>
            <a:ext cx="77724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7600" b="1">
                <a:solidFill>
                  <a:srgbClr val="FFFFFF"/>
                </a:solidFill>
                <a:latin typeface="Noto Sans"/>
                <a:ea typeface="Noto Sans Thai"/>
                <a:cs typeface="Noto Sans Thai"/>
              </a:rPr>
              <a:t>ReBuild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2" y="2852928"/>
            <a:ext cx="4297680" cy="384048"/>
          </a:xfrm>
          <a:prstGeom prst="roundRect">
            <a:avLst>
              <a:gd name="adj" fmla="val 20000"/>
            </a:avLst>
          </a:prstGeom>
          <a:solidFill>
            <a:srgbClr val="839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2898648"/>
            <a:ext cx="407822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1">
                <a:solidFill>
                  <a:srgbClr val="FFFFFF"/>
                </a:solidFill>
                <a:latin typeface="Noto Sans"/>
                <a:ea typeface="Noto Sans Thai"/>
                <a:cs typeface="Noto Sans Thai"/>
              </a:rPr>
              <a:t>ของเดิม • ประโยชน์ใหม่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3584448"/>
            <a:ext cx="7360920" cy="18836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500" b="1">
                <a:solidFill>
                  <a:srgbClr val="FFFFFF"/>
                </a:solidFill>
                <a:latin typeface="Noto Sans"/>
                <a:ea typeface="Noto Sans Thai"/>
                <a:cs typeface="Noto Sans Thai"/>
              </a:rPr>
              <a:t>การพัฒนาเว็บแอปพลิเคชันเพื่อสนับสนุนการวางแผน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500" b="1">
                <a:solidFill>
                  <a:srgbClr val="FFFFFF"/>
                </a:solidFill>
                <a:latin typeface="Noto Sans"/>
                <a:ea typeface="Noto Sans Thai"/>
                <a:cs typeface="Noto Sans Thai"/>
              </a:rPr>
              <a:t>และเรียนรู้การสร้างชิ้นงานใช้ประโยชน์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500" b="1">
                <a:solidFill>
                  <a:srgbClr val="FFFFFF"/>
                </a:solidFill>
                <a:latin typeface="Noto Sans"/>
                <a:ea typeface="Noto Sans Thai"/>
                <a:cs typeface="Noto Sans Thai"/>
              </a:rPr>
              <a:t>จากวัสดุในครัวเรือน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95528" y="5943600"/>
            <a:ext cx="7379208" cy="1161288"/>
          </a:xfrm>
          <a:prstGeom prst="roundRect">
            <a:avLst>
              <a:gd name="adj" fmla="val 7000"/>
            </a:avLst>
          </a:prstGeom>
          <a:solidFill>
            <a:srgbClr val="254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78408" y="6117336"/>
            <a:ext cx="7022592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FFFFFF"/>
                </a:solidFill>
                <a:latin typeface="Noto Sans"/>
                <a:ea typeface="Noto Sans Thai"/>
                <a:cs typeface="Noto Sans Thai"/>
              </a:rPr>
              <a:t>ผู้จัดทำ  [ชื่อ–นามสกุล / ชั้น / เลขที่]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FFFFFF"/>
                </a:solidFill>
                <a:latin typeface="Noto Sans"/>
                <a:ea typeface="Noto Sans Thai"/>
                <a:cs typeface="Noto Sans Thai"/>
              </a:rPr>
              <a:t>อาจารย์ที่ปรึกษา  [ระบุชื่อ]   |   โรงเรียน  [ระบุชื่อ]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FFFFFF"/>
                </a:solidFill>
                <a:latin typeface="Noto Sans"/>
                <a:ea typeface="Noto Sans Thai"/>
                <a:cs typeface="Noto Sans Thai"/>
              </a:rPr>
              <a:t>ปีการศึกษา  [ระบุปี]</a:t>
            </a:r>
          </a:p>
        </p:txBody>
      </p:sp>
      <p:pic>
        <p:nvPicPr>
          <p:cNvPr id="23" name="Picture 22" descr="art-planter.png"/>
          <p:cNvPicPr>
            <a:picLocks noChangeAspect="1"/>
          </p:cNvPicPr>
          <p:nvPr/>
        </p:nvPicPr>
        <p:blipFill>
          <a:blip r:embed="rId2"/>
          <a:srcRect l="763" r="763"/>
          <a:stretch>
            <a:fillRect/>
          </a:stretch>
        </p:blipFill>
        <p:spPr>
          <a:xfrm>
            <a:off x="9272016" y="960120"/>
            <a:ext cx="4663440" cy="3127248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>
          <a:xfrm>
            <a:off x="9921240" y="786384"/>
            <a:ext cx="1591056" cy="310896"/>
          </a:xfrm>
          <a:prstGeom prst="rect">
            <a:avLst/>
          </a:prstGeom>
          <a:solidFill>
            <a:srgbClr val="B59C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art-dividers.png"/>
          <p:cNvPicPr>
            <a:picLocks noChangeAspect="1"/>
          </p:cNvPicPr>
          <p:nvPr/>
        </p:nvPicPr>
        <p:blipFill>
          <a:blip r:embed="rId3"/>
          <a:srcRect l="2463" r="2463"/>
          <a:stretch>
            <a:fillRect/>
          </a:stretch>
        </p:blipFill>
        <p:spPr>
          <a:xfrm>
            <a:off x="9244584" y="4279392"/>
            <a:ext cx="2185416" cy="1517904"/>
          </a:xfrm>
          <a:prstGeom prst="rect">
            <a:avLst/>
          </a:prstGeom>
        </p:spPr>
      </p:pic>
      <p:pic>
        <p:nvPicPr>
          <p:cNvPr id="26" name="Picture 25" descr="art-bridge.png"/>
          <p:cNvPicPr>
            <a:picLocks noChangeAspect="1"/>
          </p:cNvPicPr>
          <p:nvPr/>
        </p:nvPicPr>
        <p:blipFill>
          <a:blip r:embed="rId4"/>
          <a:srcRect l="2463" r="2463"/>
          <a:stretch>
            <a:fillRect/>
          </a:stretch>
        </p:blipFill>
        <p:spPr>
          <a:xfrm>
            <a:off x="11695176" y="4279392"/>
            <a:ext cx="2185416" cy="1517904"/>
          </a:xfrm>
          <a:prstGeom prst="rect">
            <a:avLst/>
          </a:prstGeom>
        </p:spPr>
      </p:pic>
      <p:pic>
        <p:nvPicPr>
          <p:cNvPr id="27" name="Picture 26" descr="icon-Recycle-19573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1200" y="6291072"/>
            <a:ext cx="530352" cy="530352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0332720" y="6364224"/>
            <a:ext cx="3840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0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เรียนรู้จากการลงมือทำ</a:t>
            </a:r>
          </a:p>
        </p:txBody>
      </p:sp>
      <p:sp>
        <p:nvSpPr>
          <p:cNvPr id="29" name="Oval 28"/>
          <p:cNvSpPr/>
          <p:nvPr/>
        </p:nvSpPr>
        <p:spPr>
          <a:xfrm>
            <a:off x="7799831" y="530352"/>
            <a:ext cx="22860" cy="22860"/>
          </a:xfrm>
          <a:prstGeom prst="ellipse">
            <a:avLst/>
          </a:prstGeom>
          <a:solidFill>
            <a:srgbClr val="D7E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799831" y="640080"/>
            <a:ext cx="22860" cy="22860"/>
          </a:xfrm>
          <a:prstGeom prst="ellipse">
            <a:avLst/>
          </a:prstGeom>
          <a:solidFill>
            <a:srgbClr val="D7E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799831" y="749808"/>
            <a:ext cx="22860" cy="22860"/>
          </a:xfrm>
          <a:prstGeom prst="ellipse">
            <a:avLst/>
          </a:prstGeom>
          <a:solidFill>
            <a:srgbClr val="D7E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799831" y="859536"/>
            <a:ext cx="22860" cy="22860"/>
          </a:xfrm>
          <a:prstGeom prst="ellipse">
            <a:avLst/>
          </a:prstGeom>
          <a:solidFill>
            <a:srgbClr val="D7E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909559" y="530352"/>
            <a:ext cx="22860" cy="22860"/>
          </a:xfrm>
          <a:prstGeom prst="ellipse">
            <a:avLst/>
          </a:prstGeom>
          <a:solidFill>
            <a:srgbClr val="D7E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7909559" y="640080"/>
            <a:ext cx="22860" cy="22860"/>
          </a:xfrm>
          <a:prstGeom prst="ellipse">
            <a:avLst/>
          </a:prstGeom>
          <a:solidFill>
            <a:srgbClr val="D7E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7909559" y="749808"/>
            <a:ext cx="22860" cy="22860"/>
          </a:xfrm>
          <a:prstGeom prst="ellipse">
            <a:avLst/>
          </a:prstGeom>
          <a:solidFill>
            <a:srgbClr val="D7E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7909559" y="859536"/>
            <a:ext cx="22860" cy="22860"/>
          </a:xfrm>
          <a:prstGeom prst="ellipse">
            <a:avLst/>
          </a:prstGeom>
          <a:solidFill>
            <a:srgbClr val="D7E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8019288" y="530352"/>
            <a:ext cx="22860" cy="22860"/>
          </a:xfrm>
          <a:prstGeom prst="ellipse">
            <a:avLst/>
          </a:prstGeom>
          <a:solidFill>
            <a:srgbClr val="D7E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8019288" y="640080"/>
            <a:ext cx="22860" cy="22860"/>
          </a:xfrm>
          <a:prstGeom prst="ellipse">
            <a:avLst/>
          </a:prstGeom>
          <a:solidFill>
            <a:srgbClr val="D7E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8019288" y="749808"/>
            <a:ext cx="22860" cy="22860"/>
          </a:xfrm>
          <a:prstGeom prst="ellipse">
            <a:avLst/>
          </a:prstGeom>
          <a:solidFill>
            <a:srgbClr val="D7E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8019288" y="859536"/>
            <a:ext cx="22860" cy="22860"/>
          </a:xfrm>
          <a:prstGeom prst="ellipse">
            <a:avLst/>
          </a:prstGeom>
          <a:solidFill>
            <a:srgbClr val="D7E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8129015" y="530352"/>
            <a:ext cx="22860" cy="22860"/>
          </a:xfrm>
          <a:prstGeom prst="ellipse">
            <a:avLst/>
          </a:prstGeom>
          <a:solidFill>
            <a:srgbClr val="D7E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8129015" y="640080"/>
            <a:ext cx="22860" cy="22860"/>
          </a:xfrm>
          <a:prstGeom prst="ellipse">
            <a:avLst/>
          </a:prstGeom>
          <a:solidFill>
            <a:srgbClr val="D7E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8129015" y="749808"/>
            <a:ext cx="22860" cy="22860"/>
          </a:xfrm>
          <a:prstGeom prst="ellipse">
            <a:avLst/>
          </a:prstGeom>
          <a:solidFill>
            <a:srgbClr val="D7E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8129015" y="859536"/>
            <a:ext cx="22860" cy="22860"/>
          </a:xfrm>
          <a:prstGeom prst="ellipse">
            <a:avLst/>
          </a:prstGeom>
          <a:solidFill>
            <a:srgbClr val="D7E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8238744" y="530352"/>
            <a:ext cx="22860" cy="22860"/>
          </a:xfrm>
          <a:prstGeom prst="ellipse">
            <a:avLst/>
          </a:prstGeom>
          <a:solidFill>
            <a:srgbClr val="D7E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8238744" y="640080"/>
            <a:ext cx="22860" cy="22860"/>
          </a:xfrm>
          <a:prstGeom prst="ellipse">
            <a:avLst/>
          </a:prstGeom>
          <a:solidFill>
            <a:srgbClr val="D7E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8238744" y="749808"/>
            <a:ext cx="22860" cy="22860"/>
          </a:xfrm>
          <a:prstGeom prst="ellipse">
            <a:avLst/>
          </a:prstGeom>
          <a:solidFill>
            <a:srgbClr val="D7E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8238744" y="859536"/>
            <a:ext cx="22860" cy="22860"/>
          </a:xfrm>
          <a:prstGeom prst="ellipse">
            <a:avLst/>
          </a:prstGeom>
          <a:solidFill>
            <a:srgbClr val="D7E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8348471" y="530352"/>
            <a:ext cx="22860" cy="22860"/>
          </a:xfrm>
          <a:prstGeom prst="ellipse">
            <a:avLst/>
          </a:prstGeom>
          <a:solidFill>
            <a:srgbClr val="D7E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8348471" y="640080"/>
            <a:ext cx="22860" cy="22860"/>
          </a:xfrm>
          <a:prstGeom prst="ellipse">
            <a:avLst/>
          </a:prstGeom>
          <a:solidFill>
            <a:srgbClr val="D7E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8348471" y="749808"/>
            <a:ext cx="22860" cy="22860"/>
          </a:xfrm>
          <a:prstGeom prst="ellipse">
            <a:avLst/>
          </a:prstGeom>
          <a:solidFill>
            <a:srgbClr val="D7E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8348471" y="859536"/>
            <a:ext cx="22860" cy="22860"/>
          </a:xfrm>
          <a:prstGeom prst="ellipse">
            <a:avLst/>
          </a:prstGeom>
          <a:solidFill>
            <a:srgbClr val="D7E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393192"/>
            <a:ext cx="109728" cy="182880"/>
          </a:xfrm>
          <a:prstGeom prst="rect">
            <a:avLst/>
          </a:prstGeom>
          <a:solidFill>
            <a:srgbClr val="839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338328"/>
            <a:ext cx="12618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บทที่ 1 / บทนำ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68680"/>
            <a:ext cx="1316736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32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ที่มาและความสำคัญของโครงงาน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7726679"/>
            <a:ext cx="13350240" cy="0"/>
          </a:xfrm>
          <a:prstGeom prst="line">
            <a:avLst/>
          </a:prstGeom>
          <a:ln w="8255">
            <a:solidFill>
              <a:srgbClr val="D9E1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7872983"/>
            <a:ext cx="54864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00" b="0">
                <a:solidFill>
                  <a:srgbClr val="637267"/>
                </a:solidFill>
                <a:latin typeface="Noto Sans"/>
                <a:ea typeface="Noto Sans Thai"/>
                <a:cs typeface="Noto Sans Thai"/>
              </a:rPr>
              <a:t>REBUILD  /  RESEARCH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04520" y="7827264"/>
            <a:ext cx="6858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300" b="1">
                <a:solidFill>
                  <a:srgbClr val="637267"/>
                </a:solidFill>
                <a:latin typeface="Noto Sans"/>
                <a:ea typeface="Noto Sans Thai"/>
                <a:cs typeface="Noto Sans Thai"/>
              </a:rPr>
              <a:t>02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965960"/>
            <a:ext cx="5925312" cy="5376672"/>
          </a:xfrm>
          <a:prstGeom prst="roundRect">
            <a:avLst>
              <a:gd name="adj" fmla="val 6000"/>
            </a:avLst>
          </a:prstGeom>
          <a:solidFill>
            <a:srgbClr val="ECF1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art-caddy.png"/>
          <p:cNvPicPr>
            <a:picLocks noChangeAspect="1"/>
          </p:cNvPicPr>
          <p:nvPr/>
        </p:nvPicPr>
        <p:blipFill>
          <a:blip r:embed="rId2"/>
          <a:srcRect t="15086" b="15086"/>
          <a:stretch>
            <a:fillRect/>
          </a:stretch>
        </p:blipFill>
        <p:spPr>
          <a:xfrm>
            <a:off x="9829800" y="2103120"/>
            <a:ext cx="3291840" cy="1517904"/>
          </a:xfrm>
          <a:prstGeom prst="rect">
            <a:avLst/>
          </a:prstGeom>
        </p:spPr>
      </p:pic>
      <p:pic>
        <p:nvPicPr>
          <p:cNvPr id="10" name="Picture 9" descr="icon-ArrowUpRight-19573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9056" y="2286000"/>
            <a:ext cx="749808" cy="749808"/>
          </a:xfrm>
          <a:prstGeom prst="rect">
            <a:avLst/>
          </a:prstGeom>
        </p:spPr>
      </p:pic>
      <p:pic>
        <p:nvPicPr>
          <p:cNvPr id="11" name="Picture 10" descr="icon-Package-19573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384" y="2331720"/>
            <a:ext cx="548640" cy="54864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554480" y="2331720"/>
            <a:ext cx="571500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2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ปัญหาที่ต้องการแก้ไข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3017520"/>
            <a:ext cx="57150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00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วัสดุในบ้าน เช่น กระดาษ กล่อง แกนกระดาษ และผ้าเก่า ยังนำมาทำของใช้ได้ แต่ผู้เริ่มต้นอาจไม่ทราบว่าจะเริ่มจากงานใดและต้องเตรียมอะไร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554480" y="4251960"/>
            <a:ext cx="5669280" cy="0"/>
          </a:xfrm>
          <a:prstGeom prst="line">
            <a:avLst/>
          </a:prstGeom>
          <a:ln w="12700">
            <a:solidFill>
              <a:srgbClr val="D9E1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14" descr="icon-CircleHelp-19573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6384" y="4645152"/>
            <a:ext cx="548640" cy="54864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554480" y="4645152"/>
            <a:ext cx="571500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2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ข้อจำกัดของการเริ่มทำงาน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5330952"/>
            <a:ext cx="57150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00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คำแนะนำที่กระจัดกระจายหรือไม่มีรายการวัสดุชัดเจน ทำให้วางแผนยาก จึงต้องการคู่มือที่เลือกอ่านและติดตามได้เป็นลำดับ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554480" y="6565392"/>
            <a:ext cx="5669280" cy="0"/>
          </a:xfrm>
          <a:prstGeom prst="line">
            <a:avLst/>
          </a:prstGeom>
          <a:ln w="12700">
            <a:solidFill>
              <a:srgbClr val="D9E1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8439912" y="3758184"/>
            <a:ext cx="5093208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1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แนวทางของ ReBuild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39912" y="4443984"/>
            <a:ext cx="5093208" cy="9418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5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จัดโครงงานตามประโยชน์ใช้งาน พร้อมวัสดุ คำอธิบาย ภาพประกอบ และการบันทึกแผน โดยเปิดอ่านได้แม้วัสดุยังไม่ครบ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39912" y="5477256"/>
            <a:ext cx="5093208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1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ความสำคัญต่อการศึกษา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39912" y="6163056"/>
            <a:ext cx="5093208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5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เชื่อมงานในชีวิตประจำวันกับการวางแผน ตรวจวัสดุ และสังเกตผล เป็นสื่อประกอบกิจกรรม ไม่ใช่หลักฐานว่าผลการเรียนรู้เพิ่มขึ้นแล้ว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393192"/>
            <a:ext cx="109728" cy="182880"/>
          </a:xfrm>
          <a:prstGeom prst="rect">
            <a:avLst/>
          </a:prstGeom>
          <a:solidFill>
            <a:srgbClr val="839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338328"/>
            <a:ext cx="12618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บทที่ 1 / บทนำ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68680"/>
            <a:ext cx="1316736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32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วัตถุประสงค์และสมมติฐานการวิจัย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7726679"/>
            <a:ext cx="13350240" cy="0"/>
          </a:xfrm>
          <a:prstGeom prst="line">
            <a:avLst/>
          </a:prstGeom>
          <a:ln w="8255">
            <a:solidFill>
              <a:srgbClr val="D9E1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7872983"/>
            <a:ext cx="54864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00" b="0">
                <a:solidFill>
                  <a:srgbClr val="637267"/>
                </a:solidFill>
                <a:latin typeface="Noto Sans"/>
                <a:ea typeface="Noto Sans Thai"/>
                <a:cs typeface="Noto Sans Thai"/>
              </a:rPr>
              <a:t>REBUILD  /  RESEARCH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04520" y="7827264"/>
            <a:ext cx="6858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300" b="1">
                <a:solidFill>
                  <a:srgbClr val="637267"/>
                </a:solidFill>
                <a:latin typeface="Noto Sans"/>
                <a:ea typeface="Noto Sans Thai"/>
                <a:cs typeface="Noto Sans Thai"/>
              </a:rPr>
              <a:t>03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115568" y="2395728"/>
            <a:ext cx="0" cy="4187952"/>
          </a:xfrm>
          <a:prstGeom prst="line">
            <a:avLst/>
          </a:prstGeom>
          <a:ln w="25400">
            <a:solidFill>
              <a:srgbClr val="839E6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740664" y="2258568"/>
            <a:ext cx="749808" cy="749808"/>
          </a:xfrm>
          <a:prstGeom prst="ellipse">
            <a:avLst/>
          </a:prstGeom>
          <a:solidFill>
            <a:srgbClr val="1957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441448"/>
            <a:ext cx="493776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000" b="1">
                <a:solidFill>
                  <a:srgbClr val="FFFFFF"/>
                </a:solidFill>
                <a:latin typeface="Noto Sans"/>
                <a:ea typeface="Noto Sans Thai"/>
                <a:cs typeface="Noto Sans Tha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2276856"/>
            <a:ext cx="658368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2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พัฒนาต้นแบบ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2962656"/>
            <a:ext cx="658368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00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พัฒนาเว็บสำหรับค้นหาโครงงานจากวัสดุในครัวเรือน อ่านคำแนะนำ และบันทึกแผนงานที่ใช้ได้ในชีวิตประจำวันและการศึกษา</a:t>
            </a:r>
          </a:p>
        </p:txBody>
      </p:sp>
      <p:sp>
        <p:nvSpPr>
          <p:cNvPr id="13" name="Oval 12"/>
          <p:cNvSpPr/>
          <p:nvPr/>
        </p:nvSpPr>
        <p:spPr>
          <a:xfrm>
            <a:off x="740664" y="3776472"/>
            <a:ext cx="749808" cy="749808"/>
          </a:xfrm>
          <a:prstGeom prst="ellipse">
            <a:avLst/>
          </a:prstGeom>
          <a:solidFill>
            <a:srgbClr val="839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959352"/>
            <a:ext cx="493776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000" b="1">
                <a:solidFill>
                  <a:srgbClr val="FFFFFF"/>
                </a:solidFill>
                <a:latin typeface="Noto Sans"/>
                <a:ea typeface="Noto Sans Thai"/>
                <a:cs typeface="Noto Sans Tha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3794759"/>
            <a:ext cx="658368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2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ตรวจสอบการทำงาน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4480559"/>
            <a:ext cx="658368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00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ตรวจฟังก์ชัน กฎข้อมูล API ฐานข้อมูล และเส้นทางใช้งานผ่านเบราว์เซอร์ภายใต้กรณีทดสอบที่กำหนด</a:t>
            </a:r>
          </a:p>
        </p:txBody>
      </p:sp>
      <p:sp>
        <p:nvSpPr>
          <p:cNvPr id="17" name="Oval 16"/>
          <p:cNvSpPr/>
          <p:nvPr/>
        </p:nvSpPr>
        <p:spPr>
          <a:xfrm>
            <a:off x="740664" y="5294376"/>
            <a:ext cx="749808" cy="749808"/>
          </a:xfrm>
          <a:prstGeom prst="ellipse">
            <a:avLst/>
          </a:prstGeom>
          <a:solidFill>
            <a:srgbClr val="1957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5477256"/>
            <a:ext cx="493776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000" b="1">
                <a:solidFill>
                  <a:srgbClr val="FFFFFF"/>
                </a:solidFill>
                <a:latin typeface="Noto Sans"/>
                <a:ea typeface="Noto Sans Thai"/>
                <a:cs typeface="Noto Sans Thai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5312664"/>
            <a:ext cx="658368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2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รวบรวมความคิดเห็น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800" y="5998464"/>
            <a:ext cx="658368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00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สรุปคะแนนและข้อความรีวิวที่เผยแพร่บนเว็บไซต์ เพื่อหาแนวทางปรับปรุงคำแนะนำ ภาพประกอบ และการใช้งาน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0" y="2139696"/>
            <a:ext cx="4828032" cy="4928616"/>
          </a:xfrm>
          <a:prstGeom prst="roundRect">
            <a:avLst>
              <a:gd name="adj" fmla="val 4000"/>
            </a:avLst>
          </a:prstGeom>
          <a:solidFill>
            <a:srgbClr val="1957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icon-Lightbulb-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2514600"/>
            <a:ext cx="832104" cy="832104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9601200" y="3584448"/>
            <a:ext cx="38862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400" b="1">
                <a:solidFill>
                  <a:srgbClr val="FFFFFF"/>
                </a:solidFill>
                <a:latin typeface="Noto Sans"/>
                <a:ea typeface="Noto Sans Thai"/>
                <a:cs typeface="Noto Sans Thai"/>
              </a:rPr>
              <a:t>สมมติฐานเชิงพัฒนา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4517136"/>
            <a:ext cx="3858768" cy="1965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000" b="0">
                <a:solidFill>
                  <a:srgbClr val="FFFFFF"/>
                </a:solidFill>
                <a:latin typeface="Noto Sans"/>
                <a:ea typeface="Noto Sans Thai"/>
                <a:cs typeface="Noto Sans Thai"/>
              </a:rPr>
              <a:t>คาดว่าคู่มือเป็นลำดับจะช่วยให้ผู้ใช้วางแผนได้สะดวกขึ้น ข้อมูลครั้งนี้ประเมินระบบและข้อคิดเห็น ยังไม่ยืนยันผลเชิงเหตุและผลหรือความเร็วที่เพิ่มขึ้น</a:t>
            </a:r>
          </a:p>
        </p:txBody>
      </p:sp>
      <p:sp>
        <p:nvSpPr>
          <p:cNvPr id="25" name="Oval 24"/>
          <p:cNvSpPr/>
          <p:nvPr/>
        </p:nvSpPr>
        <p:spPr>
          <a:xfrm>
            <a:off x="12957048" y="6483096"/>
            <a:ext cx="22860" cy="22860"/>
          </a:xfrm>
          <a:prstGeom prst="ellipse">
            <a:avLst/>
          </a:prstGeom>
          <a:solidFill>
            <a:srgbClr val="D7E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2957048" y="6592824"/>
            <a:ext cx="22860" cy="22860"/>
          </a:xfrm>
          <a:prstGeom prst="ellipse">
            <a:avLst/>
          </a:prstGeom>
          <a:solidFill>
            <a:srgbClr val="D7E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2957048" y="6702552"/>
            <a:ext cx="22860" cy="22860"/>
          </a:xfrm>
          <a:prstGeom prst="ellipse">
            <a:avLst/>
          </a:prstGeom>
          <a:solidFill>
            <a:srgbClr val="D7E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2957048" y="6812280"/>
            <a:ext cx="22860" cy="22860"/>
          </a:xfrm>
          <a:prstGeom prst="ellipse">
            <a:avLst/>
          </a:prstGeom>
          <a:solidFill>
            <a:srgbClr val="D7E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3066776" y="6483096"/>
            <a:ext cx="22860" cy="22860"/>
          </a:xfrm>
          <a:prstGeom prst="ellipse">
            <a:avLst/>
          </a:prstGeom>
          <a:solidFill>
            <a:srgbClr val="D7E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3066776" y="6592824"/>
            <a:ext cx="22860" cy="22860"/>
          </a:xfrm>
          <a:prstGeom prst="ellipse">
            <a:avLst/>
          </a:prstGeom>
          <a:solidFill>
            <a:srgbClr val="D7E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3066776" y="6702552"/>
            <a:ext cx="22860" cy="22860"/>
          </a:xfrm>
          <a:prstGeom prst="ellipse">
            <a:avLst/>
          </a:prstGeom>
          <a:solidFill>
            <a:srgbClr val="D7E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3066776" y="6812280"/>
            <a:ext cx="22860" cy="22860"/>
          </a:xfrm>
          <a:prstGeom prst="ellipse">
            <a:avLst/>
          </a:prstGeom>
          <a:solidFill>
            <a:srgbClr val="D7E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3176504" y="6483096"/>
            <a:ext cx="22860" cy="22860"/>
          </a:xfrm>
          <a:prstGeom prst="ellipse">
            <a:avLst/>
          </a:prstGeom>
          <a:solidFill>
            <a:srgbClr val="D7E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3176504" y="6592824"/>
            <a:ext cx="22860" cy="22860"/>
          </a:xfrm>
          <a:prstGeom prst="ellipse">
            <a:avLst/>
          </a:prstGeom>
          <a:solidFill>
            <a:srgbClr val="D7E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3176504" y="6702552"/>
            <a:ext cx="22860" cy="22860"/>
          </a:xfrm>
          <a:prstGeom prst="ellipse">
            <a:avLst/>
          </a:prstGeom>
          <a:solidFill>
            <a:srgbClr val="D7E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3176504" y="6812280"/>
            <a:ext cx="22860" cy="22860"/>
          </a:xfrm>
          <a:prstGeom prst="ellipse">
            <a:avLst/>
          </a:prstGeom>
          <a:solidFill>
            <a:srgbClr val="D7E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3286232" y="6483096"/>
            <a:ext cx="22860" cy="22860"/>
          </a:xfrm>
          <a:prstGeom prst="ellipse">
            <a:avLst/>
          </a:prstGeom>
          <a:solidFill>
            <a:srgbClr val="D7E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3286232" y="6592824"/>
            <a:ext cx="22860" cy="22860"/>
          </a:xfrm>
          <a:prstGeom prst="ellipse">
            <a:avLst/>
          </a:prstGeom>
          <a:solidFill>
            <a:srgbClr val="D7E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3286232" y="6702552"/>
            <a:ext cx="22860" cy="22860"/>
          </a:xfrm>
          <a:prstGeom prst="ellipse">
            <a:avLst/>
          </a:prstGeom>
          <a:solidFill>
            <a:srgbClr val="D7E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3286232" y="6812280"/>
            <a:ext cx="22860" cy="22860"/>
          </a:xfrm>
          <a:prstGeom prst="ellipse">
            <a:avLst/>
          </a:prstGeom>
          <a:solidFill>
            <a:srgbClr val="D7E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3395960" y="6483096"/>
            <a:ext cx="22860" cy="22860"/>
          </a:xfrm>
          <a:prstGeom prst="ellipse">
            <a:avLst/>
          </a:prstGeom>
          <a:solidFill>
            <a:srgbClr val="D7E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3395960" y="6592824"/>
            <a:ext cx="22860" cy="22860"/>
          </a:xfrm>
          <a:prstGeom prst="ellipse">
            <a:avLst/>
          </a:prstGeom>
          <a:solidFill>
            <a:srgbClr val="D7E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3395960" y="6702552"/>
            <a:ext cx="22860" cy="22860"/>
          </a:xfrm>
          <a:prstGeom prst="ellipse">
            <a:avLst/>
          </a:prstGeom>
          <a:solidFill>
            <a:srgbClr val="D7E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3395960" y="6812280"/>
            <a:ext cx="22860" cy="22860"/>
          </a:xfrm>
          <a:prstGeom prst="ellipse">
            <a:avLst/>
          </a:prstGeom>
          <a:solidFill>
            <a:srgbClr val="D7E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3505688" y="6483096"/>
            <a:ext cx="22860" cy="22860"/>
          </a:xfrm>
          <a:prstGeom prst="ellipse">
            <a:avLst/>
          </a:prstGeom>
          <a:solidFill>
            <a:srgbClr val="D7E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3505688" y="6592824"/>
            <a:ext cx="22860" cy="22860"/>
          </a:xfrm>
          <a:prstGeom prst="ellipse">
            <a:avLst/>
          </a:prstGeom>
          <a:solidFill>
            <a:srgbClr val="D7E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13505688" y="6702552"/>
            <a:ext cx="22860" cy="22860"/>
          </a:xfrm>
          <a:prstGeom prst="ellipse">
            <a:avLst/>
          </a:prstGeom>
          <a:solidFill>
            <a:srgbClr val="D7E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13505688" y="6812280"/>
            <a:ext cx="22860" cy="22860"/>
          </a:xfrm>
          <a:prstGeom prst="ellipse">
            <a:avLst/>
          </a:prstGeom>
          <a:solidFill>
            <a:srgbClr val="D7E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EAD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393192"/>
            <a:ext cx="109728" cy="182880"/>
          </a:xfrm>
          <a:prstGeom prst="rect">
            <a:avLst/>
          </a:prstGeom>
          <a:solidFill>
            <a:srgbClr val="839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338328"/>
            <a:ext cx="12618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บทที่ 1 / บทนำ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68680"/>
            <a:ext cx="1316736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32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ขอบเขตและประโยชน์ที่คาดว่าจะได้รับ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7726679"/>
            <a:ext cx="13350240" cy="0"/>
          </a:xfrm>
          <a:prstGeom prst="line">
            <a:avLst/>
          </a:prstGeom>
          <a:ln w="8255">
            <a:solidFill>
              <a:srgbClr val="D9E1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7872983"/>
            <a:ext cx="54864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00" b="0">
                <a:solidFill>
                  <a:srgbClr val="637267"/>
                </a:solidFill>
                <a:latin typeface="Noto Sans"/>
                <a:ea typeface="Noto Sans Thai"/>
                <a:cs typeface="Noto Sans Thai"/>
              </a:rPr>
              <a:t>REBUILD  /  RESEARCH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04520" y="7827264"/>
            <a:ext cx="6858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300" b="1">
                <a:solidFill>
                  <a:srgbClr val="637267"/>
                </a:solidFill>
                <a:latin typeface="Noto Sans"/>
                <a:ea typeface="Noto Sans Thai"/>
                <a:cs typeface="Noto Sans Thai"/>
              </a:rPr>
              <a:t>04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4944" y="2103120"/>
            <a:ext cx="5212080" cy="5120640"/>
          </a:xfrm>
          <a:prstGeom prst="roundRect">
            <a:avLst>
              <a:gd name="adj" fmla="val 4000"/>
            </a:avLst>
          </a:prstGeom>
          <a:solidFill>
            <a:srgbClr val="1957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313432"/>
            <a:ext cx="2011680" cy="9784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6400" b="1">
                <a:solidFill>
                  <a:srgbClr val="FFFFFF"/>
                </a:solidFill>
                <a:latin typeface="Noto Sans"/>
                <a:ea typeface="Noto Sans Thai"/>
                <a:cs typeface="Noto Sans Thai"/>
              </a:rPr>
              <a:t>37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83864" y="2313432"/>
            <a:ext cx="2011680" cy="9784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6400" b="1">
                <a:solidFill>
                  <a:srgbClr val="FFFFFF"/>
                </a:solidFill>
                <a:latin typeface="Noto Sans"/>
                <a:ea typeface="Noto Sans Thai"/>
                <a:cs typeface="Noto Sans Thai"/>
              </a:rPr>
              <a:t>94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1" y="3401568"/>
            <a:ext cx="199339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300" b="0">
                <a:solidFill>
                  <a:srgbClr val="FFFFFF"/>
                </a:solidFill>
                <a:latin typeface="Noto Sans"/>
                <a:ea typeface="Noto Sans Thai"/>
                <a:cs typeface="Noto Sans Thai"/>
              </a:rPr>
              <a:t>โครงงาน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83864" y="3401568"/>
            <a:ext cx="2057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300" b="0">
                <a:solidFill>
                  <a:srgbClr val="FFFFFF"/>
                </a:solidFill>
                <a:latin typeface="Noto Sans"/>
                <a:ea typeface="Noto Sans Thai"/>
                <a:cs typeface="Noto Sans Thai"/>
              </a:rPr>
              <a:t>ประเภทวัสดุ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005840" y="4096512"/>
            <a:ext cx="4562856" cy="0"/>
          </a:xfrm>
          <a:prstGeom prst="line">
            <a:avLst/>
          </a:prstGeom>
          <a:ln w="12700">
            <a:solidFill>
              <a:srgbClr val="7391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024128" y="4507992"/>
            <a:ext cx="4535424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200" b="0">
                <a:solidFill>
                  <a:srgbClr val="FFFFFF"/>
                </a:solidFill>
                <a:latin typeface="Noto Sans"/>
                <a:ea typeface="Noto Sans Thai"/>
                <a:cs typeface="Noto Sans Thai"/>
              </a:rPr>
              <a:t>จัดบ้าน ทำความสะอาด ซ่อมของ งานประดิษฐ์ ปลูกต้นไม้ วิทยาศาสตร์ และอิเล็กทรอนิกส์</a:t>
            </a:r>
          </a:p>
        </p:txBody>
      </p:sp>
      <p:pic>
        <p:nvPicPr>
          <p:cNvPr id="15" name="Picture 14" descr="icon-House-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6217920"/>
            <a:ext cx="521207" cy="521207"/>
          </a:xfrm>
          <a:prstGeom prst="rect">
            <a:avLst/>
          </a:prstGeom>
        </p:spPr>
      </p:pic>
      <p:pic>
        <p:nvPicPr>
          <p:cNvPr id="16" name="Picture 15" descr="icon-Wrench-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6272" y="6217920"/>
            <a:ext cx="521207" cy="521207"/>
          </a:xfrm>
          <a:prstGeom prst="rect">
            <a:avLst/>
          </a:prstGeom>
        </p:spPr>
      </p:pic>
      <p:pic>
        <p:nvPicPr>
          <p:cNvPr id="17" name="Picture 16" descr="icon-Sprout-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55264" y="6217920"/>
            <a:ext cx="521207" cy="521207"/>
          </a:xfrm>
          <a:prstGeom prst="rect">
            <a:avLst/>
          </a:prstGeom>
        </p:spPr>
      </p:pic>
      <p:pic>
        <p:nvPicPr>
          <p:cNvPr id="18" name="Picture 17" descr="icon-FlaskConical-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34256" y="6217920"/>
            <a:ext cx="521207" cy="521207"/>
          </a:xfrm>
          <a:prstGeom prst="rect">
            <a:avLst/>
          </a:prstGeom>
        </p:spPr>
      </p:pic>
      <p:pic>
        <p:nvPicPr>
          <p:cNvPr id="19" name="Picture 18" descr="icon-Globe-19573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55664" y="2194560"/>
            <a:ext cx="512064" cy="512064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7187184" y="2167128"/>
            <a:ext cx="6519672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2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ขอบเขตการใช้งาน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87184" y="2752344"/>
            <a:ext cx="6519672" cy="11064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7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เว็บภาษาไทย/อังกฤษ ค้นหาโครงงาน คลังวัสดุ คู่มือ บันทึกแผน บัญชี และรีวิวที่ต้องอนุมัติก่อนเผยแพร่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178040" y="3602736"/>
            <a:ext cx="6537960" cy="0"/>
          </a:xfrm>
          <a:prstGeom prst="line">
            <a:avLst/>
          </a:prstGeom>
          <a:ln w="12700">
            <a:solidFill>
              <a:srgbClr val="D4CC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Picture 22" descr="icon-Users-19573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55664" y="3941064"/>
            <a:ext cx="512064" cy="512064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187184" y="3913632"/>
            <a:ext cx="6519672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2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ขอบเขตข้อมูลที่นำเสนอ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87184" y="4498848"/>
            <a:ext cx="6519672" cy="11064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7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ข้อมูลวันที่ 3 ตุลาคม 2569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7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ผู้จัดทำแจ้งผู้ทดลอง 20 คน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7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วิเคราะห์รีวิวที่เผยแพร่ 21 รายการ และผลทดสอบซอฟต์แวร์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178040" y="5696712"/>
            <a:ext cx="6537960" cy="0"/>
          </a:xfrm>
          <a:prstGeom prst="line">
            <a:avLst/>
          </a:prstGeom>
          <a:ln w="12700">
            <a:solidFill>
              <a:srgbClr val="D4CC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7" name="Picture 26" descr="icon-Target-19573C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55664" y="5952744"/>
            <a:ext cx="512064" cy="512064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7187184" y="5925312"/>
            <a:ext cx="6519672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2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ประโยชน์ที่คาดหวัง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87184" y="6510528"/>
            <a:ext cx="6519672" cy="11064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7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ผู้ใช้เลือกเตรียมงานได้เป็นระบบ ครูและนักเรียนมีสื่อกิจกรรม และผู้พัฒนามีประเด็นสำหรับปรับปรุงต้นแบบ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393192"/>
            <a:ext cx="109728" cy="182880"/>
          </a:xfrm>
          <a:prstGeom prst="rect">
            <a:avLst/>
          </a:prstGeom>
          <a:solidFill>
            <a:srgbClr val="839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338328"/>
            <a:ext cx="12618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บทที่ 2 / แนวคิดและเอกสารที่เกี่ยวข้อง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68680"/>
            <a:ext cx="1316736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32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แนวคิดหลักที่ใช้ในการออกแบบ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7726679"/>
            <a:ext cx="13350240" cy="0"/>
          </a:xfrm>
          <a:prstGeom prst="line">
            <a:avLst/>
          </a:prstGeom>
          <a:ln w="8255">
            <a:solidFill>
              <a:srgbClr val="D9E1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7872983"/>
            <a:ext cx="54864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00" b="0">
                <a:solidFill>
                  <a:srgbClr val="637267"/>
                </a:solidFill>
                <a:latin typeface="Noto Sans"/>
                <a:ea typeface="Noto Sans Thai"/>
                <a:cs typeface="Noto Sans Thai"/>
              </a:rPr>
              <a:t>REBUILD  /  RESEARCH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04520" y="7827264"/>
            <a:ext cx="6858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300" b="1">
                <a:solidFill>
                  <a:srgbClr val="637267"/>
                </a:solidFill>
                <a:latin typeface="Noto Sans"/>
                <a:ea typeface="Noto Sans Thai"/>
                <a:cs typeface="Noto Sans Thai"/>
              </a:rPr>
              <a:t>05</a:t>
            </a:r>
          </a:p>
        </p:txBody>
      </p:sp>
      <p:sp>
        <p:nvSpPr>
          <p:cNvPr id="8" name="Oval 7"/>
          <p:cNvSpPr/>
          <p:nvPr/>
        </p:nvSpPr>
        <p:spPr>
          <a:xfrm>
            <a:off x="5257800" y="2834640"/>
            <a:ext cx="4114800" cy="4114800"/>
          </a:xfrm>
          <a:prstGeom prst="ellipse">
            <a:avLst/>
          </a:prstGeom>
          <a:noFill/>
          <a:ln w="12700">
            <a:solidFill>
              <a:srgbClr val="D9E1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788152" y="3364992"/>
            <a:ext cx="3054096" cy="3054096"/>
          </a:xfrm>
          <a:prstGeom prst="ellipse">
            <a:avLst/>
          </a:prstGeom>
          <a:solidFill>
            <a:srgbClr val="ECF1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con-Sprout-19573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2824" y="3858768"/>
            <a:ext cx="1463040" cy="14630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26480" y="5495544"/>
            <a:ext cx="23774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</a:pPr>
            <a:r>
              <a:rPr sz="28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ReBuild</a:t>
            </a:r>
          </a:p>
        </p:txBody>
      </p:sp>
      <p:pic>
        <p:nvPicPr>
          <p:cNvPr id="12" name="Picture 11" descr="icon-Recycle-19573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2560320"/>
            <a:ext cx="557784" cy="55778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600200" y="2578608"/>
            <a:ext cx="3291840" cy="7680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1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การนำวัสดุกลับมาใช้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502152"/>
            <a:ext cx="4023360" cy="1408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5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พิจารณาสภาพ ขนาด และคุณสมบัติของวัสดุให้เหมาะกับงาน พร้อมข้อจำกัดก่อนลงมือ ไม่ตัดสินจากชื่อวัสดุเพียงอย่างเดียว</a:t>
            </a:r>
          </a:p>
        </p:txBody>
      </p:sp>
      <p:pic>
        <p:nvPicPr>
          <p:cNvPr id="15" name="Picture 14" descr="icon-FlaskConical-19573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84080" y="2560320"/>
            <a:ext cx="557784" cy="55778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0515600" y="2578608"/>
            <a:ext cx="3291840" cy="7680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1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การเรียนรู้ผ่านกิจกรรม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84080" y="3502152"/>
            <a:ext cx="4023360" cy="1408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5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เชื่อมเป้าหมายกับการวางแผน เตรียมของ ทำตามขั้น และตรวจสิ่งที่สังเกตได้ แนวคิดนี้ใช้ในการออกแบบคู่มือ</a:t>
            </a:r>
          </a:p>
        </p:txBody>
      </p:sp>
      <p:pic>
        <p:nvPicPr>
          <p:cNvPr id="18" name="Picture 17" descr="icon-BookOpen-19573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5138928"/>
            <a:ext cx="557784" cy="557784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600200" y="5157216"/>
            <a:ext cx="3291840" cy="7680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1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คู่มือแบบเป็นลำดับ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6080760"/>
            <a:ext cx="4023360" cy="1408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5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แบ่งงานเป็นขั้นย่อย มีคำอธิบาย ภาพ และจุดตรวจ เพื่อให้ผู้ใช้ติดตาม ย้อนอ่าน และกลับมาทำต่อได้</a:t>
            </a:r>
          </a:p>
        </p:txBody>
      </p:sp>
      <p:pic>
        <p:nvPicPr>
          <p:cNvPr id="21" name="Picture 20" descr="icon-Users-19573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84080" y="5138928"/>
            <a:ext cx="557784" cy="557784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0515600" y="5157216"/>
            <a:ext cx="3291840" cy="7680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1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การออกแบบเพื่อผู้เริ่มต้น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84080" y="6080760"/>
            <a:ext cx="4023360" cy="1408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5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เริ่มจากประโยชน์ที่อยากได้ ใช้หมวดหมู่เข้าใจง่าย และไม่บังคับให้กรอกวัสดุครบก่อนเข้าถึงเนื้อหา</a:t>
            </a:r>
          </a:p>
        </p:txBody>
      </p:sp>
      <p:sp>
        <p:nvSpPr>
          <p:cNvPr id="24" name="Oval 23"/>
          <p:cNvSpPr/>
          <p:nvPr/>
        </p:nvSpPr>
        <p:spPr>
          <a:xfrm>
            <a:off x="5468112" y="3493008"/>
            <a:ext cx="256032" cy="256032"/>
          </a:xfrm>
          <a:prstGeom prst="ellipse">
            <a:avLst/>
          </a:prstGeom>
          <a:solidFill>
            <a:srgbClr val="839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869680" y="3493008"/>
            <a:ext cx="256032" cy="256032"/>
          </a:xfrm>
          <a:prstGeom prst="ellipse">
            <a:avLst/>
          </a:prstGeom>
          <a:solidFill>
            <a:srgbClr val="839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468112" y="6263640"/>
            <a:ext cx="256032" cy="256032"/>
          </a:xfrm>
          <a:prstGeom prst="ellipse">
            <a:avLst/>
          </a:prstGeom>
          <a:solidFill>
            <a:srgbClr val="839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869680" y="6263640"/>
            <a:ext cx="256032" cy="256032"/>
          </a:xfrm>
          <a:prstGeom prst="ellipse">
            <a:avLst/>
          </a:prstGeom>
          <a:solidFill>
            <a:srgbClr val="839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F1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393192"/>
            <a:ext cx="109728" cy="182880"/>
          </a:xfrm>
          <a:prstGeom prst="rect">
            <a:avLst/>
          </a:prstGeom>
          <a:solidFill>
            <a:srgbClr val="839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338328"/>
            <a:ext cx="12618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บทที่ 2 / แนวคิดและเอกสารที่เกี่ยวข้อง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68680"/>
            <a:ext cx="1316736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32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เอกสารและตัวอย่างระบบที่เกี่ยวข้อง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7726679"/>
            <a:ext cx="13350240" cy="0"/>
          </a:xfrm>
          <a:prstGeom prst="line">
            <a:avLst/>
          </a:prstGeom>
          <a:ln w="8255">
            <a:solidFill>
              <a:srgbClr val="D9E1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7872983"/>
            <a:ext cx="54864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00" b="0">
                <a:solidFill>
                  <a:srgbClr val="637267"/>
                </a:solidFill>
                <a:latin typeface="Noto Sans"/>
                <a:ea typeface="Noto Sans Thai"/>
                <a:cs typeface="Noto Sans Thai"/>
              </a:rPr>
              <a:t>REBUILD  /  RESEARCH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04520" y="7827264"/>
            <a:ext cx="6858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300" b="1">
                <a:solidFill>
                  <a:srgbClr val="637267"/>
                </a:solidFill>
                <a:latin typeface="Noto Sans"/>
                <a:ea typeface="Noto Sans Thai"/>
                <a:cs typeface="Noto Sans Thai"/>
              </a:rPr>
              <a:t>06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2203704"/>
            <a:ext cx="3127248" cy="4507992"/>
          </a:xfrm>
          <a:prstGeom prst="roundRect">
            <a:avLst>
              <a:gd name="adj" fmla="val 2000"/>
            </a:avLst>
          </a:prstGeom>
          <a:solidFill>
            <a:srgbClr val="FCF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13232" y="2203704"/>
            <a:ext cx="100584" cy="4507992"/>
          </a:xfrm>
          <a:prstGeom prst="rect">
            <a:avLst/>
          </a:prstGeom>
          <a:solidFill>
            <a:srgbClr val="1957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con-BookOpen-19573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" y="2514600"/>
            <a:ext cx="658368" cy="65836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770632" y="2587752"/>
            <a:ext cx="777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2400" b="1">
                <a:solidFill>
                  <a:srgbClr val="B59C70"/>
                </a:solidFill>
                <a:latin typeface="Noto Sans"/>
                <a:ea typeface="Noto Sans Thai"/>
                <a:cs typeface="Noto Sans Thai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6696" y="3401568"/>
            <a:ext cx="2551176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0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Instructables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0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ตัวอย่างที่ได้รับ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6696" y="4389120"/>
            <a:ext cx="2551176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รูปแบบบทนำ วัสดุ ภาพรายขั้น และพื้นที่แบ่งปันผลงาน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96696" y="5596128"/>
            <a:ext cx="2523743" cy="0"/>
          </a:xfrm>
          <a:prstGeom prst="line">
            <a:avLst/>
          </a:prstGeom>
          <a:ln w="12700">
            <a:solidFill>
              <a:srgbClr val="D9E1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996696" y="5788152"/>
            <a:ext cx="2551176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637267"/>
                </a:solidFill>
                <a:latin typeface="Noto Sans"/>
                <a:ea typeface="Noto Sans Thai"/>
                <a:cs typeface="Noto Sans Thai"/>
              </a:rPr>
              <a:t>เป็นตัวอย่างการนำเสนอ ไม่ใช่ผลวิจัยของ ReBuild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087368" y="2203704"/>
            <a:ext cx="3127248" cy="4507992"/>
          </a:xfrm>
          <a:prstGeom prst="roundRect">
            <a:avLst>
              <a:gd name="adj" fmla="val 2000"/>
            </a:avLst>
          </a:prstGeom>
          <a:solidFill>
            <a:srgbClr val="FCF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087368" y="2203704"/>
            <a:ext cx="100584" cy="4507992"/>
          </a:xfrm>
          <a:prstGeom prst="rect">
            <a:avLst/>
          </a:prstGeom>
          <a:solidFill>
            <a:srgbClr val="839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con-CircuitBoard-19573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1688" y="2514600"/>
            <a:ext cx="658368" cy="658368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144768" y="2587752"/>
            <a:ext cx="777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2400" b="1">
                <a:solidFill>
                  <a:srgbClr val="B59C70"/>
                </a:solidFill>
                <a:latin typeface="Noto Sans"/>
                <a:ea typeface="Noto Sans Thai"/>
                <a:cs typeface="Noto Sans Thai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70831" y="3401568"/>
            <a:ext cx="2551176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0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Arduino Documentation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70831" y="4389120"/>
            <a:ext cx="2551176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อุปกรณ์ วงจร และขั้นตอนโครงงานอิเล็กทรอนิกส์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370831" y="5596128"/>
            <a:ext cx="2523744" cy="0"/>
          </a:xfrm>
          <a:prstGeom prst="line">
            <a:avLst/>
          </a:prstGeom>
          <a:ln w="12700">
            <a:solidFill>
              <a:srgbClr val="D9E1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4370831" y="5788152"/>
            <a:ext cx="2551176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637267"/>
                </a:solidFill>
                <a:latin typeface="Noto Sans"/>
                <a:ea typeface="Noto Sans Thai"/>
                <a:cs typeface="Noto Sans Thai"/>
              </a:rPr>
              <a:t>ตรวจเนื้อหาจากเอกสาร ไม่เท่ากับทดลองวงจรจริง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461504" y="2203704"/>
            <a:ext cx="3127248" cy="4507992"/>
          </a:xfrm>
          <a:prstGeom prst="roundRect">
            <a:avLst>
              <a:gd name="adj" fmla="val 2000"/>
            </a:avLst>
          </a:prstGeom>
          <a:solidFill>
            <a:srgbClr val="FCF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461504" y="2203704"/>
            <a:ext cx="100584" cy="4507992"/>
          </a:xfrm>
          <a:prstGeom prst="rect">
            <a:avLst/>
          </a:prstGeom>
          <a:solidFill>
            <a:srgbClr val="B59C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con-Rocket-19573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35824" y="2514600"/>
            <a:ext cx="658368" cy="65836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9518904" y="2587752"/>
            <a:ext cx="777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2400" b="1">
                <a:solidFill>
                  <a:srgbClr val="B59C70"/>
                </a:solidFill>
                <a:latin typeface="Noto Sans"/>
                <a:ea typeface="Noto Sans Thai"/>
                <a:cs typeface="Noto Sans Thai"/>
              </a:rPr>
              <a:t>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44968" y="3401568"/>
            <a:ext cx="2551176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0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NASA JPL Education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44968" y="4389120"/>
            <a:ext cx="2551176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กิจกรรม Make a Straw Rocket และแนวทางสังเกตผล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744968" y="5596128"/>
            <a:ext cx="2523744" cy="0"/>
          </a:xfrm>
          <a:prstGeom prst="line">
            <a:avLst/>
          </a:prstGeom>
          <a:ln w="12700">
            <a:solidFill>
              <a:srgbClr val="D9E1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7744968" y="5788152"/>
            <a:ext cx="2551176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637267"/>
                </a:solidFill>
                <a:latin typeface="Noto Sans"/>
                <a:ea typeface="Noto Sans Thai"/>
                <a:cs typeface="Noto Sans Thai"/>
              </a:rPr>
              <a:t>แหล่งคู่มือกิจกรรมที่ระบุที่มา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835640" y="2203704"/>
            <a:ext cx="3127248" cy="4507992"/>
          </a:xfrm>
          <a:prstGeom prst="roundRect">
            <a:avLst>
              <a:gd name="adj" fmla="val 2000"/>
            </a:avLst>
          </a:prstGeom>
          <a:solidFill>
            <a:srgbClr val="FCF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0835640" y="2203704"/>
            <a:ext cx="100584" cy="4507992"/>
          </a:xfrm>
          <a:prstGeom prst="rect">
            <a:avLst/>
          </a:prstGeom>
          <a:solidFill>
            <a:srgbClr val="1957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icon-Folder-19573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0" y="2514600"/>
            <a:ext cx="658368" cy="658368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12893040" y="2587752"/>
            <a:ext cx="777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2400" b="1">
                <a:solidFill>
                  <a:srgbClr val="B59C70"/>
                </a:solidFill>
                <a:latin typeface="Noto Sans"/>
                <a:ea typeface="Noto Sans Thai"/>
                <a:cs typeface="Noto Sans Thai"/>
              </a:rPr>
              <a:t>04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119104" y="3401568"/>
            <a:ext cx="2551176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0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ReBuild / เอกสารโครงการ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119104" y="4389120"/>
            <a:ext cx="2551176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ข้อมูลวัสดุ คู่มือ สถาปัตยกรรม และรายงานทดสอบ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11119104" y="5596128"/>
            <a:ext cx="2523744" cy="0"/>
          </a:xfrm>
          <a:prstGeom prst="line">
            <a:avLst/>
          </a:prstGeom>
          <a:ln w="12700">
            <a:solidFill>
              <a:srgbClr val="D9E1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11119104" y="5788152"/>
            <a:ext cx="2551176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637267"/>
                </a:solidFill>
                <a:latin typeface="Noto Sans"/>
                <a:ea typeface="Noto Sans Thai"/>
                <a:cs typeface="Noto Sans Thai"/>
              </a:rPr>
              <a:t>หลักฐานการพัฒนาซอฟต์แวร์รุ่นที่ตรวจ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7196328"/>
            <a:ext cx="1316736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50" b="0">
                <a:solidFill>
                  <a:srgbClr val="637267"/>
                </a:solidFill>
                <a:latin typeface="Noto Sans"/>
                <a:ea typeface="Noto Sans Thai"/>
                <a:cs typeface="Noto Sans Thai"/>
              </a:rPr>
              <a:t>บทนี้สังเคราะห์แนวคิดและเอกสารพัฒนา • ยังไม่มีการทบทวนงานวิจัยเชิงประจักษ์เพียงพอสำหรับอ้างผลเปรียบเทียบ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3E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393192"/>
            <a:ext cx="109728" cy="182880"/>
          </a:xfrm>
          <a:prstGeom prst="rect">
            <a:avLst/>
          </a:prstGeom>
          <a:solidFill>
            <a:srgbClr val="839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338328"/>
            <a:ext cx="12618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00" b="1">
                <a:solidFill>
                  <a:srgbClr val="D7E3C9"/>
                </a:solidFill>
                <a:latin typeface="Noto Sans"/>
                <a:ea typeface="Noto Sans Thai"/>
                <a:cs typeface="Noto Sans Thai"/>
              </a:rPr>
              <a:t>บทที่ 2 / แนวคิดและเอกสารที่เกี่ยวข้อง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68680"/>
            <a:ext cx="1316736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3200" b="1">
                <a:solidFill>
                  <a:srgbClr val="FFFFFF"/>
                </a:solidFill>
                <a:latin typeface="Noto Sans"/>
                <a:ea typeface="Noto Sans Thai"/>
                <a:cs typeface="Noto Sans Thai"/>
              </a:rPr>
              <a:t>กรอบแนวคิดและนิยามการประเมิน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7726679"/>
            <a:ext cx="13350240" cy="0"/>
          </a:xfrm>
          <a:prstGeom prst="line">
            <a:avLst/>
          </a:prstGeom>
          <a:ln w="8255">
            <a:solidFill>
              <a:srgbClr val="41614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7872983"/>
            <a:ext cx="54864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00" b="0">
                <a:solidFill>
                  <a:srgbClr val="D7E3C9"/>
                </a:solidFill>
                <a:latin typeface="Noto Sans"/>
                <a:ea typeface="Noto Sans Thai"/>
                <a:cs typeface="Noto Sans Thai"/>
              </a:rPr>
              <a:t>REBUILD  /  RESEARCH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04520" y="7827264"/>
            <a:ext cx="6858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300" b="1">
                <a:solidFill>
                  <a:srgbClr val="D7E3C9"/>
                </a:solidFill>
                <a:latin typeface="Noto Sans"/>
                <a:ea typeface="Noto Sans Thai"/>
                <a:cs typeface="Noto Sans Thai"/>
              </a:rPr>
              <a:t>07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280160" y="3319272"/>
            <a:ext cx="11814048" cy="0"/>
          </a:xfrm>
          <a:prstGeom prst="line">
            <a:avLst/>
          </a:prstGeom>
          <a:ln w="25400">
            <a:solidFill>
              <a:srgbClr val="7293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868680" y="2679192"/>
            <a:ext cx="1280160" cy="1280160"/>
          </a:xfrm>
          <a:prstGeom prst="ellipse">
            <a:avLst/>
          </a:prstGeom>
          <a:solidFill>
            <a:srgbClr val="285C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con-Package-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2144" y="2962656"/>
            <a:ext cx="704088" cy="7040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423160" y="2907792"/>
            <a:ext cx="1828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3400" b="1">
                <a:solidFill>
                  <a:srgbClr val="D7E3C9"/>
                </a:solidFill>
                <a:latin typeface="Noto Sans"/>
                <a:ea typeface="Noto Sans Thai"/>
                <a:cs typeface="Noto Sans Thai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315968"/>
            <a:ext cx="4114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800" b="1">
                <a:solidFill>
                  <a:srgbClr val="FFFFFF"/>
                </a:solidFill>
                <a:latin typeface="Noto Sans"/>
                <a:ea typeface="Noto Sans Thai"/>
                <a:cs typeface="Noto Sans Thai"/>
              </a:rPr>
              <a:t>ปัจจัยนำเข้า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5148072"/>
            <a:ext cx="3977639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100" b="0">
                <a:solidFill>
                  <a:srgbClr val="FFFFFF"/>
                </a:solidFill>
                <a:latin typeface="Noto Sans"/>
                <a:ea typeface="Noto Sans Thai"/>
                <a:cs typeface="Noto Sans Thai"/>
              </a:rPr>
              <a:t>ความต้องการผู้เริ่มต้น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100" b="0">
                <a:solidFill>
                  <a:srgbClr val="FFFFFF"/>
                </a:solidFill>
                <a:latin typeface="Noto Sans"/>
                <a:ea typeface="Noto Sans Thai"/>
                <a:cs typeface="Noto Sans Thai"/>
              </a:rPr>
              <a:t>วัสดุและข้อมูลโครงงาน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100" b="0">
                <a:solidFill>
                  <a:srgbClr val="FFFFFF"/>
                </a:solidFill>
                <a:latin typeface="Noto Sans"/>
                <a:ea typeface="Noto Sans Thai"/>
                <a:cs typeface="Noto Sans Thai"/>
              </a:rPr>
              <a:t>แนวทางจัดคู่มือ</a:t>
            </a:r>
          </a:p>
        </p:txBody>
      </p:sp>
      <p:sp>
        <p:nvSpPr>
          <p:cNvPr id="14" name="Chevron 13"/>
          <p:cNvSpPr/>
          <p:nvPr/>
        </p:nvSpPr>
        <p:spPr>
          <a:xfrm>
            <a:off x="4919472" y="3054096"/>
            <a:ext cx="283464" cy="521207"/>
          </a:xfrm>
          <a:prstGeom prst="chevron">
            <a:avLst/>
          </a:prstGeom>
          <a:solidFill>
            <a:srgbClr val="D7E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458968" y="2679192"/>
            <a:ext cx="1280160" cy="1280160"/>
          </a:xfrm>
          <a:prstGeom prst="ellipse">
            <a:avLst/>
          </a:prstGeom>
          <a:solidFill>
            <a:srgbClr val="839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con-Route-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2431" y="2962656"/>
            <a:ext cx="704088" cy="704088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013448" y="2907792"/>
            <a:ext cx="1828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3400" b="1">
                <a:solidFill>
                  <a:srgbClr val="D7E3C9"/>
                </a:solidFill>
                <a:latin typeface="Noto Sans"/>
                <a:ea typeface="Noto Sans Thai"/>
                <a:cs typeface="Noto Sans Thai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58968" y="4315968"/>
            <a:ext cx="4114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800" b="1">
                <a:solidFill>
                  <a:srgbClr val="FFFFFF"/>
                </a:solidFill>
                <a:latin typeface="Noto Sans"/>
                <a:ea typeface="Noto Sans Thai"/>
                <a:cs typeface="Noto Sans Thai"/>
              </a:rPr>
              <a:t>กระบวนการ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58968" y="5148072"/>
            <a:ext cx="3977639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100" b="0">
                <a:solidFill>
                  <a:srgbClr val="FFFFFF"/>
                </a:solidFill>
                <a:latin typeface="Noto Sans"/>
                <a:ea typeface="Noto Sans Thai"/>
                <a:cs typeface="Noto Sans Thai"/>
              </a:rPr>
              <a:t>พัฒนาเว็บและตรวจระบบ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100" b="0">
                <a:solidFill>
                  <a:srgbClr val="FFFFFF"/>
                </a:solidFill>
                <a:latin typeface="Noto Sans"/>
                <a:ea typeface="Noto Sans Thai"/>
                <a:cs typeface="Noto Sans Thai"/>
              </a:rPr>
              <a:t>เปิดให้ทดลองใช้งาน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100" b="0">
                <a:solidFill>
                  <a:srgbClr val="FFFFFF"/>
                </a:solidFill>
                <a:latin typeface="Noto Sans"/>
                <a:ea typeface="Noto Sans Thai"/>
                <a:cs typeface="Noto Sans Thai"/>
              </a:rPr>
              <a:t>รวบรวมรีวิวที่เผยแพร่</a:t>
            </a:r>
          </a:p>
        </p:txBody>
      </p:sp>
      <p:sp>
        <p:nvSpPr>
          <p:cNvPr id="20" name="Chevron 19"/>
          <p:cNvSpPr/>
          <p:nvPr/>
        </p:nvSpPr>
        <p:spPr>
          <a:xfrm>
            <a:off x="9509759" y="3054096"/>
            <a:ext cx="283464" cy="521207"/>
          </a:xfrm>
          <a:prstGeom prst="chevron">
            <a:avLst/>
          </a:prstGeom>
          <a:solidFill>
            <a:srgbClr val="D7E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049255" y="2679192"/>
            <a:ext cx="1280160" cy="1280160"/>
          </a:xfrm>
          <a:prstGeom prst="ellipse">
            <a:avLst/>
          </a:prstGeom>
          <a:solidFill>
            <a:srgbClr val="285C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icon-ChartColumn-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32719" y="2962656"/>
            <a:ext cx="704088" cy="704088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1603735" y="2907792"/>
            <a:ext cx="1828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3400" b="1">
                <a:solidFill>
                  <a:srgbClr val="D7E3C9"/>
                </a:solidFill>
                <a:latin typeface="Noto Sans"/>
                <a:ea typeface="Noto Sans Thai"/>
                <a:cs typeface="Noto Sans Thai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49255" y="4315968"/>
            <a:ext cx="4114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800" b="1">
                <a:solidFill>
                  <a:srgbClr val="FFFFFF"/>
                </a:solidFill>
                <a:latin typeface="Noto Sans"/>
                <a:ea typeface="Noto Sans Thai"/>
                <a:cs typeface="Noto Sans Thai"/>
              </a:rPr>
              <a:t>ข้อมูลผลลัพธ์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49255" y="5148072"/>
            <a:ext cx="3977639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100" b="0">
                <a:solidFill>
                  <a:srgbClr val="FFFFFF"/>
                </a:solidFill>
                <a:latin typeface="Noto Sans"/>
                <a:ea typeface="Noto Sans Thai"/>
                <a:cs typeface="Noto Sans Thai"/>
              </a:rPr>
              <a:t>ผลผ่าน/ไม่ผ่านของซอฟต์แวร์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100" b="0">
                <a:solidFill>
                  <a:srgbClr val="FFFFFF"/>
                </a:solidFill>
                <a:latin typeface="Noto Sans"/>
                <a:ea typeface="Noto Sans Thai"/>
                <a:cs typeface="Noto Sans Thai"/>
              </a:rPr>
              <a:t>คะแนนดาวและข้อความรีวิว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100" b="0">
                <a:solidFill>
                  <a:srgbClr val="FFFFFF"/>
                </a:solidFill>
                <a:latin typeface="Noto Sans"/>
                <a:ea typeface="Noto Sans Thai"/>
                <a:cs typeface="Noto Sans Thai"/>
              </a:rPr>
              <a:t>ประเด็นปรับปรุงต้นแบบ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7251192"/>
            <a:ext cx="1316736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50" b="0">
                <a:solidFill>
                  <a:srgbClr val="D7E3C9"/>
                </a:solidFill>
                <a:latin typeface="Noto Sans"/>
                <a:ea typeface="Noto Sans Thai"/>
                <a:cs typeface="Noto Sans Thai"/>
              </a:rPr>
              <a:t>หน่วยวิเคราะห์: กรณีทดสอบซอฟต์แวร์ / รายการรีวิว • คะแนนดาวไม่ใช่คะแนนการเรียนรู้หรือแบบสอบถามมาตรฐาน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12911328" y="457200"/>
            <a:ext cx="502920" cy="502920"/>
          </a:xfrm>
          <a:prstGeom prst="line">
            <a:avLst/>
          </a:prstGeom>
          <a:ln w="7620">
            <a:solidFill>
              <a:srgbClr val="3E665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3025628" y="457200"/>
            <a:ext cx="502920" cy="502920"/>
          </a:xfrm>
          <a:prstGeom prst="line">
            <a:avLst/>
          </a:prstGeom>
          <a:ln w="7620">
            <a:solidFill>
              <a:srgbClr val="3E665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3139928" y="457200"/>
            <a:ext cx="502920" cy="502920"/>
          </a:xfrm>
          <a:prstGeom prst="line">
            <a:avLst/>
          </a:prstGeom>
          <a:ln w="7620">
            <a:solidFill>
              <a:srgbClr val="3E665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3254228" y="457200"/>
            <a:ext cx="502920" cy="502920"/>
          </a:xfrm>
          <a:prstGeom prst="line">
            <a:avLst/>
          </a:prstGeom>
          <a:ln w="7620">
            <a:solidFill>
              <a:srgbClr val="3E665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3368528" y="457200"/>
            <a:ext cx="502920" cy="502920"/>
          </a:xfrm>
          <a:prstGeom prst="line">
            <a:avLst/>
          </a:prstGeom>
          <a:ln w="7620">
            <a:solidFill>
              <a:srgbClr val="3E665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3482828" y="457200"/>
            <a:ext cx="502920" cy="502920"/>
          </a:xfrm>
          <a:prstGeom prst="line">
            <a:avLst/>
          </a:prstGeom>
          <a:ln w="7620">
            <a:solidFill>
              <a:srgbClr val="3E665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13597128" y="457200"/>
            <a:ext cx="457200" cy="457200"/>
          </a:xfrm>
          <a:prstGeom prst="line">
            <a:avLst/>
          </a:prstGeom>
          <a:ln w="7620">
            <a:solidFill>
              <a:srgbClr val="3E665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13711428" y="457200"/>
            <a:ext cx="342900" cy="342900"/>
          </a:xfrm>
          <a:prstGeom prst="line">
            <a:avLst/>
          </a:prstGeom>
          <a:ln w="7620">
            <a:solidFill>
              <a:srgbClr val="3E665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13825728" y="457200"/>
            <a:ext cx="228600" cy="228600"/>
          </a:xfrm>
          <a:prstGeom prst="line">
            <a:avLst/>
          </a:prstGeom>
          <a:ln w="7620">
            <a:solidFill>
              <a:srgbClr val="3E665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13940028" y="457200"/>
            <a:ext cx="114300" cy="114300"/>
          </a:xfrm>
          <a:prstGeom prst="line">
            <a:avLst/>
          </a:prstGeom>
          <a:ln w="7620">
            <a:solidFill>
              <a:srgbClr val="3E665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393192"/>
            <a:ext cx="109728" cy="182880"/>
          </a:xfrm>
          <a:prstGeom prst="rect">
            <a:avLst/>
          </a:prstGeom>
          <a:solidFill>
            <a:srgbClr val="839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338328"/>
            <a:ext cx="12618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บทที่ 3 / วิธีดำเนินการวิจัย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68680"/>
            <a:ext cx="1316736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32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การพัฒนาและองค์ประกอบของระบบ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7726679"/>
            <a:ext cx="13350240" cy="0"/>
          </a:xfrm>
          <a:prstGeom prst="line">
            <a:avLst/>
          </a:prstGeom>
          <a:ln w="8255">
            <a:solidFill>
              <a:srgbClr val="D9E1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7872983"/>
            <a:ext cx="54864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00" b="0">
                <a:solidFill>
                  <a:srgbClr val="637267"/>
                </a:solidFill>
                <a:latin typeface="Noto Sans"/>
                <a:ea typeface="Noto Sans Thai"/>
                <a:cs typeface="Noto Sans Thai"/>
              </a:rPr>
              <a:t>REBUILD  /  RESEARCH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04520" y="7827264"/>
            <a:ext cx="6858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300" b="1">
                <a:solidFill>
                  <a:srgbClr val="637267"/>
                </a:solidFill>
                <a:latin typeface="Noto Sans"/>
                <a:ea typeface="Noto Sans Thai"/>
                <a:cs typeface="Noto Sans Thai"/>
              </a:rPr>
              <a:t>08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130552"/>
            <a:ext cx="7909560" cy="488289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1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2130552"/>
            <a:ext cx="7909560" cy="338328"/>
          </a:xfrm>
          <a:prstGeom prst="roundRect">
            <a:avLst>
              <a:gd name="adj" fmla="val 5000"/>
            </a:avLst>
          </a:prstGeom>
          <a:solidFill>
            <a:srgbClr val="ECF1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86968" y="2249424"/>
            <a:ext cx="68580" cy="68580"/>
          </a:xfrm>
          <a:prstGeom prst="ellipse">
            <a:avLst/>
          </a:prstGeom>
          <a:solidFill>
            <a:srgbClr val="B59C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24128" y="2249424"/>
            <a:ext cx="68580" cy="68580"/>
          </a:xfrm>
          <a:prstGeom prst="ellipse">
            <a:avLst/>
          </a:prstGeom>
          <a:solidFill>
            <a:srgbClr val="839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61288" y="2249424"/>
            <a:ext cx="68580" cy="68580"/>
          </a:xfrm>
          <a:prstGeom prst="ellipse">
            <a:avLst/>
          </a:prstGeom>
          <a:solidFill>
            <a:srgbClr val="1957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463040" y="2221992"/>
            <a:ext cx="6995160" cy="146304"/>
          </a:xfrm>
          <a:prstGeom prst="roundRect">
            <a:avLst>
              <a:gd name="adj" fmla="val 12000"/>
            </a:avLst>
          </a:prstGeom>
          <a:solidFill>
            <a:srgbClr val="FCF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home-hero.png"/>
          <p:cNvPicPr>
            <a:picLocks noChangeAspect="1"/>
          </p:cNvPicPr>
          <p:nvPr/>
        </p:nvPicPr>
        <p:blipFill>
          <a:blip r:embed="rId2"/>
          <a:srcRect t="4393" b="4393"/>
          <a:stretch>
            <a:fillRect/>
          </a:stretch>
        </p:blipFill>
        <p:spPr>
          <a:xfrm>
            <a:off x="804672" y="2514600"/>
            <a:ext cx="7763256" cy="4425696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1014984" y="6537960"/>
            <a:ext cx="3675887" cy="384048"/>
          </a:xfrm>
          <a:prstGeom prst="roundRect">
            <a:avLst>
              <a:gd name="adj" fmla="val 20000"/>
            </a:avLst>
          </a:prstGeom>
          <a:solidFill>
            <a:srgbClr val="ECF1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24712" y="6583680"/>
            <a:ext cx="3456431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หน้าจอจากต้นแบบ ReBuild</a:t>
            </a:r>
          </a:p>
        </p:txBody>
      </p:sp>
      <p:sp>
        <p:nvSpPr>
          <p:cNvPr id="17" name="Oval 16"/>
          <p:cNvSpPr/>
          <p:nvPr/>
        </p:nvSpPr>
        <p:spPr>
          <a:xfrm>
            <a:off x="9089136" y="2185416"/>
            <a:ext cx="640080" cy="640080"/>
          </a:xfrm>
          <a:prstGeom prst="ellipse">
            <a:avLst/>
          </a:prstGeom>
          <a:solidFill>
            <a:srgbClr val="ECF1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con-Layers-19573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98864" y="2295144"/>
            <a:ext cx="420624" cy="420624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0021824" y="2185416"/>
            <a:ext cx="3941063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2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ออกแบบเนื้อหาและเส้นทาง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21824" y="2871216"/>
            <a:ext cx="3941063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จัดหมวดงาน รายการวัสดุ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และขั้นตอนที่เปิดอ่านได้ทันที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409176" y="2880360"/>
            <a:ext cx="0" cy="804672"/>
          </a:xfrm>
          <a:prstGeom prst="line">
            <a:avLst/>
          </a:prstGeom>
          <a:ln w="16510">
            <a:solidFill>
              <a:srgbClr val="839E6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9089136" y="3803904"/>
            <a:ext cx="640080" cy="640080"/>
          </a:xfrm>
          <a:prstGeom prst="ellipse">
            <a:avLst/>
          </a:prstGeom>
          <a:solidFill>
            <a:srgbClr val="ECF1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con-Code-19573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98864" y="3913632"/>
            <a:ext cx="420624" cy="420624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0021824" y="3803904"/>
            <a:ext cx="3941063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2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พัฒนาต้นแบบ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21824" y="4489704"/>
            <a:ext cx="3941063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React/TypeScript + Node.js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Supabase สำหรับบัญชีและชุมชน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9409176" y="4498848"/>
            <a:ext cx="0" cy="804672"/>
          </a:xfrm>
          <a:prstGeom prst="line">
            <a:avLst/>
          </a:prstGeom>
          <a:ln w="16510">
            <a:solidFill>
              <a:srgbClr val="839E6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9089136" y="5422392"/>
            <a:ext cx="640080" cy="640080"/>
          </a:xfrm>
          <a:prstGeom prst="ellipse">
            <a:avLst/>
          </a:prstGeom>
          <a:solidFill>
            <a:srgbClr val="ECF1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icon-ShieldCheck-19573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98864" y="5532120"/>
            <a:ext cx="420624" cy="420624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10021824" y="5422392"/>
            <a:ext cx="3941063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2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ตรวจและปรับปรุง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21824" y="6108192"/>
            <a:ext cx="3941063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ทดสอบฟังก์ชันและเบราว์เซอร์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ใช้ข้อคิดเห็นระบุประเด็นพัฒนาต่อ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7242048"/>
            <a:ext cx="1316736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50" b="0">
                <a:solidFill>
                  <a:srgbClr val="637267"/>
                </a:solidFill>
                <a:latin typeface="Noto Sans"/>
                <a:ea typeface="Noto Sans Thai"/>
                <a:cs typeface="Noto Sans Thai"/>
              </a:rPr>
              <a:t>ให้บริการผ่าน Render • วัสดุและแผนส่วนตัวเก็บในเบราว์เซอร์ • การเข้าสู่ระบบยังไม่ทำให้แผนซิงก์ข้ามเครื่อง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393192"/>
            <a:ext cx="109728" cy="182880"/>
          </a:xfrm>
          <a:prstGeom prst="rect">
            <a:avLst/>
          </a:prstGeom>
          <a:solidFill>
            <a:srgbClr val="839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338328"/>
            <a:ext cx="12618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บทที่ 3 / วิธีดำเนินการวิจัย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68680"/>
            <a:ext cx="1316736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32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ผู้ทดลองและแหล่งข้อมูลที่ใช้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7726679"/>
            <a:ext cx="13350240" cy="0"/>
          </a:xfrm>
          <a:prstGeom prst="line">
            <a:avLst/>
          </a:prstGeom>
          <a:ln w="8255">
            <a:solidFill>
              <a:srgbClr val="D9E1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7872983"/>
            <a:ext cx="54864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00" b="0">
                <a:solidFill>
                  <a:srgbClr val="637267"/>
                </a:solidFill>
                <a:latin typeface="Noto Sans"/>
                <a:ea typeface="Noto Sans Thai"/>
                <a:cs typeface="Noto Sans Thai"/>
              </a:rPr>
              <a:t>REBUILD  /  RESEARCH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04520" y="7827264"/>
            <a:ext cx="6858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300" b="1">
                <a:solidFill>
                  <a:srgbClr val="637267"/>
                </a:solidFill>
                <a:latin typeface="Noto Sans"/>
                <a:ea typeface="Noto Sans Thai"/>
                <a:cs typeface="Noto Sans Thai"/>
              </a:rPr>
              <a:t>09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103120"/>
            <a:ext cx="5029200" cy="3941063"/>
          </a:xfrm>
          <a:prstGeom prst="roundRect">
            <a:avLst>
              <a:gd name="adj" fmla="val 5000"/>
            </a:avLst>
          </a:prstGeom>
          <a:solidFill>
            <a:srgbClr val="F2EA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con-Users-19573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" y="2414016"/>
            <a:ext cx="566928" cy="56692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051560" y="3090672"/>
            <a:ext cx="192024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62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20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07792" y="3630168"/>
            <a:ext cx="914400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3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คน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" y="4224528"/>
            <a:ext cx="4297680" cy="4846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2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ผู้จัดทำรายงาน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" y="4809744"/>
            <a:ext cx="4297680" cy="10241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5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ผู้เริ่มต้นที่สนใจงานใช้ประโยชน์จากวัสดุในบ้านและกิจกรรมการเรียนรู้ ผู้จัดทำรายงานว่ามีผู้ทดลองใช้งานจริง 20 คน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44184" y="2103120"/>
            <a:ext cx="7927848" cy="3941063"/>
          </a:xfrm>
          <a:prstGeom prst="roundRect">
            <a:avLst>
              <a:gd name="adj" fmla="val 5000"/>
            </a:avLst>
          </a:prstGeom>
          <a:solidFill>
            <a:srgbClr val="ECF1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19088" y="2523744"/>
            <a:ext cx="2240280" cy="103327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63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21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14232" y="2889504"/>
            <a:ext cx="4672584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5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รายการรีวิวที่เผยแพร่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37376" y="3886200"/>
            <a:ext cx="2286000" cy="384048"/>
          </a:xfrm>
          <a:prstGeom prst="roundRect">
            <a:avLst>
              <a:gd name="adj" fmla="val 20000"/>
            </a:avLst>
          </a:prstGeom>
          <a:solidFill>
            <a:srgbClr val="1957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47104" y="3931920"/>
            <a:ext cx="2066543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1">
                <a:solidFill>
                  <a:srgbClr val="FFFFFF"/>
                </a:solidFill>
                <a:latin typeface="Noto Sans"/>
                <a:ea typeface="Noto Sans Thai"/>
                <a:cs typeface="Noto Sans Thai"/>
              </a:rPr>
              <a:t>เว็บไซต์ 19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33688" y="3886200"/>
            <a:ext cx="2286000" cy="384048"/>
          </a:xfrm>
          <a:prstGeom prst="roundRect">
            <a:avLst>
              <a:gd name="adj" fmla="val 20000"/>
            </a:avLst>
          </a:prstGeom>
          <a:solidFill>
            <a:srgbClr val="839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43415" y="3931920"/>
            <a:ext cx="2066543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1">
                <a:solidFill>
                  <a:srgbClr val="FFFFFF"/>
                </a:solidFill>
                <a:latin typeface="Noto Sans"/>
                <a:ea typeface="Noto Sans Thai"/>
                <a:cs typeface="Noto Sans Thai"/>
              </a:rPr>
              <a:t>โครงงาน 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37376" y="4736592"/>
            <a:ext cx="7040880" cy="103327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5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พบรีวิวเผยแพร่ 21 รายการ แบ่งเป็นรีวิวเว็บไซต์ 19 รายการ และรีวิวโครงงาน 2 รายการ ไม่ใช้จำนวนรีวิวแทนจำนวนคนที่ไม่ซ้ำกัน</a:t>
            </a:r>
          </a:p>
        </p:txBody>
      </p:sp>
      <p:pic>
        <p:nvPicPr>
          <p:cNvPr id="22" name="Picture 21" descr="icon-Clock-19573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" y="6492240"/>
            <a:ext cx="475488" cy="475488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609344" y="6355080"/>
            <a:ext cx="2743200" cy="4846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2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3 ต.ค. 2569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09344" y="6876288"/>
            <a:ext cx="3538728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0">
                <a:solidFill>
                  <a:srgbClr val="637267"/>
                </a:solidFill>
                <a:latin typeface="Noto Sans"/>
                <a:ea typeface="Noto Sans Thai"/>
                <a:cs typeface="Noto Sans Thai"/>
              </a:rPr>
              <a:t>18:41–22:30 น. เวลาไทย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532120" y="6345936"/>
            <a:ext cx="0" cy="786384"/>
          </a:xfrm>
          <a:prstGeom prst="line">
            <a:avLst/>
          </a:prstGeom>
          <a:ln w="12700">
            <a:solidFill>
              <a:srgbClr val="D9E1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5897880" y="6345936"/>
            <a:ext cx="7772400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0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เป็นเวลาโพสต์ ไม่ใช่เวลาทำภารกิจ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97880" y="6885432"/>
            <a:ext cx="7772400" cy="6492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50" b="0">
                <a:solidFill>
                  <a:srgbClr val="637267"/>
                </a:solidFill>
                <a:latin typeface="Noto Sans"/>
                <a:ea typeface="Noto Sans Thai"/>
                <a:cs typeface="Noto Sans Thai"/>
              </a:rPr>
              <a:t>วิเคราะห์เฉพาะรีวิวที่ผ่านการอนุมัติและเผยแพร่ ณ จุดตรวจ ไม่ครอบคลุมผู้ไม่โพสต์หรือข้อความที่ยังไม่เผยแพร่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393192"/>
            <a:ext cx="109728" cy="182880"/>
          </a:xfrm>
          <a:prstGeom prst="rect">
            <a:avLst/>
          </a:prstGeom>
          <a:solidFill>
            <a:srgbClr val="839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338328"/>
            <a:ext cx="12618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บทที่ 3 / วิธีดำเนินการวิจัย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68680"/>
            <a:ext cx="1316736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32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เครื่องมือและการเก็บรวบรวมข้อมูล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7726679"/>
            <a:ext cx="13350240" cy="0"/>
          </a:xfrm>
          <a:prstGeom prst="line">
            <a:avLst/>
          </a:prstGeom>
          <a:ln w="8255">
            <a:solidFill>
              <a:srgbClr val="D9E1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7872983"/>
            <a:ext cx="54864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00" b="0">
                <a:solidFill>
                  <a:srgbClr val="637267"/>
                </a:solidFill>
                <a:latin typeface="Noto Sans"/>
                <a:ea typeface="Noto Sans Thai"/>
                <a:cs typeface="Noto Sans Thai"/>
              </a:rPr>
              <a:t>REBUILD  /  RESEARCH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04520" y="7827264"/>
            <a:ext cx="6858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300" b="1">
                <a:solidFill>
                  <a:srgbClr val="637267"/>
                </a:solidFill>
                <a:latin typeface="Noto Sans"/>
                <a:ea typeface="Noto Sans Thai"/>
                <a:cs typeface="Noto Sans Thai"/>
              </a:rPr>
              <a:t>10</a:t>
            </a:r>
          </a:p>
        </p:txBody>
      </p:sp>
      <p:sp>
        <p:nvSpPr>
          <p:cNvPr id="8" name="Oval 7"/>
          <p:cNvSpPr/>
          <p:nvPr/>
        </p:nvSpPr>
        <p:spPr>
          <a:xfrm>
            <a:off x="841247" y="2359152"/>
            <a:ext cx="868680" cy="868680"/>
          </a:xfrm>
          <a:prstGeom prst="ellipse">
            <a:avLst/>
          </a:prstGeom>
          <a:solidFill>
            <a:srgbClr val="1957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con-Code-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415" y="2560320"/>
            <a:ext cx="466344" cy="46634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666744" y="2386584"/>
            <a:ext cx="941832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3200" b="1">
                <a:solidFill>
                  <a:srgbClr val="D9E1D2"/>
                </a:solidFill>
                <a:latin typeface="Noto Sans"/>
                <a:ea typeface="Noto Sans Thai"/>
                <a:cs typeface="Noto Sans Tha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3602736"/>
            <a:ext cx="4005072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4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การตรวจซอฟต์แวร์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4471416"/>
            <a:ext cx="3840480" cy="1481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00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Vitest สำหรับกฎข้อมูล/API/SQL และ Playwright สำหรับเส้นทางใช้เว็บ ร่วมกับ axe และ npm audit บันทึกผลจากตัวรันจริง</a:t>
            </a:r>
          </a:p>
        </p:txBody>
      </p:sp>
      <p:sp>
        <p:nvSpPr>
          <p:cNvPr id="13" name="Chevron 12"/>
          <p:cNvSpPr/>
          <p:nvPr/>
        </p:nvSpPr>
        <p:spPr>
          <a:xfrm>
            <a:off x="4828032" y="2596896"/>
            <a:ext cx="292608" cy="475488"/>
          </a:xfrm>
          <a:prstGeom prst="chevron">
            <a:avLst/>
          </a:prstGeom>
          <a:solidFill>
            <a:srgbClr val="839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367528" y="2359152"/>
            <a:ext cx="868680" cy="868680"/>
          </a:xfrm>
          <a:prstGeom prst="ellipse">
            <a:avLst/>
          </a:prstGeom>
          <a:solidFill>
            <a:srgbClr val="839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con-MessageSquare-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8696" y="2560320"/>
            <a:ext cx="466344" cy="46634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193024" y="2386584"/>
            <a:ext cx="941832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3200" b="1">
                <a:solidFill>
                  <a:srgbClr val="D9E1D2"/>
                </a:solidFill>
                <a:latin typeface="Noto Sans"/>
                <a:ea typeface="Noto Sans Thai"/>
                <a:cs typeface="Noto Sans Thai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67528" y="3602736"/>
            <a:ext cx="4005072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4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การรวบรวมรีวิว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67528" y="4471416"/>
            <a:ext cx="3840480" cy="1481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00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อ่านข้อมูลสาธารณะจากหน้ารีวิวเว็บไซต์และทั้ง 37 โครงงาน เก็บประเภทรีวิว คะแนน เนื้อหา และเวลาโพสต์เพื่อตรวจยอดรวม</a:t>
            </a:r>
          </a:p>
        </p:txBody>
      </p:sp>
      <p:sp>
        <p:nvSpPr>
          <p:cNvPr id="19" name="Chevron 18"/>
          <p:cNvSpPr/>
          <p:nvPr/>
        </p:nvSpPr>
        <p:spPr>
          <a:xfrm>
            <a:off x="9354312" y="2596896"/>
            <a:ext cx="292608" cy="475488"/>
          </a:xfrm>
          <a:prstGeom prst="chevron">
            <a:avLst/>
          </a:prstGeom>
          <a:solidFill>
            <a:srgbClr val="839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893808" y="2359152"/>
            <a:ext cx="868680" cy="868680"/>
          </a:xfrm>
          <a:prstGeom prst="ellipse">
            <a:avLst/>
          </a:prstGeom>
          <a:solidFill>
            <a:srgbClr val="B59C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con-CircleCheck-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94976" y="2560320"/>
            <a:ext cx="466344" cy="466344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2719304" y="2386584"/>
            <a:ext cx="941832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3200" b="1">
                <a:solidFill>
                  <a:srgbClr val="D9E1D2"/>
                </a:solidFill>
                <a:latin typeface="Noto Sans"/>
                <a:ea typeface="Noto Sans Thai"/>
                <a:cs typeface="Noto Sans Thai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93808" y="3602736"/>
            <a:ext cx="4005072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4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การตรวจความถูกต้อง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93808" y="4471416"/>
            <a:ext cx="3840480" cy="1481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00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ตรวจว่าอ่านครบทุกหน้าของรายการ แยกเว็บไซต์กับโครงงาน คำนวณจำนวนและคะแนนซ้ำจากข้อมูล และอ้างรุ่นซอฟต์แวร์ที่ทดสอบ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7240" y="6318504"/>
            <a:ext cx="13194792" cy="1024128"/>
          </a:xfrm>
          <a:prstGeom prst="roundRect">
            <a:avLst>
              <a:gd name="adj" fmla="val 7000"/>
            </a:avLst>
          </a:prstGeom>
          <a:solidFill>
            <a:srgbClr val="F2EA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con-Clock-19573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4128" y="6611112"/>
            <a:ext cx="420624" cy="420624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645920" y="6528816"/>
            <a:ext cx="3392424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1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ข้อมูลที่ยังไม่ได้บันทึก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93208" y="6528816"/>
            <a:ext cx="832104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5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ยังไม่มีบันทึกเวลาและผลสำเร็จรายคนในการค้นหาโครงงาน ระบุวัสดุที่ขาด อธิบายขั้นตอน และบันทึก/เปิดแผน จึงยังคำนวณผลภารกิจไม่ได้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EAD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393192"/>
            <a:ext cx="109728" cy="182880"/>
          </a:xfrm>
          <a:prstGeom prst="rect">
            <a:avLst/>
          </a:prstGeom>
          <a:solidFill>
            <a:srgbClr val="839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338328"/>
            <a:ext cx="12618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บทที่ 3 / วิธีดำเนินการวิจัย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68680"/>
            <a:ext cx="1316736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32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วิธีวิเคราะห์ข้อมูลและสถิติที่ใช้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7726679"/>
            <a:ext cx="13350240" cy="0"/>
          </a:xfrm>
          <a:prstGeom prst="line">
            <a:avLst/>
          </a:prstGeom>
          <a:ln w="8255">
            <a:solidFill>
              <a:srgbClr val="D9E1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7872983"/>
            <a:ext cx="54864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00" b="0">
                <a:solidFill>
                  <a:srgbClr val="637267"/>
                </a:solidFill>
                <a:latin typeface="Noto Sans"/>
                <a:ea typeface="Noto Sans Thai"/>
                <a:cs typeface="Noto Sans Thai"/>
              </a:rPr>
              <a:t>REBUILD  /  RESEARCH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04520" y="7827264"/>
            <a:ext cx="6858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300" b="1">
                <a:solidFill>
                  <a:srgbClr val="637267"/>
                </a:solidFill>
                <a:latin typeface="Noto Sans"/>
                <a:ea typeface="Noto Sans Thai"/>
                <a:cs typeface="Noto Sans Thai"/>
              </a:rP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148840"/>
            <a:ext cx="4251960" cy="5065776"/>
          </a:xfrm>
          <a:prstGeom prst="roundRect">
            <a:avLst>
              <a:gd name="adj" fmla="val 4000"/>
            </a:avLst>
          </a:prstGeom>
          <a:solidFill>
            <a:srgbClr val="1957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con-ChartColumn-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2560320"/>
            <a:ext cx="713232" cy="71323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097280" y="3547872"/>
            <a:ext cx="347472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600" b="1">
                <a:solidFill>
                  <a:srgbClr val="FFFFFF"/>
                </a:solidFill>
                <a:latin typeface="Noto Sans"/>
                <a:ea typeface="Noto Sans Thai"/>
                <a:cs typeface="Noto Sans Thai"/>
              </a:rPr>
              <a:t>สถิติเชิงพรรณนา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498848"/>
            <a:ext cx="3474720" cy="10698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300" b="0">
                <a:solidFill>
                  <a:srgbClr val="FFFFFF"/>
                </a:solidFill>
                <a:latin typeface="Noto Sans"/>
                <a:ea typeface="Noto Sans Thai"/>
                <a:cs typeface="Noto Sans Thai"/>
              </a:rPr>
              <a:t>ความถี่ • ร้อยละ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300" b="0">
                <a:solidFill>
                  <a:srgbClr val="FFFFFF"/>
                </a:solidFill>
                <a:latin typeface="Noto Sans"/>
                <a:ea typeface="Noto Sans Thai"/>
                <a:cs typeface="Noto Sans Thai"/>
              </a:rPr>
              <a:t>ค่าเฉลี่ย • SD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097280" y="5724144"/>
            <a:ext cx="3465576" cy="0"/>
          </a:xfrm>
          <a:prstGeom prst="line">
            <a:avLst/>
          </a:prstGeom>
          <a:ln w="12700">
            <a:solidFill>
              <a:srgbClr val="7293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097280" y="6080760"/>
            <a:ext cx="3474720" cy="8869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0">
                <a:solidFill>
                  <a:srgbClr val="FFFFFF"/>
                </a:solidFill>
                <a:latin typeface="Noto Sans"/>
                <a:ea typeface="Noto Sans Thai"/>
                <a:cs typeface="Noto Sans Thai"/>
              </a:rPr>
              <a:t>ค่าเฉลี่ย = ผลรวมคะแนน / จำนวนรีวิว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0">
                <a:solidFill>
                  <a:srgbClr val="FFFFFF"/>
                </a:solidFill>
                <a:latin typeface="Noto Sans"/>
                <a:ea typeface="Noto Sans Thai"/>
                <a:cs typeface="Noto Sans Thai"/>
              </a:rPr>
              <a:t>SD ใช้ตัวหาร n−1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77256" y="2121408"/>
            <a:ext cx="2386584" cy="8321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ผลทดสอบซอฟต์แวร์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10727" y="2121408"/>
            <a:ext cx="5660136" cy="4846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5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จำนวนกรณีผ่าน ไม่ผ่าน และข้ามการทดสอบ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10727" y="2679191"/>
            <a:ext cx="5660136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637267"/>
                </a:solidFill>
                <a:latin typeface="Noto Sans"/>
                <a:ea typeface="Noto Sans Thai"/>
                <a:cs typeface="Noto Sans Thai"/>
              </a:rPr>
              <a:t>ผลตามกรณีและสภาพแวดล้อมที่ตรวจ ไม่ใช่จำนวนผู้เข้าร่วม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77256" y="3364991"/>
            <a:ext cx="2386584" cy="8321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คะแนนรีวิว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10727" y="3364991"/>
            <a:ext cx="5660136" cy="4846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5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ความถี่ ร้อยละ ค่าเฉลี่ย และ SD ของรายการ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10727" y="3922776"/>
            <a:ext cx="5660136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637267"/>
                </a:solidFill>
                <a:latin typeface="Noto Sans"/>
                <a:ea typeface="Noto Sans Thai"/>
                <a:cs typeface="Noto Sans Thai"/>
              </a:rPr>
              <a:t>แยกประเภทก่อนสรุปรวม ไม่ใช่คะแนนความพึงพอใจจากเครื่องมือมาตรฐาน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77256" y="4608576"/>
            <a:ext cx="2386584" cy="8321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ข้อความรีวิว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10727" y="4608576"/>
            <a:ext cx="5660136" cy="4846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5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จัดเป็นประเด็นด้านการใช้งาน เนื้อหา ภาพ และข้อเสนอแนะ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10727" y="5166360"/>
            <a:ext cx="5660136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637267"/>
                </a:solidFill>
                <a:latin typeface="Noto Sans"/>
                <a:ea typeface="Noto Sans Thai"/>
                <a:cs typeface="Noto Sans Thai"/>
              </a:rPr>
              <a:t>เป็นการอ่านสรุปประเด็น ยังไม่ได้ตรวจความสอดคล้องระหว่างผู้จัดหมวด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77256" y="5852160"/>
            <a:ext cx="2386584" cy="8321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ตัวแปรและ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ข้อเปรียบเทียบ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10727" y="5852160"/>
            <a:ext cx="5660136" cy="4846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5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ใช้การพรรณนาผลที่มี ไม่ทดสอบ t-test หรือ ANOVA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10727" y="6409944"/>
            <a:ext cx="5660136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637267"/>
                </a:solidFill>
                <a:latin typeface="Noto Sans"/>
                <a:ea typeface="Noto Sans Thai"/>
                <a:cs typeface="Noto Sans Thai"/>
              </a:rPr>
              <a:t>ไม่มีการแบ่งกลุ่มควบคุมหรือข้อมูลก่อน–หลังสำหรับสรุปเหตุและผล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7315200"/>
            <a:ext cx="1316736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50" b="0">
                <a:solidFill>
                  <a:srgbClr val="637267"/>
                </a:solidFill>
                <a:latin typeface="Noto Sans"/>
                <a:ea typeface="Noto Sans Thai"/>
                <a:cs typeface="Noto Sans Thai"/>
              </a:rPr>
              <a:t>คงรีวิวทุกคะแนนในยอดรวม • แยกประเภทข้อมูลก่อนสรุป • ไม่ใช้จำนวนกรณีทดสอบแทนจำนวนคน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3E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393192"/>
            <a:ext cx="109728" cy="182880"/>
          </a:xfrm>
          <a:prstGeom prst="rect">
            <a:avLst/>
          </a:prstGeom>
          <a:solidFill>
            <a:srgbClr val="839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338328"/>
            <a:ext cx="12618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00" b="1">
                <a:solidFill>
                  <a:srgbClr val="D7E3C9"/>
                </a:solidFill>
                <a:latin typeface="Noto Sans"/>
                <a:ea typeface="Noto Sans Thai"/>
                <a:cs typeface="Noto Sans Thai"/>
              </a:rPr>
              <a:t>บทที่ 4 / ผลการวิจัย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68680"/>
            <a:ext cx="1316736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3200" b="1">
                <a:solidFill>
                  <a:srgbClr val="FFFFFF"/>
                </a:solidFill>
                <a:latin typeface="Noto Sans"/>
                <a:ea typeface="Noto Sans Thai"/>
                <a:cs typeface="Noto Sans Thai"/>
              </a:rPr>
              <a:t>ผลทดสอบการทำงานของซอฟต์แวร์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7726679"/>
            <a:ext cx="13350240" cy="0"/>
          </a:xfrm>
          <a:prstGeom prst="line">
            <a:avLst/>
          </a:prstGeom>
          <a:ln w="8255">
            <a:solidFill>
              <a:srgbClr val="41614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7872983"/>
            <a:ext cx="54864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00" b="0">
                <a:solidFill>
                  <a:srgbClr val="D7E3C9"/>
                </a:solidFill>
                <a:latin typeface="Noto Sans"/>
                <a:ea typeface="Noto Sans Thai"/>
                <a:cs typeface="Noto Sans Thai"/>
              </a:rPr>
              <a:t>REBUILD  /  RESEARCH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04520" y="7827264"/>
            <a:ext cx="6858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300" b="1">
                <a:solidFill>
                  <a:srgbClr val="D7E3C9"/>
                </a:solidFill>
                <a:latin typeface="Noto Sans"/>
                <a:ea typeface="Noto Sans Thai"/>
                <a:cs typeface="Noto Sans Thai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" y="1755648"/>
            <a:ext cx="129844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D7E3C9"/>
                </a:solidFill>
                <a:latin typeface="Noto Sans"/>
                <a:ea typeface="Noto Sans Thai"/>
                <a:cs typeface="Noto Sans Thai"/>
              </a:rPr>
              <a:t>ผลจริงวันที่ 3 ตุลาคม 2569 • รุ่นซอฟต์แวร์ 5125774 • ไม่ใช่ผลการทดลองกับมนุษย์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260336" y="2514600"/>
            <a:ext cx="0" cy="4361688"/>
          </a:xfrm>
          <a:prstGeom prst="line">
            <a:avLst/>
          </a:prstGeom>
          <a:ln w="12700">
            <a:solidFill>
              <a:srgbClr val="54745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icon-Code-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459736"/>
            <a:ext cx="566928" cy="56692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32688" y="3172968"/>
            <a:ext cx="2752344" cy="1508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100" b="1">
                <a:solidFill>
                  <a:srgbClr val="FFFFFF"/>
                </a:solidFill>
                <a:latin typeface="Noto Sans"/>
                <a:ea typeface="Noto Sans Thai"/>
                <a:cs typeface="Noto Sans Thai"/>
              </a:rPr>
              <a:t>99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66744" y="3858768"/>
            <a:ext cx="2039112" cy="6675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3200" b="0">
                <a:solidFill>
                  <a:srgbClr val="D7E3C9"/>
                </a:solidFill>
                <a:latin typeface="Noto Sans"/>
                <a:ea typeface="Noto Sans Thai"/>
                <a:cs typeface="Noto Sans Thai"/>
              </a:rPr>
              <a:t>/ 99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1832" y="4764024"/>
            <a:ext cx="57607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400" b="1">
                <a:solidFill>
                  <a:srgbClr val="FFFFFF"/>
                </a:solidFill>
                <a:latin typeface="Noto Sans"/>
                <a:ea typeface="Noto Sans Thai"/>
                <a:cs typeface="Noto Sans Thai"/>
              </a:rPr>
              <a:t>ฟังก์ชัน • API • ฐานข้อมูล</a:t>
            </a:r>
          </a:p>
        </p:txBody>
      </p:sp>
      <p:pic>
        <p:nvPicPr>
          <p:cNvPr id="14" name="Picture 13" descr="icon-Monitor-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5552" y="2459736"/>
            <a:ext cx="566928" cy="56692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909560" y="3172968"/>
            <a:ext cx="2752344" cy="1508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100" b="1">
                <a:solidFill>
                  <a:srgbClr val="FFFFFF"/>
                </a:solidFill>
                <a:latin typeface="Noto Sans"/>
                <a:ea typeface="Noto Sans Thai"/>
                <a:cs typeface="Noto Sans Thai"/>
              </a:rPr>
              <a:t>51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43616" y="3858768"/>
            <a:ext cx="2039112" cy="6675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3200" b="0">
                <a:solidFill>
                  <a:srgbClr val="D7E3C9"/>
                </a:solidFill>
                <a:latin typeface="Noto Sans"/>
                <a:ea typeface="Noto Sans Thai"/>
                <a:cs typeface="Noto Sans Thai"/>
              </a:rPr>
              <a:t>/ 51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18704" y="4764024"/>
            <a:ext cx="57607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400" b="1">
                <a:solidFill>
                  <a:srgbClr val="FFFFFF"/>
                </a:solidFill>
                <a:latin typeface="Noto Sans"/>
                <a:ea typeface="Noto Sans Thai"/>
                <a:cs typeface="Noto Sans Thai"/>
              </a:rPr>
              <a:t>การใช้งานผ่านเบราว์เซอร์</a:t>
            </a:r>
          </a:p>
        </p:txBody>
      </p:sp>
      <p:pic>
        <p:nvPicPr>
          <p:cNvPr id="18" name="Picture 17" descr="icon-Check-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552" y="5614416"/>
            <a:ext cx="192024" cy="192024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353312" y="5586984"/>
            <a:ext cx="5394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50" b="0">
                <a:solidFill>
                  <a:srgbClr val="FFFFFF"/>
                </a:solidFill>
                <a:latin typeface="Noto Sans"/>
                <a:ea typeface="Noto Sans Thai"/>
                <a:cs typeface="Noto Sans Thai"/>
              </a:rPr>
              <a:t>61 กฎข้อมูลและแค็ตตาล็อก</a:t>
            </a:r>
          </a:p>
        </p:txBody>
      </p:sp>
      <p:pic>
        <p:nvPicPr>
          <p:cNvPr id="20" name="Picture 19" descr="icon-Check-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552" y="5925312"/>
            <a:ext cx="192024" cy="192024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353312" y="5897880"/>
            <a:ext cx="5394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50" b="0">
                <a:solidFill>
                  <a:srgbClr val="FFFFFF"/>
                </a:solidFill>
                <a:latin typeface="Noto Sans"/>
                <a:ea typeface="Noto Sans Thai"/>
                <a:cs typeface="Noto Sans Thai"/>
              </a:rPr>
              <a:t>10 กรณี AI/API แบบจำลอง</a:t>
            </a:r>
          </a:p>
        </p:txBody>
      </p:sp>
      <p:pic>
        <p:nvPicPr>
          <p:cNvPr id="22" name="Picture 21" descr="icon-Check-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552" y="6236207"/>
            <a:ext cx="192024" cy="192024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353312" y="6208776"/>
            <a:ext cx="5394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50" b="0">
                <a:solidFill>
                  <a:srgbClr val="FFFFFF"/>
                </a:solidFill>
                <a:latin typeface="Noto Sans"/>
                <a:ea typeface="Noto Sans Thai"/>
                <a:cs typeface="Noto Sans Thai"/>
              </a:rPr>
              <a:t>17 ชุมชน/API + 5 SQL ชุมชน</a:t>
            </a:r>
          </a:p>
        </p:txBody>
      </p:sp>
      <p:pic>
        <p:nvPicPr>
          <p:cNvPr id="24" name="Picture 23" descr="icon-Check-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552" y="6547104"/>
            <a:ext cx="192024" cy="192024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353312" y="6519672"/>
            <a:ext cx="5394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50" b="0">
                <a:solidFill>
                  <a:srgbClr val="FFFFFF"/>
                </a:solidFill>
                <a:latin typeface="Noto Sans"/>
                <a:ea typeface="Noto Sans Thai"/>
                <a:cs typeface="Noto Sans Thai"/>
              </a:rPr>
              <a:t>6 SQL โควตาการโพสต์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91856" y="5559552"/>
            <a:ext cx="5687568" cy="12435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50" b="0">
                <a:solidFill>
                  <a:srgbClr val="FFFFFF"/>
                </a:solidFill>
                <a:latin typeface="Noto Sans"/>
                <a:ea typeface="Noto Sans Thai"/>
                <a:cs typeface="Noto Sans Thai"/>
              </a:rPr>
              <a:t>Chromium ผ่าน Playwright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50" b="0">
                <a:solidFill>
                  <a:srgbClr val="FFFFFF"/>
                </a:solidFill>
                <a:latin typeface="Noto Sans"/>
                <a:ea typeface="Noto Sans Thai"/>
                <a:cs typeface="Noto Sans Thai"/>
              </a:rPr>
              <a:t>หน้าจอ 1440 / 768 / 360 พิกเซล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50" b="0">
                <a:solidFill>
                  <a:srgbClr val="FFFFFF"/>
                </a:solidFill>
                <a:latin typeface="Noto Sans"/>
                <a:ea typeface="Noto Sans Thai"/>
                <a:cs typeface="Noto Sans Thai"/>
              </a:rPr>
              <a:t>ทดสอบค้นหา คู่มือ บันทึกข้อมูล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50" b="0">
                <a:solidFill>
                  <a:srgbClr val="FFFFFF"/>
                </a:solidFill>
                <a:latin typeface="Noto Sans"/>
                <a:ea typeface="Noto Sans Thai"/>
                <a:cs typeface="Noto Sans Thai"/>
              </a:rPr>
              <a:t>และสถานะบัญชี/ชุมชนด้วยข้อมูลทดสอบ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7306056"/>
            <a:ext cx="1316736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00" b="0">
                <a:solidFill>
                  <a:srgbClr val="D7E3C9"/>
                </a:solidFill>
                <a:latin typeface="Noto Sans"/>
                <a:ea typeface="Noto Sans Thai"/>
                <a:cs typeface="Noto Sans Thai"/>
              </a:rPr>
              <a:t>ทั้งสองชุด: ไม่ผ่าน 0 / ข้าม 0 • ข้อมูลบัญชีและผู้ให้บริการในชุดอัตโนมัติเป็นข้อมูลทดสอบ ไม่ใช่การทดสอบ OAuth จริงทั้งหมด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393192"/>
            <a:ext cx="109728" cy="182880"/>
          </a:xfrm>
          <a:prstGeom prst="rect">
            <a:avLst/>
          </a:prstGeom>
          <a:solidFill>
            <a:srgbClr val="839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338328"/>
            <a:ext cx="12618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บทที่ 4 / ผลการวิจัย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68680"/>
            <a:ext cx="1316736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32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ผลตรวจคุณภาพและขอบเขตของหลักฐาน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7726679"/>
            <a:ext cx="13350240" cy="0"/>
          </a:xfrm>
          <a:prstGeom prst="line">
            <a:avLst/>
          </a:prstGeom>
          <a:ln w="8255">
            <a:solidFill>
              <a:srgbClr val="D9E1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7872983"/>
            <a:ext cx="54864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00" b="0">
                <a:solidFill>
                  <a:srgbClr val="637267"/>
                </a:solidFill>
                <a:latin typeface="Noto Sans"/>
                <a:ea typeface="Noto Sans Thai"/>
                <a:cs typeface="Noto Sans Thai"/>
              </a:rPr>
              <a:t>REBUILD  /  RESEARCH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04520" y="7827264"/>
            <a:ext cx="6858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300" b="1">
                <a:solidFill>
                  <a:srgbClr val="637267"/>
                </a:solidFill>
                <a:latin typeface="Noto Sans"/>
                <a:ea typeface="Noto Sans Thai"/>
                <a:cs typeface="Noto Sans Thai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093976"/>
            <a:ext cx="286207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รายการ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43400" y="2093976"/>
            <a:ext cx="4626864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ผลที่ตรวจพบ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71432" y="2093976"/>
            <a:ext cx="46177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ขอบเขตการตีความ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624328"/>
            <a:ext cx="13249656" cy="758952"/>
          </a:xfrm>
          <a:prstGeom prst="roundRect">
            <a:avLst>
              <a:gd name="adj" fmla="val 3000"/>
            </a:avLst>
          </a:prstGeom>
          <a:solidFill>
            <a:srgbClr val="ECF1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con-Eye-19573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798064"/>
            <a:ext cx="365760" cy="36576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463040" y="2743200"/>
            <a:ext cx="2688336" cy="576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8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การเข้าถึงด้วย axe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43400" y="2752344"/>
            <a:ext cx="44348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5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75 การสแกน ไม่พบข้อผิดพลาดตามกฎที่ใช้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71432" y="2752344"/>
            <a:ext cx="45262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637267"/>
                </a:solidFill>
                <a:latin typeface="Noto Sans"/>
                <a:ea typeface="Noto Sans Thai"/>
                <a:cs typeface="Noto Sans Thai"/>
              </a:rPr>
              <a:t>ไม่ใช่การรับรอง WCAG ครบทุกข้อ</a:t>
            </a:r>
          </a:p>
        </p:txBody>
      </p:sp>
      <p:pic>
        <p:nvPicPr>
          <p:cNvPr id="16" name="Picture 15" descr="icon-ShieldCheck-19573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611880"/>
            <a:ext cx="365760" cy="36576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463040" y="3557016"/>
            <a:ext cx="2688336" cy="576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8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Dependency audit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43400" y="3566160"/>
            <a:ext cx="44348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5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0 ช่องโหว่ที่ฐานข้อมูลรายงาน ณ วันที่ตรวจ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71432" y="3566160"/>
            <a:ext cx="45262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637267"/>
                </a:solidFill>
                <a:latin typeface="Noto Sans"/>
                <a:ea typeface="Noto Sans Thai"/>
                <a:cs typeface="Noto Sans Thai"/>
              </a:rPr>
              <a:t>ไม่ใช่การรับรองว่าระบบไม่มีช่องโหว่ทุกประเภท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251959"/>
            <a:ext cx="13249656" cy="758952"/>
          </a:xfrm>
          <a:prstGeom prst="roundRect">
            <a:avLst>
              <a:gd name="adj" fmla="val 3000"/>
            </a:avLst>
          </a:prstGeom>
          <a:solidFill>
            <a:srgbClr val="ECF1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con-Code-19573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4425696"/>
            <a:ext cx="365760" cy="36576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463040" y="4370831"/>
            <a:ext cx="2688336" cy="576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8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TypeScript / build / lint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43400" y="4379976"/>
            <a:ext cx="44348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5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ผ่านสำหรับรุ่นที่ทดสอบ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71432" y="4379976"/>
            <a:ext cx="45262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637267"/>
                </a:solidFill>
                <a:latin typeface="Noto Sans"/>
                <a:ea typeface="Noto Sans Thai"/>
                <a:cs typeface="Noto Sans Thai"/>
              </a:rPr>
              <a:t>มีคำเตือนขนาดไฟล์ฝั่งผู้ใช้ซึ่งไม่ทำให้ build ล้มเหลว</a:t>
            </a:r>
          </a:p>
        </p:txBody>
      </p:sp>
      <p:pic>
        <p:nvPicPr>
          <p:cNvPr id="25" name="Picture 24" descr="icon-Database-19573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5239512"/>
            <a:ext cx="365760" cy="36576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463040" y="5184647"/>
            <a:ext cx="2688336" cy="576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8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ความคงอยู่ของโควตา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43400" y="5193792"/>
            <a:ext cx="44348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5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ค่าคงอยู่เมื่อปิดและเปิดฐานข้อมูล PGlite ใหม่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71432" y="5193792"/>
            <a:ext cx="45262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637267"/>
                </a:solidFill>
                <a:latin typeface="Noto Sans"/>
                <a:ea typeface="Noto Sans Thai"/>
                <a:cs typeface="Noto Sans Thai"/>
              </a:rPr>
              <a:t>เป็นการตรวจฐานข้อมูลในเครื่อง ไม่ใช่หลักฐานรีสตาร์ต Render จริง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5879592"/>
            <a:ext cx="13249656" cy="758952"/>
          </a:xfrm>
          <a:prstGeom prst="roundRect">
            <a:avLst>
              <a:gd name="adj" fmla="val 3000"/>
            </a:avLst>
          </a:prstGeom>
          <a:solidFill>
            <a:srgbClr val="ECF1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icon-Users-19573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" y="6053328"/>
            <a:ext cx="365760" cy="36576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463040" y="5998464"/>
            <a:ext cx="2688336" cy="576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8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บัญชีและการอนุมัติ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43400" y="6007608"/>
            <a:ext cx="44348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5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ผู้จัดทำรายงานว่าล็อกอิน อนุมัติ และลบรีวิวได้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71432" y="6007608"/>
            <a:ext cx="45262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637267"/>
                </a:solidFill>
                <a:latin typeface="Noto Sans"/>
                <a:ea typeface="Noto Sans Thai"/>
                <a:cs typeface="Noto Sans Thai"/>
              </a:rPr>
              <a:t>แยกการรายงานการลองใช้จริงจากชุดทดสอบอัตโนมัติ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7278624"/>
            <a:ext cx="1316736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00" b="0">
                <a:solidFill>
                  <a:srgbClr val="637267"/>
                </a:solidFill>
                <a:latin typeface="Noto Sans"/>
                <a:ea typeface="Noto Sans Thai"/>
                <a:cs typeface="Noto Sans Thai"/>
              </a:rPr>
              <a:t>สภาพแวดล้อม: Node 24.19.0 • npm 11.9.0 • Chromium 151 • ไม่ได้วัดความแม่นยำ AI หรือทดสอบชิ้นงานจริงทุกโครงงาน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393192"/>
            <a:ext cx="109728" cy="182880"/>
          </a:xfrm>
          <a:prstGeom prst="rect">
            <a:avLst/>
          </a:prstGeom>
          <a:solidFill>
            <a:srgbClr val="839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338328"/>
            <a:ext cx="12618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บทที่ 4 / ผลการวิจัย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68680"/>
            <a:ext cx="1316736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32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ผลคะแนนรีวิวที่เผยแพร่บนเว็บไซต์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7726679"/>
            <a:ext cx="13350240" cy="0"/>
          </a:xfrm>
          <a:prstGeom prst="line">
            <a:avLst/>
          </a:prstGeom>
          <a:ln w="8255">
            <a:solidFill>
              <a:srgbClr val="D9E1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7872983"/>
            <a:ext cx="54864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00" b="0">
                <a:solidFill>
                  <a:srgbClr val="637267"/>
                </a:solidFill>
                <a:latin typeface="Noto Sans"/>
                <a:ea typeface="Noto Sans Thai"/>
                <a:cs typeface="Noto Sans Thai"/>
              </a:rPr>
              <a:t>REBUILD  /  RESEARCH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04520" y="7827264"/>
            <a:ext cx="6858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300" b="1">
                <a:solidFill>
                  <a:srgbClr val="637267"/>
                </a:solidFill>
                <a:latin typeface="Noto Sans"/>
                <a:ea typeface="Noto Sans Thai"/>
                <a:cs typeface="Noto Sans Thai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" y="1819656"/>
            <a:ext cx="1298448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637267"/>
                </a:solidFill>
                <a:latin typeface="Noto Sans"/>
                <a:ea typeface="Noto Sans Thai"/>
                <a:cs typeface="Noto Sans Thai"/>
              </a:rPr>
              <a:t>ข้อมูลวันที่ 3 ตุลาคม 2569 • ตรวจรายการ ณ 23:04 น. ตามเวลาไทย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731520" y="2404872"/>
          <a:ext cx="4846320" cy="395020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1591056" y="3392424"/>
            <a:ext cx="3127248" cy="10607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</a:pPr>
            <a:r>
              <a:rPr sz="66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21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9344" y="4498848"/>
            <a:ext cx="3072384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</a:pPr>
            <a:r>
              <a:rPr sz="21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รายการรีวิว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3544" y="6281928"/>
            <a:ext cx="2578608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31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3.90 / 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6912864"/>
            <a:ext cx="4206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637267"/>
                </a:solidFill>
                <a:latin typeface="Noto Sans"/>
                <a:ea typeface="Noto Sans Thai"/>
                <a:cs typeface="Noto Sans Thai"/>
              </a:rPr>
              <a:t>เฉลี่ยรวม • SD = 0.77</a:t>
            </a:r>
          </a:p>
        </p:txBody>
      </p:sp>
      <p:pic>
        <p:nvPicPr>
          <p:cNvPr id="14" name="Picture 13" descr="icon-Star-19573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2587751"/>
            <a:ext cx="246888" cy="24688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473952" y="2560320"/>
            <a:ext cx="640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5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095744" y="2633472"/>
            <a:ext cx="4361688" cy="228600"/>
          </a:xfrm>
          <a:prstGeom prst="roundRect">
            <a:avLst>
              <a:gd name="adj" fmla="val 5000"/>
            </a:avLst>
          </a:prstGeom>
          <a:solidFill>
            <a:srgbClr val="ECF1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095744" y="2633472"/>
            <a:ext cx="2423160" cy="228600"/>
          </a:xfrm>
          <a:prstGeom prst="roundRect">
            <a:avLst>
              <a:gd name="adj" fmla="val 5000"/>
            </a:avLst>
          </a:prstGeom>
          <a:solidFill>
            <a:srgbClr val="839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777472" y="2560320"/>
            <a:ext cx="219456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5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5 รายการ  (23.8%)</a:t>
            </a:r>
          </a:p>
        </p:txBody>
      </p:sp>
      <p:pic>
        <p:nvPicPr>
          <p:cNvPr id="19" name="Picture 18" descr="icon-Star-19573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3163823"/>
            <a:ext cx="246888" cy="24688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473952" y="3136391"/>
            <a:ext cx="640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4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095744" y="3209544"/>
            <a:ext cx="4361688" cy="228600"/>
          </a:xfrm>
          <a:prstGeom prst="roundRect">
            <a:avLst>
              <a:gd name="adj" fmla="val 5000"/>
            </a:avLst>
          </a:prstGeom>
          <a:solidFill>
            <a:srgbClr val="ECF1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095744" y="3209544"/>
            <a:ext cx="4361688" cy="228600"/>
          </a:xfrm>
          <a:prstGeom prst="roundRect">
            <a:avLst>
              <a:gd name="adj" fmla="val 5000"/>
            </a:avLst>
          </a:prstGeom>
          <a:solidFill>
            <a:srgbClr val="1957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777472" y="3136391"/>
            <a:ext cx="219456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5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9 รายการ  (42.9%)</a:t>
            </a:r>
          </a:p>
        </p:txBody>
      </p:sp>
      <p:pic>
        <p:nvPicPr>
          <p:cNvPr id="24" name="Picture 23" descr="icon-Star-19573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3739896"/>
            <a:ext cx="246888" cy="246888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6473952" y="3712463"/>
            <a:ext cx="640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3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095744" y="3785615"/>
            <a:ext cx="4361688" cy="228600"/>
          </a:xfrm>
          <a:prstGeom prst="roundRect">
            <a:avLst>
              <a:gd name="adj" fmla="val 5000"/>
            </a:avLst>
          </a:prstGeom>
          <a:solidFill>
            <a:srgbClr val="ECF1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095744" y="3785615"/>
            <a:ext cx="3392424" cy="228600"/>
          </a:xfrm>
          <a:prstGeom prst="roundRect">
            <a:avLst>
              <a:gd name="adj" fmla="val 5000"/>
            </a:avLst>
          </a:prstGeom>
          <a:solidFill>
            <a:srgbClr val="B59C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777472" y="3712463"/>
            <a:ext cx="219456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5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7 รายการ  (33.3%)</a:t>
            </a:r>
          </a:p>
        </p:txBody>
      </p:sp>
      <p:pic>
        <p:nvPicPr>
          <p:cNvPr id="29" name="Picture 28" descr="icon-Star-19573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4315968"/>
            <a:ext cx="246888" cy="246888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6473952" y="4288536"/>
            <a:ext cx="640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2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095744" y="4361688"/>
            <a:ext cx="4361688" cy="228600"/>
          </a:xfrm>
          <a:prstGeom prst="roundRect">
            <a:avLst>
              <a:gd name="adj" fmla="val 5000"/>
            </a:avLst>
          </a:prstGeom>
          <a:solidFill>
            <a:srgbClr val="ECF1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777472" y="4288536"/>
            <a:ext cx="219456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5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0 รายการ  (0.0%)</a:t>
            </a:r>
          </a:p>
        </p:txBody>
      </p:sp>
      <p:pic>
        <p:nvPicPr>
          <p:cNvPr id="33" name="Picture 32" descr="icon-Star-19573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4892040"/>
            <a:ext cx="246888" cy="24688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6473952" y="4864608"/>
            <a:ext cx="640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1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095744" y="4937760"/>
            <a:ext cx="4361688" cy="228600"/>
          </a:xfrm>
          <a:prstGeom prst="roundRect">
            <a:avLst>
              <a:gd name="adj" fmla="val 5000"/>
            </a:avLst>
          </a:prstGeom>
          <a:solidFill>
            <a:srgbClr val="ECF1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777472" y="4864608"/>
            <a:ext cx="219456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5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0 รายการ  (0.0%)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025896" y="5888736"/>
            <a:ext cx="7955279" cy="1051560"/>
          </a:xfrm>
          <a:prstGeom prst="roundRect">
            <a:avLst>
              <a:gd name="adj" fmla="val 6000"/>
            </a:avLst>
          </a:prstGeom>
          <a:solidFill>
            <a:srgbClr val="ECF1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45936" y="6089904"/>
            <a:ext cx="7278624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0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เว็บไซต์: 19 รายการ เฉลี่ย 3.95 / 5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0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โครงงาน: 2 รายการ เฉลี่ย 3.50 / 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7333488"/>
            <a:ext cx="1316736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80" b="0">
                <a:solidFill>
                  <a:srgbClr val="637267"/>
                </a:solidFill>
                <a:latin typeface="Noto Sans"/>
                <a:ea typeface="Noto Sans Thai"/>
                <a:cs typeface="Noto Sans Thai"/>
              </a:rPr>
              <a:t>สรุปตามรายการ ไม่ใช่จำนวนคนไม่ซ้ำ • ค่าเฉลี่ยรวมผสมรีวิวต่างประเภท ใช้อธิบายชุดข้อมูล ไม่ใช่คะแนนแบบสอบถามมาตรฐาน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F1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393192"/>
            <a:ext cx="109728" cy="182880"/>
          </a:xfrm>
          <a:prstGeom prst="rect">
            <a:avLst/>
          </a:prstGeom>
          <a:solidFill>
            <a:srgbClr val="839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338328"/>
            <a:ext cx="12618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บทที่ 4 / ผลการวิจัย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68680"/>
            <a:ext cx="1316736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32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ข้อคิดเห็นและประเด็นที่ควรปรับปรุง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7726679"/>
            <a:ext cx="13350240" cy="0"/>
          </a:xfrm>
          <a:prstGeom prst="line">
            <a:avLst/>
          </a:prstGeom>
          <a:ln w="8255">
            <a:solidFill>
              <a:srgbClr val="D9E1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7872983"/>
            <a:ext cx="54864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00" b="0">
                <a:solidFill>
                  <a:srgbClr val="637267"/>
                </a:solidFill>
                <a:latin typeface="Noto Sans"/>
                <a:ea typeface="Noto Sans Thai"/>
                <a:cs typeface="Noto Sans Thai"/>
              </a:rPr>
              <a:t>REBUILD  /  RESEARCH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04520" y="7827264"/>
            <a:ext cx="6858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300" b="1">
                <a:solidFill>
                  <a:srgbClr val="637267"/>
                </a:solidFill>
                <a:latin typeface="Noto Sans"/>
                <a:ea typeface="Noto Sans Thai"/>
                <a:cs typeface="Noto Sans Thai"/>
              </a:rPr>
              <a:t>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084831"/>
            <a:ext cx="4160520" cy="5020056"/>
          </a:xfrm>
          <a:prstGeom prst="roundRect">
            <a:avLst>
              <a:gd name="adj" fmla="val 5000"/>
            </a:avLst>
          </a:prstGeom>
          <a:solidFill>
            <a:srgbClr val="1957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con-Quote-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2459736"/>
            <a:ext cx="822960" cy="8229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051560" y="3575304"/>
            <a:ext cx="3547872" cy="1426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3300" b="1">
                <a:solidFill>
                  <a:srgbClr val="FFFFFF"/>
                </a:solidFill>
                <a:latin typeface="Noto Sans"/>
                <a:ea typeface="Noto Sans Thai"/>
                <a:cs typeface="Noto Sans Thai"/>
              </a:rPr>
              <a:t>“ตัวหนังสือเล็ก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3300" b="1">
                <a:solidFill>
                  <a:srgbClr val="FFFFFF"/>
                </a:solidFill>
                <a:latin typeface="Noto Sans"/>
                <a:ea typeface="Noto Sans Thai"/>
                <a:cs typeface="Noto Sans Thai"/>
              </a:rPr>
              <a:t>อ่านยาก”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5248656"/>
            <a:ext cx="352044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D7E3C9"/>
                </a:solidFill>
                <a:latin typeface="Noto Sans"/>
                <a:ea typeface="Noto Sans Thai"/>
                <a:cs typeface="Noto Sans Thai"/>
              </a:rPr>
              <a:t>ข้อความจากรีวิวที่เผยแพร่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051560" y="5888736"/>
            <a:ext cx="3483864" cy="0"/>
          </a:xfrm>
          <a:prstGeom prst="line">
            <a:avLst/>
          </a:prstGeom>
          <a:ln w="12700">
            <a:solidFill>
              <a:srgbClr val="5F816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051560" y="6227064"/>
            <a:ext cx="352044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000" b="0">
                <a:solidFill>
                  <a:srgbClr val="FFFFFF"/>
                </a:solidFill>
                <a:latin typeface="Noto Sans"/>
                <a:ea typeface="Noto Sans Thai"/>
                <a:cs typeface="Noto Sans Thai"/>
              </a:rPr>
              <a:t>ใช้ข้อคิดเห็นชี้จุดที่ควรตรวจต่อ</a:t>
            </a:r>
          </a:p>
        </p:txBody>
      </p:sp>
      <p:pic>
        <p:nvPicPr>
          <p:cNvPr id="14" name="Picture 13" descr="icon-MessageSquare-19573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0680" y="2249424"/>
            <a:ext cx="466344" cy="46634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440680" y="2944368"/>
            <a:ext cx="3968496" cy="630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1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สิ่งที่ได้รับคำชม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40680" y="3721608"/>
            <a:ext cx="3931920" cy="11612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2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มีข้อความชื่นชมการนำทาง ความสบายตา และแนวคิดนำของในบ้านมาใช้ต่อ สะท้อนประเด็นที่ผู้โพสต์มองว่ามีประโยชน์</a:t>
            </a:r>
          </a:p>
        </p:txBody>
      </p:sp>
      <p:pic>
        <p:nvPicPr>
          <p:cNvPr id="17" name="Picture 16" descr="icon-BookOpen-19573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12096" y="2249424"/>
            <a:ext cx="466344" cy="466344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9912096" y="2944368"/>
            <a:ext cx="3968496" cy="630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1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ภาพและคำอธิบายเฉพาะขั้น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12096" y="3721608"/>
            <a:ext cx="3931920" cy="11612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2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ขอภาพใกล้ ๆ ตอนผูกก้นถุง ร้อยเชือก เย็บผ้า และวิดีโอสั้นที่ตรงขั้นตอน รวมถึงวิธีตรวจเมื่อทำแล้วไม่เป็นไปตามคาด</a:t>
            </a:r>
          </a:p>
        </p:txBody>
      </p:sp>
      <p:pic>
        <p:nvPicPr>
          <p:cNvPr id="20" name="Picture 19" descr="icon-Package-19573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40680" y="4800600"/>
            <a:ext cx="466344" cy="466344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5440680" y="5495544"/>
            <a:ext cx="3968496" cy="630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1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วัสดุและเงื่อนไขการทดลอง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40680" y="6272784"/>
            <a:ext cx="3931920" cy="11612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2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ขอตัวอย่างขนาดกระดาษ ชนิดผ้าและเชือก ข้อจำกัดเมื่อเปียก และการกำหนดฐาน/เหรียญให้เหมือนกันก่อนเทียบผล</a:t>
            </a:r>
          </a:p>
        </p:txBody>
      </p:sp>
      <p:pic>
        <p:nvPicPr>
          <p:cNvPr id="23" name="Picture 22" descr="icon-Eye-19573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12096" y="4800600"/>
            <a:ext cx="466344" cy="466344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9912096" y="5495544"/>
            <a:ext cx="3968496" cy="630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1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ส่วนติดต่อและตัวเลือก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12096" y="6272784"/>
            <a:ext cx="3931920" cy="11612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2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มีข้อความว่า “ตัวหนังสือเล็ก อ่านยาก” พร้อมข้อเสนอเรื่องธีม จำนวนโครงงาน และระดับความยาก ควรตรวจต่อกับอุปกรณ์ที่ผู้ใช้พบปัญหา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7351775"/>
            <a:ext cx="1316736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00" b="0">
                <a:solidFill>
                  <a:srgbClr val="637267"/>
                </a:solidFill>
                <a:latin typeface="Noto Sans"/>
                <a:ea typeface="Noto Sans Thai"/>
                <a:cs typeface="Noto Sans Thai"/>
              </a:rPr>
              <a:t>เป็นการสรุปประเด็นจากข้อความ ไม่ใช่ข้อยืนยันว่าทุกข้อความเป็นบั๊กที่ทำซ้ำได้ หรือว่าผู้ใช้ทุกคนเห็นเหมือนกัน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393192"/>
            <a:ext cx="109728" cy="182880"/>
          </a:xfrm>
          <a:prstGeom prst="rect">
            <a:avLst/>
          </a:prstGeom>
          <a:solidFill>
            <a:srgbClr val="839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338328"/>
            <a:ext cx="12618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บทที่ 5 / สรุป อภิปรายผล และข้อเสนอแนะ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68680"/>
            <a:ext cx="1316736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32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สรุปผลตามวัตถุประสงค์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7726679"/>
            <a:ext cx="13350240" cy="0"/>
          </a:xfrm>
          <a:prstGeom prst="line">
            <a:avLst/>
          </a:prstGeom>
          <a:ln w="8255">
            <a:solidFill>
              <a:srgbClr val="D9E1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7872983"/>
            <a:ext cx="54864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00" b="0">
                <a:solidFill>
                  <a:srgbClr val="637267"/>
                </a:solidFill>
                <a:latin typeface="Noto Sans"/>
                <a:ea typeface="Noto Sans Thai"/>
                <a:cs typeface="Noto Sans Thai"/>
              </a:rPr>
              <a:t>REBUILD  /  RESEARCH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04520" y="7827264"/>
            <a:ext cx="6858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300" b="1">
                <a:solidFill>
                  <a:srgbClr val="637267"/>
                </a:solidFill>
                <a:latin typeface="Noto Sans"/>
                <a:ea typeface="Noto Sans Thai"/>
                <a:cs typeface="Noto Sans Thai"/>
              </a:rPr>
              <a:t>16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77240" y="2980944"/>
            <a:ext cx="4041648" cy="0"/>
          </a:xfrm>
          <a:prstGeom prst="line">
            <a:avLst/>
          </a:prstGeom>
          <a:ln w="25400">
            <a:solidFill>
              <a:srgbClr val="D9E1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832103" y="2377440"/>
            <a:ext cx="1225296" cy="1225296"/>
          </a:xfrm>
          <a:prstGeom prst="ellipse">
            <a:avLst/>
          </a:prstGeom>
          <a:solidFill>
            <a:srgbClr val="1957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con-House-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3856" y="2679192"/>
            <a:ext cx="621792" cy="6217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22960" y="3950208"/>
            <a:ext cx="3913632" cy="9235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3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พัฒนาต้นแบบได้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3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ตามขอบเขตหลัก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038344"/>
            <a:ext cx="3895344" cy="1344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มีระบบค้นหา คู่มือ วัสดุ แผนงาน และชุมชน พร้อมเนื้อหา 37 โครงงานและวัสดุ 94 ประเภท โดยยังมีข้อจำกัดของต้นแบบ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294376" y="2980944"/>
            <a:ext cx="4041648" cy="0"/>
          </a:xfrm>
          <a:prstGeom prst="line">
            <a:avLst/>
          </a:prstGeom>
          <a:ln w="25400">
            <a:solidFill>
              <a:srgbClr val="D9E1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5349240" y="2377440"/>
            <a:ext cx="1225296" cy="1225296"/>
          </a:xfrm>
          <a:prstGeom prst="ellipse">
            <a:avLst/>
          </a:prstGeom>
          <a:solidFill>
            <a:srgbClr val="839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con-CircleCheck-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2679192"/>
            <a:ext cx="621792" cy="62179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340096" y="3950208"/>
            <a:ext cx="3913632" cy="9235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3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ระบบผ่านกรณีทดสอบ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3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ที่ดำเนินการ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40096" y="5038344"/>
            <a:ext cx="3895344" cy="1344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ผ่าน 99 กรณีด้านฟังก์ชัน/API/SQL และ 51 กรณีผ่านเบราว์เซอร์ เป็นหลักฐานเฉพาะรุ่นและเงื่อนไขที่ตรวจ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811512" y="2980944"/>
            <a:ext cx="4041648" cy="0"/>
          </a:xfrm>
          <a:prstGeom prst="line">
            <a:avLst/>
          </a:prstGeom>
          <a:ln w="25400">
            <a:solidFill>
              <a:srgbClr val="D9E1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9866376" y="2377440"/>
            <a:ext cx="1225296" cy="1225296"/>
          </a:xfrm>
          <a:prstGeom prst="ellipse">
            <a:avLst/>
          </a:prstGeom>
          <a:solidFill>
            <a:srgbClr val="B59C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icon-MessageSquare-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68128" y="2679192"/>
            <a:ext cx="621792" cy="621792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9857232" y="3950208"/>
            <a:ext cx="3913632" cy="9235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3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ได้ข้อมูลประเด็นพัฒนาต่อ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57232" y="5038344"/>
            <a:ext cx="3895344" cy="1344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รีวิวเผยแพร่ 21 รายการมีค่าเฉลี่ยรวม 3.90/5 และมีข้อเสนอที่นำไปตรวจต่อได้ เช่น ภาพละเอียด วัสดุ และขนาดตัวอักษร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4672" y="6510528"/>
            <a:ext cx="13176504" cy="804672"/>
          </a:xfrm>
          <a:prstGeom prst="roundRect">
            <a:avLst>
              <a:gd name="adj" fmla="val 7000"/>
            </a:avLst>
          </a:prstGeom>
          <a:solidFill>
            <a:srgbClr val="F2EA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icon-CircleHelp-19573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4984" y="6684264"/>
            <a:ext cx="365760" cy="36576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627632" y="6675120"/>
            <a:ext cx="3968496" cy="4846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สมมติฐานยังยืนยันไม่ได้ทั้งหมด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32704" y="6629400"/>
            <a:ext cx="7973568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8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ยังไม่มีเวลา/ผลสำเร็จรายบุคคลหรือแบบวัดการเรียนรู้ จึงไม่สรุปว่าระบบช่วยให้ทำงานเร็วขึ้น เรียนรู้มากขึ้น หรือลดขยะได้จริง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393192"/>
            <a:ext cx="109728" cy="182880"/>
          </a:xfrm>
          <a:prstGeom prst="rect">
            <a:avLst/>
          </a:prstGeom>
          <a:solidFill>
            <a:srgbClr val="839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338328"/>
            <a:ext cx="12618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บทที่ 5 / สรุป อภิปรายผล และข้อเสนอแนะ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68680"/>
            <a:ext cx="1316736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32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การอภิปรายผล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7726679"/>
            <a:ext cx="13350240" cy="0"/>
          </a:xfrm>
          <a:prstGeom prst="line">
            <a:avLst/>
          </a:prstGeom>
          <a:ln w="8255">
            <a:solidFill>
              <a:srgbClr val="D9E1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7872983"/>
            <a:ext cx="54864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00" b="0">
                <a:solidFill>
                  <a:srgbClr val="637267"/>
                </a:solidFill>
                <a:latin typeface="Noto Sans"/>
                <a:ea typeface="Noto Sans Thai"/>
                <a:cs typeface="Noto Sans Thai"/>
              </a:rPr>
              <a:t>REBUILD  /  RESEARCH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04520" y="7827264"/>
            <a:ext cx="6858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300" b="1">
                <a:solidFill>
                  <a:srgbClr val="637267"/>
                </a:solidFill>
                <a:latin typeface="Noto Sans"/>
                <a:ea typeface="Noto Sans Thai"/>
                <a:cs typeface="Noto Sans Thai"/>
              </a:rPr>
              <a:t>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130552"/>
            <a:ext cx="3913632" cy="5010912"/>
          </a:xfrm>
          <a:prstGeom prst="roundRect">
            <a:avLst>
              <a:gd name="adj" fmla="val 3000"/>
            </a:avLst>
          </a:prstGeom>
          <a:solidFill>
            <a:srgbClr val="ECF1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art-bridge.png"/>
          <p:cNvPicPr>
            <a:picLocks noChangeAspect="1"/>
          </p:cNvPicPr>
          <p:nvPr/>
        </p:nvPicPr>
        <p:blipFill>
          <a:blip r:embed="rId2"/>
          <a:srcRect l="2092" r="2092"/>
          <a:stretch>
            <a:fillRect/>
          </a:stretch>
        </p:blipFill>
        <p:spPr>
          <a:xfrm>
            <a:off x="996696" y="2468880"/>
            <a:ext cx="3383280" cy="23317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024128" y="5111496"/>
            <a:ext cx="3310128" cy="1636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</a:pPr>
            <a:r>
              <a:rPr sz="25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ผลทดสอบ</a:t>
            </a:r>
          </a:p>
          <a:p>
            <a:pPr algn="ctr">
              <a:lnSpc>
                <a:spcPct val="112000"/>
              </a:lnSpc>
              <a:spcAft>
                <a:spcPts val="500"/>
              </a:spcAft>
            </a:pPr>
            <a:r>
              <a:rPr sz="25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+</a:t>
            </a:r>
          </a:p>
          <a:p>
            <a:pPr algn="ctr">
              <a:lnSpc>
                <a:spcPct val="112000"/>
              </a:lnSpc>
              <a:spcAft>
                <a:spcPts val="500"/>
              </a:spcAft>
            </a:pPr>
            <a:r>
              <a:rPr sz="25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ประสบการณ์ใช้งาน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66944" y="2157984"/>
            <a:ext cx="704088" cy="466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200" b="1">
                <a:solidFill>
                  <a:srgbClr val="839E63"/>
                </a:solidFill>
                <a:latin typeface="Noto Sans"/>
                <a:ea typeface="Noto Sans Thai"/>
                <a:cs typeface="Noto Sans Thai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89904" y="2139696"/>
            <a:ext cx="7845552" cy="448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1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ความสอดคล้องกับแนวคิดออกแบบ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89904" y="2715768"/>
            <a:ext cx="7790688" cy="6492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39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ข้อเสนอเรื่องภาพและคำอธิบายรายขั้นสอดคล้องกับจุดมุ่งหมายของคู่มือแบบเป็นลำดับ แต่ความสอดคล้องนี้ไม่ใช่การพิสูจน์ความสัมพันธ์เชิงเหตุผล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66944" y="3419856"/>
            <a:ext cx="704088" cy="466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200" b="1">
                <a:solidFill>
                  <a:srgbClr val="839E63"/>
                </a:solidFill>
                <a:latin typeface="Noto Sans"/>
                <a:ea typeface="Noto Sans Thai"/>
                <a:cs typeface="Noto Sans Tha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89904" y="3401568"/>
            <a:ext cx="7845552" cy="448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1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คะแนนดาวกับเนื้อหาอาจต่างกัน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89904" y="3977639"/>
            <a:ext cx="7790688" cy="6492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39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บางรีวิวให้คะแนนสูงแต่ยังระบุสิ่งที่ไม่ชัด จึงควรอ่านข้อเสนอควบคู่กับคะแนน ไม่ใช้ค่าเฉลี่ยเพียงค่าเดียวตัดสินความพร้อมของระบบ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66944" y="4681727"/>
            <a:ext cx="704088" cy="466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200" b="1">
                <a:solidFill>
                  <a:srgbClr val="839E63"/>
                </a:solidFill>
                <a:latin typeface="Noto Sans"/>
                <a:ea typeface="Noto Sans Thai"/>
                <a:cs typeface="Noto Sans Thai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89904" y="4663440"/>
            <a:ext cx="7845552" cy="448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1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อัตโนมัติผ่านยังต้องตรวจผู้ใช้จริง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89904" y="5239512"/>
            <a:ext cx="7790688" cy="6492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39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axe ไม่พบปัญหาในหน้าที่ตรวจ แต่มีรีวิวเรื่องตัวหนังสือเล็ก สองอย่างไม่ขัดกัน เพราะการตรวจอัตโนมัติไม่ครอบคลุมประสบการณ์อ่านทั้งหมด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66944" y="5943599"/>
            <a:ext cx="704088" cy="466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200" b="1">
                <a:solidFill>
                  <a:srgbClr val="839E63"/>
                </a:solidFill>
                <a:latin typeface="Noto Sans"/>
                <a:ea typeface="Noto Sans Thai"/>
                <a:cs typeface="Noto Sans Thai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89904" y="5925312"/>
            <a:ext cx="7845552" cy="448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1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ลำดับความสำคัญของการปรับปรุง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89904" y="6501383"/>
            <a:ext cx="7790688" cy="6492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39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เริ่มจากความอ่านง่าย ภาพจุดสำคัญ และตัวอย่างวัสดุ จากนั้นทดสอบกับผู้ใช้ก่อนขยายจำนวนโครงงานหรือเพิ่มตัวเลือกตกแต่ง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EAD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393192"/>
            <a:ext cx="109728" cy="182880"/>
          </a:xfrm>
          <a:prstGeom prst="rect">
            <a:avLst/>
          </a:prstGeom>
          <a:solidFill>
            <a:srgbClr val="839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338328"/>
            <a:ext cx="12618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บทที่ 5 / สรุป อภิปรายผล และข้อเสนอแนะ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68680"/>
            <a:ext cx="1316736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32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ข้อจำกัดของข้อมูลและการศึกษา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7726679"/>
            <a:ext cx="13350240" cy="0"/>
          </a:xfrm>
          <a:prstGeom prst="line">
            <a:avLst/>
          </a:prstGeom>
          <a:ln w="8255">
            <a:solidFill>
              <a:srgbClr val="D9E1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7872983"/>
            <a:ext cx="54864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00" b="0">
                <a:solidFill>
                  <a:srgbClr val="637267"/>
                </a:solidFill>
                <a:latin typeface="Noto Sans"/>
                <a:ea typeface="Noto Sans Thai"/>
                <a:cs typeface="Noto Sans Thai"/>
              </a:rPr>
              <a:t>REBUILD  /  RESEARCH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04520" y="7827264"/>
            <a:ext cx="6858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300" b="1">
                <a:solidFill>
                  <a:srgbClr val="637267"/>
                </a:solidFill>
                <a:latin typeface="Noto Sans"/>
                <a:ea typeface="Noto Sans Thai"/>
                <a:cs typeface="Noto Sans Thai"/>
              </a:rPr>
              <a:t>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103120"/>
            <a:ext cx="2889504" cy="5047488"/>
          </a:xfrm>
          <a:prstGeom prst="roundRect">
            <a:avLst>
              <a:gd name="adj" fmla="val 3000"/>
            </a:avLst>
          </a:prstGeom>
          <a:solidFill>
            <a:srgbClr val="1957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con-Eye-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2456" y="2688336"/>
            <a:ext cx="1353312" cy="135331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078992" y="4590288"/>
            <a:ext cx="2212848" cy="20482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900" b="1">
                <a:solidFill>
                  <a:srgbClr val="FFFFFF"/>
                </a:solidFill>
                <a:latin typeface="Noto Sans"/>
                <a:ea typeface="Noto Sans Thai"/>
                <a:cs typeface="Noto Sans Thai"/>
              </a:rPr>
              <a:t>อ่านผล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900" b="1">
                <a:solidFill>
                  <a:srgbClr val="FFFFFF"/>
                </a:solidFill>
                <a:latin typeface="Noto Sans"/>
                <a:ea typeface="Noto Sans Thai"/>
                <a:cs typeface="Noto Sans Thai"/>
              </a:rPr>
              <a:t>ตามขอบเขต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900" b="1">
                <a:solidFill>
                  <a:srgbClr val="FFFFFF"/>
                </a:solidFill>
                <a:latin typeface="Noto Sans"/>
                <a:ea typeface="Noto Sans Thai"/>
                <a:cs typeface="Noto Sans Thai"/>
              </a:rPr>
              <a:t>ของหลักฐาน</a:t>
            </a:r>
          </a:p>
        </p:txBody>
      </p:sp>
      <p:sp>
        <p:nvSpPr>
          <p:cNvPr id="11" name="Oval 10"/>
          <p:cNvSpPr/>
          <p:nvPr/>
        </p:nvSpPr>
        <p:spPr>
          <a:xfrm>
            <a:off x="1783080" y="6684264"/>
            <a:ext cx="22860" cy="22860"/>
          </a:xfrm>
          <a:prstGeom prst="ellipse">
            <a:avLst/>
          </a:prstGeom>
          <a:solidFill>
            <a:srgbClr val="D7E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783080" y="6793992"/>
            <a:ext cx="22860" cy="22860"/>
          </a:xfrm>
          <a:prstGeom prst="ellipse">
            <a:avLst/>
          </a:prstGeom>
          <a:solidFill>
            <a:srgbClr val="D7E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783080" y="6903720"/>
            <a:ext cx="22860" cy="22860"/>
          </a:xfrm>
          <a:prstGeom prst="ellipse">
            <a:avLst/>
          </a:prstGeom>
          <a:solidFill>
            <a:srgbClr val="D7E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783080" y="7013448"/>
            <a:ext cx="22860" cy="22860"/>
          </a:xfrm>
          <a:prstGeom prst="ellipse">
            <a:avLst/>
          </a:prstGeom>
          <a:solidFill>
            <a:srgbClr val="D7E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892807" y="6684264"/>
            <a:ext cx="22860" cy="22860"/>
          </a:xfrm>
          <a:prstGeom prst="ellipse">
            <a:avLst/>
          </a:prstGeom>
          <a:solidFill>
            <a:srgbClr val="D7E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892807" y="6793992"/>
            <a:ext cx="22860" cy="22860"/>
          </a:xfrm>
          <a:prstGeom prst="ellipse">
            <a:avLst/>
          </a:prstGeom>
          <a:solidFill>
            <a:srgbClr val="D7E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892807" y="6903720"/>
            <a:ext cx="22860" cy="22860"/>
          </a:xfrm>
          <a:prstGeom prst="ellipse">
            <a:avLst/>
          </a:prstGeom>
          <a:solidFill>
            <a:srgbClr val="D7E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892807" y="7013448"/>
            <a:ext cx="22860" cy="22860"/>
          </a:xfrm>
          <a:prstGeom prst="ellipse">
            <a:avLst/>
          </a:prstGeom>
          <a:solidFill>
            <a:srgbClr val="D7E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2002536" y="6684264"/>
            <a:ext cx="22860" cy="22860"/>
          </a:xfrm>
          <a:prstGeom prst="ellipse">
            <a:avLst/>
          </a:prstGeom>
          <a:solidFill>
            <a:srgbClr val="D7E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002536" y="6793992"/>
            <a:ext cx="22860" cy="22860"/>
          </a:xfrm>
          <a:prstGeom prst="ellipse">
            <a:avLst/>
          </a:prstGeom>
          <a:solidFill>
            <a:srgbClr val="D7E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002536" y="6903720"/>
            <a:ext cx="22860" cy="22860"/>
          </a:xfrm>
          <a:prstGeom prst="ellipse">
            <a:avLst/>
          </a:prstGeom>
          <a:solidFill>
            <a:srgbClr val="D7E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02536" y="7013448"/>
            <a:ext cx="22860" cy="22860"/>
          </a:xfrm>
          <a:prstGeom prst="ellipse">
            <a:avLst/>
          </a:prstGeom>
          <a:solidFill>
            <a:srgbClr val="D7E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112264" y="6684264"/>
            <a:ext cx="22860" cy="22860"/>
          </a:xfrm>
          <a:prstGeom prst="ellipse">
            <a:avLst/>
          </a:prstGeom>
          <a:solidFill>
            <a:srgbClr val="D7E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2112264" y="6793992"/>
            <a:ext cx="22860" cy="22860"/>
          </a:xfrm>
          <a:prstGeom prst="ellipse">
            <a:avLst/>
          </a:prstGeom>
          <a:solidFill>
            <a:srgbClr val="D7E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2112264" y="6903720"/>
            <a:ext cx="22860" cy="22860"/>
          </a:xfrm>
          <a:prstGeom prst="ellipse">
            <a:avLst/>
          </a:prstGeom>
          <a:solidFill>
            <a:srgbClr val="D7E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112264" y="7013448"/>
            <a:ext cx="22860" cy="22860"/>
          </a:xfrm>
          <a:prstGeom prst="ellipse">
            <a:avLst/>
          </a:prstGeom>
          <a:solidFill>
            <a:srgbClr val="D7E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2221991" y="6684264"/>
            <a:ext cx="22860" cy="22860"/>
          </a:xfrm>
          <a:prstGeom prst="ellipse">
            <a:avLst/>
          </a:prstGeom>
          <a:solidFill>
            <a:srgbClr val="D7E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221991" y="6793992"/>
            <a:ext cx="22860" cy="22860"/>
          </a:xfrm>
          <a:prstGeom prst="ellipse">
            <a:avLst/>
          </a:prstGeom>
          <a:solidFill>
            <a:srgbClr val="D7E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2221991" y="6903720"/>
            <a:ext cx="22860" cy="22860"/>
          </a:xfrm>
          <a:prstGeom prst="ellipse">
            <a:avLst/>
          </a:prstGeom>
          <a:solidFill>
            <a:srgbClr val="D7E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221991" y="7013448"/>
            <a:ext cx="22860" cy="22860"/>
          </a:xfrm>
          <a:prstGeom prst="ellipse">
            <a:avLst/>
          </a:prstGeom>
          <a:solidFill>
            <a:srgbClr val="D7E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331720" y="6684264"/>
            <a:ext cx="22860" cy="22860"/>
          </a:xfrm>
          <a:prstGeom prst="ellipse">
            <a:avLst/>
          </a:prstGeom>
          <a:solidFill>
            <a:srgbClr val="D7E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2331720" y="6793992"/>
            <a:ext cx="22860" cy="22860"/>
          </a:xfrm>
          <a:prstGeom prst="ellipse">
            <a:avLst/>
          </a:prstGeom>
          <a:solidFill>
            <a:srgbClr val="D7E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2331720" y="6903720"/>
            <a:ext cx="22860" cy="22860"/>
          </a:xfrm>
          <a:prstGeom prst="ellipse">
            <a:avLst/>
          </a:prstGeom>
          <a:solidFill>
            <a:srgbClr val="D7E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2331720" y="7013448"/>
            <a:ext cx="22860" cy="22860"/>
          </a:xfrm>
          <a:prstGeom prst="ellipse">
            <a:avLst/>
          </a:prstGeom>
          <a:solidFill>
            <a:srgbClr val="D7E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icon-MessageSquare-19573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3087" y="2212848"/>
            <a:ext cx="429768" cy="429768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4828032" y="2139696"/>
            <a:ext cx="8906256" cy="4846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1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ที่มาของข้อความรีวิว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828032" y="2715768"/>
            <a:ext cx="8805672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5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บางข้อความตรงหรือปรับจากข้อความตัวอย่างที่เตรียมไว้ จึงไม่ใช่ความคิดเห็นอิสระทั้งหมด คะแนนรวมไม่ควรแทนผลสำรวจที่ไม่มีการชี้นำ</a:t>
            </a:r>
          </a:p>
        </p:txBody>
      </p:sp>
      <p:pic>
        <p:nvPicPr>
          <p:cNvPr id="38" name="Picture 37" descr="icon-Users-19573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33087" y="3465576"/>
            <a:ext cx="429768" cy="429768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4828032" y="3392424"/>
            <a:ext cx="8906256" cy="4846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1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จำนวนคนและการคัดเลือกข้อมูล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828032" y="3968496"/>
            <a:ext cx="8805672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5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ผู้จัดทำแจ้งผู้ทดลอง 20 คน แต่ข้อมูลสาธารณะยืนยันได้ 21 รีวิว ไม่ยืนยันคนไม่ซ้ำ และแสดงเฉพาะรายการที่ผ่านการอนุมัติ</a:t>
            </a:r>
          </a:p>
        </p:txBody>
      </p:sp>
      <p:pic>
        <p:nvPicPr>
          <p:cNvPr id="41" name="Picture 40" descr="icon-Clock-19573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33087" y="4718304"/>
            <a:ext cx="429768" cy="429768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4828032" y="4645152"/>
            <a:ext cx="8906256" cy="4846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1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เครื่องมือและข้อมูลที่ยังขาด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828032" y="5221224"/>
            <a:ext cx="8805672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5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ไม่มีผลแบบสอบถามรายข้อ เวลา หรืออัตราสำเร็จภารกิจที่บันทึกไว้ ไม่มีการตรวจความเชื่อมั่นของเครื่องมือหรือเปรียบเทียบกับกลุ่มควบคุม</a:t>
            </a:r>
          </a:p>
        </p:txBody>
      </p:sp>
      <p:pic>
        <p:nvPicPr>
          <p:cNvPr id="44" name="Picture 43" descr="icon-FlaskConical-19573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33087" y="5971032"/>
            <a:ext cx="429768" cy="429768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4828032" y="5897880"/>
            <a:ext cx="8906256" cy="4846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1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ขอบเขตทางเทคนิคและกายภาพ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828032" y="6473952"/>
            <a:ext cx="8805672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5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ผลทดสอบอ้างเฉพาะรุ่นที่ตรวจ ไม่ใช่ระบบปลอดข้อผิดพลาดทุกกรณี และยังไม่ครอบคลุมผลสร้างชิ้นงาน ความปลอดภัยทุกแบบ หรือผลลดขยะ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393192"/>
            <a:ext cx="109728" cy="182880"/>
          </a:xfrm>
          <a:prstGeom prst="rect">
            <a:avLst/>
          </a:prstGeom>
          <a:solidFill>
            <a:srgbClr val="839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338328"/>
            <a:ext cx="12618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บทที่ 5 / สรุป อภิปรายผล และข้อเสนอแนะ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68680"/>
            <a:ext cx="1316736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32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ข้อเสนอแนะและแนวทางพัฒนาต่อ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7726679"/>
            <a:ext cx="13350240" cy="0"/>
          </a:xfrm>
          <a:prstGeom prst="line">
            <a:avLst/>
          </a:prstGeom>
          <a:ln w="8255">
            <a:solidFill>
              <a:srgbClr val="D9E1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7872983"/>
            <a:ext cx="54864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00" b="0">
                <a:solidFill>
                  <a:srgbClr val="637267"/>
                </a:solidFill>
                <a:latin typeface="Noto Sans"/>
                <a:ea typeface="Noto Sans Thai"/>
                <a:cs typeface="Noto Sans Thai"/>
              </a:rPr>
              <a:t>REBUILD  /  RESEARCH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04520" y="7827264"/>
            <a:ext cx="6858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300" b="1">
                <a:solidFill>
                  <a:srgbClr val="637267"/>
                </a:solidFill>
                <a:latin typeface="Noto Sans"/>
                <a:ea typeface="Noto Sans Thai"/>
                <a:cs typeface="Noto Sans Thai"/>
              </a:rPr>
              <a:t>19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1911095" y="3273552"/>
            <a:ext cx="3218689" cy="411479"/>
          </a:xfrm>
          <a:prstGeom prst="line">
            <a:avLst/>
          </a:prstGeom>
          <a:ln w="38100">
            <a:solidFill>
              <a:srgbClr val="D9E1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5285232" y="2862072"/>
            <a:ext cx="3218688" cy="411480"/>
          </a:xfrm>
          <a:prstGeom prst="line">
            <a:avLst/>
          </a:prstGeom>
          <a:ln w="38100">
            <a:solidFill>
              <a:srgbClr val="D9E1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8659368" y="2450592"/>
            <a:ext cx="3218688" cy="411480"/>
          </a:xfrm>
          <a:prstGeom prst="line">
            <a:avLst/>
          </a:prstGeom>
          <a:ln w="38100">
            <a:solidFill>
              <a:srgbClr val="D9E1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1298448" y="3227832"/>
            <a:ext cx="960120" cy="960120"/>
          </a:xfrm>
          <a:prstGeom prst="ellipse">
            <a:avLst/>
          </a:prstGeom>
          <a:solidFill>
            <a:srgbClr val="1957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con-Eye-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7048" y="3456432"/>
            <a:ext cx="502920" cy="5029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86384" y="4288536"/>
            <a:ext cx="64008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1">
                <a:solidFill>
                  <a:srgbClr val="839E63"/>
                </a:solidFill>
                <a:latin typeface="Noto Sans"/>
                <a:ea typeface="Noto Sans Thai"/>
                <a:cs typeface="Noto Sans Thai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" y="4864608"/>
            <a:ext cx="3044952" cy="8595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05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ปรับความชัดเจนก่อนเพิ่มฟีเจอร์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" y="5888736"/>
            <a:ext cx="3035808" cy="1408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7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ตรวจการอ่านบนมือถือและการขยายข้อความ เพิ่มภาพใกล้ในขั้นที่ซับซ้อน ตัวอย่างขนาด และคำแนะนำเลือกวัสดุให้ตรงงาน</a:t>
            </a:r>
          </a:p>
        </p:txBody>
      </p:sp>
      <p:sp>
        <p:nvSpPr>
          <p:cNvPr id="16" name="Oval 15"/>
          <p:cNvSpPr/>
          <p:nvPr/>
        </p:nvSpPr>
        <p:spPr>
          <a:xfrm>
            <a:off x="4672584" y="2816352"/>
            <a:ext cx="960120" cy="960120"/>
          </a:xfrm>
          <a:prstGeom prst="ellipse">
            <a:avLst/>
          </a:prstGeom>
          <a:solidFill>
            <a:srgbClr val="839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con-Wrench-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1184" y="3044952"/>
            <a:ext cx="502920" cy="50292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160520" y="4288536"/>
            <a:ext cx="64008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1">
                <a:solidFill>
                  <a:srgbClr val="839E63"/>
                </a:solidFill>
                <a:latin typeface="Noto Sans"/>
                <a:ea typeface="Noto Sans Thai"/>
                <a:cs typeface="Noto Sans Thai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60520" y="4864608"/>
            <a:ext cx="3044952" cy="8595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05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เพิ่มการแก้ปัญหาและการตรวจงาน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60520" y="5888736"/>
            <a:ext cx="3035808" cy="1408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7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ใส่คำถาม “ถ้าไม่สำเร็จควรตรวจอะไร” และเกณฑ์ทดลองที่ทำซ้ำได้ เช่น ชนิดวัสดุ ระยะฐาน และวิธีบันทึกผลแต่ละรอบ</a:t>
            </a:r>
          </a:p>
        </p:txBody>
      </p:sp>
      <p:sp>
        <p:nvSpPr>
          <p:cNvPr id="21" name="Oval 20"/>
          <p:cNvSpPr/>
          <p:nvPr/>
        </p:nvSpPr>
        <p:spPr>
          <a:xfrm>
            <a:off x="8046720" y="2404872"/>
            <a:ext cx="960120" cy="960120"/>
          </a:xfrm>
          <a:prstGeom prst="ellipse">
            <a:avLst/>
          </a:prstGeom>
          <a:solidFill>
            <a:srgbClr val="B59C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icon-Users-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5320" y="2633472"/>
            <a:ext cx="502920" cy="50292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7534656" y="4288536"/>
            <a:ext cx="64008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1">
                <a:solidFill>
                  <a:srgbClr val="839E63"/>
                </a:solidFill>
                <a:latin typeface="Noto Sans"/>
                <a:ea typeface="Noto Sans Thai"/>
                <a:cs typeface="Noto Sans Thai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34656" y="4864608"/>
            <a:ext cx="3044952" cy="8595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05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เก็บข้อมูลรอบถัดไปอย่างเป็นระบบ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34656" y="5888736"/>
            <a:ext cx="3035808" cy="1408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7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ให้ผู้ใช้เขียนจากประสบการณ์เอง ทำภารกิจค้นหา ตรวจวัสดุ อธิบายขั้นตอน และบันทึก/เปิดแผน พร้อมจับเวลา เก็บรหัสผู้ทดลอง และตรึงรุ่นเว็บ</a:t>
            </a:r>
          </a:p>
        </p:txBody>
      </p:sp>
      <p:sp>
        <p:nvSpPr>
          <p:cNvPr id="26" name="Oval 25"/>
          <p:cNvSpPr/>
          <p:nvPr/>
        </p:nvSpPr>
        <p:spPr>
          <a:xfrm>
            <a:off x="11420856" y="1993392"/>
            <a:ext cx="960120" cy="960120"/>
          </a:xfrm>
          <a:prstGeom prst="ellipse">
            <a:avLst/>
          </a:prstGeom>
          <a:solidFill>
            <a:srgbClr val="1957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icon-Sprout-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49456" y="2221992"/>
            <a:ext cx="502920" cy="50292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0908792" y="4288536"/>
            <a:ext cx="64008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1">
                <a:solidFill>
                  <a:srgbClr val="839E63"/>
                </a:solidFill>
                <a:latin typeface="Noto Sans"/>
                <a:ea typeface="Noto Sans Thai"/>
                <a:cs typeface="Noto Sans Thai"/>
              </a:rP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08792" y="4864608"/>
            <a:ext cx="3044952" cy="8595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05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ขยายขอบเขตการวิจัย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08792" y="5888736"/>
            <a:ext cx="3035808" cy="1408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7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ศึกษาผู้ใช้หลายกลุ่ม ทดสอบชิ้นงานจริง และเพิ่มแบบวัดก่อน–หลังที่ตรวจคุณภาพแล้วหากต้องการอ้างผลการเรียนรู้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393192"/>
            <a:ext cx="109728" cy="182880"/>
          </a:xfrm>
          <a:prstGeom prst="rect">
            <a:avLst/>
          </a:prstGeom>
          <a:solidFill>
            <a:srgbClr val="839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338328"/>
            <a:ext cx="12618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REFERENCES /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68680"/>
            <a:ext cx="1316736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32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เอกสารอ้างอิงและหลักฐานประกอบ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7726679"/>
            <a:ext cx="13350240" cy="0"/>
          </a:xfrm>
          <a:prstGeom prst="line">
            <a:avLst/>
          </a:prstGeom>
          <a:ln w="8255">
            <a:solidFill>
              <a:srgbClr val="D9E1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7872983"/>
            <a:ext cx="54864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00" b="0">
                <a:solidFill>
                  <a:srgbClr val="637267"/>
                </a:solidFill>
                <a:latin typeface="Noto Sans"/>
                <a:ea typeface="Noto Sans Thai"/>
                <a:cs typeface="Noto Sans Thai"/>
              </a:rPr>
              <a:t>REBUILD  /  RESEARCH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04520" y="7827264"/>
            <a:ext cx="6858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300" b="1">
                <a:solidFill>
                  <a:srgbClr val="637267"/>
                </a:solidFill>
                <a:latin typeface="Noto Sans"/>
                <a:ea typeface="Noto Sans Thai"/>
                <a:cs typeface="Noto Sans Thai"/>
              </a:rPr>
              <a:t>20</a:t>
            </a:r>
          </a:p>
        </p:txBody>
      </p:sp>
      <p:pic>
        <p:nvPicPr>
          <p:cNvPr id="8" name="Picture 7" descr="icon-Folder-19573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6" y="2185416"/>
            <a:ext cx="374904" cy="37490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508760" y="2167128"/>
            <a:ext cx="9875520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0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ReBuild — เนื้อหาและโครงสร้างระบบ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2660904"/>
            <a:ext cx="987552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70" b="0">
                <a:solidFill>
                  <a:srgbClr val="637267"/>
                </a:solidFill>
                <a:latin typeface="Noto Sans"/>
                <a:ea typeface="Noto Sans Thai"/>
                <a:cs typeface="Noto Sans Thai"/>
              </a:rPr>
              <a:t>github.com/gunphupa/work • README, docs/CONTENT.md และ docs/ARCHITECTURE.md</a:t>
            </a:r>
          </a:p>
        </p:txBody>
      </p:sp>
      <p:pic>
        <p:nvPicPr>
          <p:cNvPr id="11" name="Picture 10" descr="icon-ShieldCheck-19573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" y="3136392"/>
            <a:ext cx="374904" cy="37490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508760" y="3118104"/>
            <a:ext cx="9875520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0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ReBuild — หลักฐานทดสอบ 3 ตุลาคม 2569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3611880"/>
            <a:ext cx="987552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70" b="0">
                <a:solidFill>
                  <a:srgbClr val="637267"/>
                </a:solidFill>
                <a:latin typeface="Noto Sans"/>
                <a:ea typeface="Noto Sans Thai"/>
                <a:cs typeface="Noto Sans Thai"/>
              </a:rPr>
              <a:t>docs/evidence/unit-api-results.json, browser-results.json และ dependency-audit-2026-10-03.json</a:t>
            </a:r>
          </a:p>
        </p:txBody>
      </p:sp>
      <p:pic>
        <p:nvPicPr>
          <p:cNvPr id="14" name="Picture 13" descr="icon-MessageSquare-19573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816" y="4087368"/>
            <a:ext cx="374904" cy="37490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508760" y="4069080"/>
            <a:ext cx="9875520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0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รีวิวที่เผยแพร่บน ReBuild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4562856"/>
            <a:ext cx="987552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70" b="0">
                <a:solidFill>
                  <a:srgbClr val="637267"/>
                </a:solidFill>
                <a:latin typeface="Noto Sans"/>
                <a:ea typeface="Noto Sans Thai"/>
                <a:cs typeface="Noto Sans Thai"/>
              </a:rPr>
              <a:t>work-c3to.onrender.com • 21 รายการ ณ จุดตรวจ 3 ต.ค. 2569 เวลา 23:04 น. (ไทย)</a:t>
            </a:r>
          </a:p>
        </p:txBody>
      </p:sp>
      <p:pic>
        <p:nvPicPr>
          <p:cNvPr id="17" name="Picture 16" descr="icon-Rocket-19573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3816" y="5038344"/>
            <a:ext cx="374904" cy="374904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508760" y="5020056"/>
            <a:ext cx="9875520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0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Arduino Documentation / NASA JPL Education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5513832"/>
            <a:ext cx="987552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70" b="0">
                <a:solidFill>
                  <a:srgbClr val="637267"/>
                </a:solidFill>
                <a:latin typeface="Noto Sans"/>
                <a:ea typeface="Noto Sans Thai"/>
                <a:cs typeface="Noto Sans Thai"/>
              </a:rPr>
              <a:t>docs.arduino.cc/built-in-examples/ • jpl.nasa.gov/edu/resources/project/make-a-straw-rocket/</a:t>
            </a:r>
          </a:p>
        </p:txBody>
      </p:sp>
      <p:pic>
        <p:nvPicPr>
          <p:cNvPr id="20" name="Picture 19" descr="icon-BookOpen-19573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3816" y="5989320"/>
            <a:ext cx="374904" cy="374904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508760" y="5971032"/>
            <a:ext cx="9875520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0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ตัวอย่าง Instructables ที่ได้รับจากผู้จัดทำ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08760" y="6464808"/>
            <a:ext cx="987552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70" b="0">
                <a:solidFill>
                  <a:srgbClr val="637267"/>
                </a:solidFill>
                <a:latin typeface="Noto Sans"/>
                <a:ea typeface="Noto Sans Thai"/>
                <a:cs typeface="Noto Sans Thai"/>
              </a:rPr>
              <a:t>Mohammed Nihal, Build Your Own Automatic Watch Winder With Arduino Nano • ใช้อ้างอิงรูปแบบคู่มือ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932920" y="2176272"/>
            <a:ext cx="1938528" cy="4453128"/>
          </a:xfrm>
          <a:prstGeom prst="roundRect">
            <a:avLst>
              <a:gd name="adj" fmla="val 4000"/>
            </a:avLst>
          </a:prstGeom>
          <a:solidFill>
            <a:srgbClr val="ECF1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" name="Connector 23"/>
          <p:cNvCxnSpPr/>
          <p:nvPr/>
        </p:nvCxnSpPr>
        <p:spPr>
          <a:xfrm>
            <a:off x="12751856" y="2765145"/>
            <a:ext cx="92537" cy="2103120"/>
          </a:xfrm>
          <a:prstGeom prst="line">
            <a:avLst/>
          </a:prstGeom>
          <a:ln w="19050">
            <a:solidFill>
              <a:srgbClr val="19573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ardrop 24"/>
          <p:cNvSpPr/>
          <p:nvPr/>
        </p:nvSpPr>
        <p:spPr>
          <a:xfrm rot="18900000">
            <a:off x="12390120" y="2596896"/>
            <a:ext cx="323375" cy="625888"/>
          </a:xfrm>
          <a:prstGeom prst="teardrop">
            <a:avLst/>
          </a:prstGeom>
          <a:solidFill>
            <a:srgbClr val="1957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ardrop 25"/>
          <p:cNvSpPr/>
          <p:nvPr/>
        </p:nvSpPr>
        <p:spPr>
          <a:xfrm rot="2700000">
            <a:off x="12768681" y="2832445"/>
            <a:ext cx="260786" cy="504748"/>
          </a:xfrm>
          <a:prstGeom prst="teardrop">
            <a:avLst/>
          </a:prstGeom>
          <a:solidFill>
            <a:srgbClr val="1957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ardrop 26"/>
          <p:cNvSpPr/>
          <p:nvPr/>
        </p:nvSpPr>
        <p:spPr>
          <a:xfrm rot="18900000">
            <a:off x="12390120" y="3185769"/>
            <a:ext cx="323375" cy="625888"/>
          </a:xfrm>
          <a:prstGeom prst="teardrop">
            <a:avLst/>
          </a:prstGeom>
          <a:solidFill>
            <a:srgbClr val="1957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ardrop 27"/>
          <p:cNvSpPr/>
          <p:nvPr/>
        </p:nvSpPr>
        <p:spPr>
          <a:xfrm rot="2700000">
            <a:off x="12768681" y="3421319"/>
            <a:ext cx="260786" cy="504748"/>
          </a:xfrm>
          <a:prstGeom prst="teardrop">
            <a:avLst/>
          </a:prstGeom>
          <a:solidFill>
            <a:srgbClr val="1957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ardrop 28"/>
          <p:cNvSpPr/>
          <p:nvPr/>
        </p:nvSpPr>
        <p:spPr>
          <a:xfrm rot="18900000">
            <a:off x="12390120" y="3774643"/>
            <a:ext cx="323375" cy="625888"/>
          </a:xfrm>
          <a:prstGeom prst="teardrop">
            <a:avLst/>
          </a:prstGeom>
          <a:solidFill>
            <a:srgbClr val="1957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ardrop 29"/>
          <p:cNvSpPr/>
          <p:nvPr/>
        </p:nvSpPr>
        <p:spPr>
          <a:xfrm rot="2700000">
            <a:off x="12768681" y="4010192"/>
            <a:ext cx="260786" cy="504748"/>
          </a:xfrm>
          <a:prstGeom prst="teardrop">
            <a:avLst/>
          </a:prstGeom>
          <a:solidFill>
            <a:srgbClr val="1957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icon-BookOpen-19573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481560" y="5779008"/>
            <a:ext cx="758952" cy="758952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11823192" y="6986016"/>
            <a:ext cx="2203704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</a:pPr>
            <a:r>
              <a:rPr sz="17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แหล่งที่มา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7324344"/>
            <a:ext cx="1316736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 b="0">
                <a:solidFill>
                  <a:srgbClr val="637267"/>
                </a:solidFill>
                <a:latin typeface="Noto Sans"/>
                <a:ea typeface="Noto Sans Thai"/>
                <a:cs typeface="Noto Sans Thai"/>
              </a:rPr>
              <a:t>ภาพโครงงาน: ReBuild • ไอคอน: Lucide (ISC/MIT) • ข้อความและรูปทรงหลักแก้ไขได้ในไฟล์ PowerPoint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3E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393192"/>
            <a:ext cx="109728" cy="182880"/>
          </a:xfrm>
          <a:prstGeom prst="rect">
            <a:avLst/>
          </a:prstGeom>
          <a:solidFill>
            <a:srgbClr val="839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338328"/>
            <a:ext cx="12618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00" b="1">
                <a:solidFill>
                  <a:srgbClr val="D7E3C9"/>
                </a:solidFill>
                <a:latin typeface="Noto Sans"/>
                <a:ea typeface="Noto Sans Thai"/>
                <a:cs typeface="Noto Sans Thai"/>
              </a:rPr>
              <a:t>REBUILD / QUESTIONS &amp; 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68680"/>
            <a:ext cx="1316736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</a:p>
        </p:txBody>
      </p:sp>
      <p:cxnSp>
        <p:nvCxnSpPr>
          <p:cNvPr id="5" name="Connector 4"/>
          <p:cNvCxnSpPr/>
          <p:nvPr/>
        </p:nvCxnSpPr>
        <p:spPr>
          <a:xfrm>
            <a:off x="640080" y="7726679"/>
            <a:ext cx="13350240" cy="0"/>
          </a:xfrm>
          <a:prstGeom prst="line">
            <a:avLst/>
          </a:prstGeom>
          <a:ln w="8255">
            <a:solidFill>
              <a:srgbClr val="41614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7872983"/>
            <a:ext cx="54864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00" b="0">
                <a:solidFill>
                  <a:srgbClr val="D7E3C9"/>
                </a:solidFill>
                <a:latin typeface="Noto Sans"/>
                <a:ea typeface="Noto Sans Thai"/>
                <a:cs typeface="Noto Sans Thai"/>
              </a:rPr>
              <a:t>REBUILD  /  RESEARCH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04520" y="7827264"/>
            <a:ext cx="6858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300" b="1">
                <a:solidFill>
                  <a:srgbClr val="D7E3C9"/>
                </a:solidFill>
                <a:latin typeface="Noto Sans"/>
                <a:ea typeface="Noto Sans Thai"/>
                <a:cs typeface="Noto Sans Thai"/>
              </a:rPr>
              <a:t>21</a:t>
            </a:r>
          </a:p>
        </p:txBody>
      </p:sp>
      <p:sp>
        <p:nvSpPr>
          <p:cNvPr id="8" name="Rectangle 7"/>
          <p:cNvSpPr/>
          <p:nvPr/>
        </p:nvSpPr>
        <p:spPr>
          <a:xfrm>
            <a:off x="9509760" y="0"/>
            <a:ext cx="5120640" cy="7726679"/>
          </a:xfrm>
          <a:prstGeom prst="rect">
            <a:avLst/>
          </a:prstGeom>
          <a:solidFill>
            <a:srgbClr val="D7E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art-planter.png"/>
          <p:cNvPicPr>
            <a:picLocks noChangeAspect="1"/>
          </p:cNvPicPr>
          <p:nvPr/>
        </p:nvPicPr>
        <p:blipFill>
          <a:blip r:embed="rId2"/>
          <a:srcRect l="5270" r="5270"/>
          <a:stretch>
            <a:fillRect/>
          </a:stretch>
        </p:blipFill>
        <p:spPr>
          <a:xfrm>
            <a:off x="9848088" y="1911095"/>
            <a:ext cx="4434840" cy="3273552"/>
          </a:xfrm>
          <a:prstGeom prst="rect">
            <a:avLst/>
          </a:prstGeom>
        </p:spPr>
      </p:pic>
      <p:cxnSp>
        <p:nvCxnSpPr>
          <p:cNvPr id="10" name="Connector 9"/>
          <p:cNvCxnSpPr/>
          <p:nvPr/>
        </p:nvCxnSpPr>
        <p:spPr>
          <a:xfrm>
            <a:off x="13771595" y="513892"/>
            <a:ext cx="56327" cy="1280160"/>
          </a:xfrm>
          <a:prstGeom prst="line">
            <a:avLst/>
          </a:prstGeom>
          <a:ln w="19050">
            <a:solidFill>
              <a:srgbClr val="19573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ardrop 10"/>
          <p:cNvSpPr/>
          <p:nvPr/>
        </p:nvSpPr>
        <p:spPr>
          <a:xfrm rot="18900000">
            <a:off x="13551408" y="411480"/>
            <a:ext cx="196837" cy="380975"/>
          </a:xfrm>
          <a:prstGeom prst="teardrop">
            <a:avLst/>
          </a:prstGeom>
          <a:solidFill>
            <a:srgbClr val="1957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ardrop 11"/>
          <p:cNvSpPr/>
          <p:nvPr/>
        </p:nvSpPr>
        <p:spPr>
          <a:xfrm rot="2700000">
            <a:off x="13781836" y="554857"/>
            <a:ext cx="158739" cy="307238"/>
          </a:xfrm>
          <a:prstGeom prst="teardrop">
            <a:avLst/>
          </a:prstGeom>
          <a:solidFill>
            <a:srgbClr val="1957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ardrop 12"/>
          <p:cNvSpPr/>
          <p:nvPr/>
        </p:nvSpPr>
        <p:spPr>
          <a:xfrm rot="18900000">
            <a:off x="13551408" y="769924"/>
            <a:ext cx="196837" cy="380975"/>
          </a:xfrm>
          <a:prstGeom prst="teardrop">
            <a:avLst/>
          </a:prstGeom>
          <a:solidFill>
            <a:srgbClr val="1957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ardrop 13"/>
          <p:cNvSpPr/>
          <p:nvPr/>
        </p:nvSpPr>
        <p:spPr>
          <a:xfrm rot="2700000">
            <a:off x="13781836" y="913302"/>
            <a:ext cx="158739" cy="307238"/>
          </a:xfrm>
          <a:prstGeom prst="teardrop">
            <a:avLst/>
          </a:prstGeom>
          <a:solidFill>
            <a:srgbClr val="1957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ardrop 14"/>
          <p:cNvSpPr/>
          <p:nvPr/>
        </p:nvSpPr>
        <p:spPr>
          <a:xfrm rot="18900000">
            <a:off x="13551408" y="1128369"/>
            <a:ext cx="196837" cy="380975"/>
          </a:xfrm>
          <a:prstGeom prst="teardrop">
            <a:avLst/>
          </a:prstGeom>
          <a:solidFill>
            <a:srgbClr val="1957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ardrop 15"/>
          <p:cNvSpPr/>
          <p:nvPr/>
        </p:nvSpPr>
        <p:spPr>
          <a:xfrm rot="2700000">
            <a:off x="13781836" y="1271747"/>
            <a:ext cx="158739" cy="307238"/>
          </a:xfrm>
          <a:prstGeom prst="teardrop">
            <a:avLst/>
          </a:prstGeom>
          <a:solidFill>
            <a:srgbClr val="1957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" y="1335024"/>
            <a:ext cx="8174736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3000" b="1">
                <a:solidFill>
                  <a:srgbClr val="D7E3C9"/>
                </a:solidFill>
                <a:latin typeface="Noto Sans"/>
                <a:ea typeface="Noto Sans Thai"/>
                <a:cs typeface="Noto Sans Thai"/>
              </a:rPr>
              <a:t>ขอบคุณครับ / ค่ะ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" y="2651760"/>
            <a:ext cx="8302752" cy="2944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4900" b="1">
                <a:solidFill>
                  <a:srgbClr val="FFFFFF"/>
                </a:solidFill>
                <a:latin typeface="Noto Sans"/>
                <a:ea typeface="Noto Sans Thai"/>
                <a:cs typeface="Noto Sans Thai"/>
              </a:rPr>
              <a:t>ของเดิม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4900" b="1">
                <a:solidFill>
                  <a:srgbClr val="FFFFFF"/>
                </a:solidFill>
                <a:latin typeface="Noto Sans"/>
                <a:ea typeface="Noto Sans Thai"/>
                <a:cs typeface="Noto Sans Thai"/>
              </a:rPr>
              <a:t>ประโยชน์ใหม่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4900" b="1">
                <a:solidFill>
                  <a:srgbClr val="FFFFFF"/>
                </a:solidFill>
                <a:latin typeface="Noto Sans"/>
                <a:ea typeface="Noto Sans Thai"/>
                <a:cs typeface="Noto Sans Thai"/>
              </a:rPr>
              <a:t>เรียนรู้ได้ทุกวัน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6190488"/>
            <a:ext cx="800100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400" b="0">
                <a:solidFill>
                  <a:srgbClr val="FFFFFF"/>
                </a:solidFill>
                <a:latin typeface="Noto Sans"/>
                <a:ea typeface="Noto Sans Thai"/>
                <a:cs typeface="Noto Sans Thai"/>
              </a:rPr>
              <a:t>เปิดรับคำถามและข้อเสนอแนะ</a:t>
            </a:r>
          </a:p>
        </p:txBody>
      </p:sp>
      <p:pic>
        <p:nvPicPr>
          <p:cNvPr id="20" name="Picture 19" descr="icon-Globe-19573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48672" y="5696712"/>
            <a:ext cx="475488" cy="475488"/>
          </a:xfrm>
          <a:prstGeom prst="rect">
            <a:avLst/>
          </a:prstGeom>
        </p:spPr>
      </p:pic>
      <p:sp>
        <p:nvSpPr>
          <p:cNvPr id="21" name="TextBox 20">
            <a:hlinkClick r:id="rId4"/>
          </p:cNvPr>
          <p:cNvSpPr txBox="1"/>
          <p:nvPr/>
        </p:nvSpPr>
        <p:spPr>
          <a:xfrm>
            <a:off x="10625328" y="5797296"/>
            <a:ext cx="3547872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work-c3to.onrender.com</a:t>
            </a:r>
          </a:p>
        </p:txBody>
      </p:sp>
      <p:sp>
        <p:nvSpPr>
          <p:cNvPr id="22" name="Oval 21"/>
          <p:cNvSpPr/>
          <p:nvPr/>
        </p:nvSpPr>
        <p:spPr>
          <a:xfrm>
            <a:off x="7845552" y="6574536"/>
            <a:ext cx="22860" cy="22860"/>
          </a:xfrm>
          <a:prstGeom prst="ellipse">
            <a:avLst/>
          </a:prstGeom>
          <a:solidFill>
            <a:srgbClr val="839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845552" y="6684264"/>
            <a:ext cx="22860" cy="22860"/>
          </a:xfrm>
          <a:prstGeom prst="ellipse">
            <a:avLst/>
          </a:prstGeom>
          <a:solidFill>
            <a:srgbClr val="839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845552" y="6793992"/>
            <a:ext cx="22860" cy="22860"/>
          </a:xfrm>
          <a:prstGeom prst="ellipse">
            <a:avLst/>
          </a:prstGeom>
          <a:solidFill>
            <a:srgbClr val="839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845552" y="6903720"/>
            <a:ext cx="22860" cy="22860"/>
          </a:xfrm>
          <a:prstGeom prst="ellipse">
            <a:avLst/>
          </a:prstGeom>
          <a:solidFill>
            <a:srgbClr val="839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55279" y="6574536"/>
            <a:ext cx="22860" cy="22860"/>
          </a:xfrm>
          <a:prstGeom prst="ellipse">
            <a:avLst/>
          </a:prstGeom>
          <a:solidFill>
            <a:srgbClr val="839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55279" y="6684264"/>
            <a:ext cx="22860" cy="22860"/>
          </a:xfrm>
          <a:prstGeom prst="ellipse">
            <a:avLst/>
          </a:prstGeom>
          <a:solidFill>
            <a:srgbClr val="839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955279" y="6793992"/>
            <a:ext cx="22860" cy="22860"/>
          </a:xfrm>
          <a:prstGeom prst="ellipse">
            <a:avLst/>
          </a:prstGeom>
          <a:solidFill>
            <a:srgbClr val="839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955279" y="6903720"/>
            <a:ext cx="22860" cy="22860"/>
          </a:xfrm>
          <a:prstGeom prst="ellipse">
            <a:avLst/>
          </a:prstGeom>
          <a:solidFill>
            <a:srgbClr val="839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065008" y="6574536"/>
            <a:ext cx="22860" cy="22860"/>
          </a:xfrm>
          <a:prstGeom prst="ellipse">
            <a:avLst/>
          </a:prstGeom>
          <a:solidFill>
            <a:srgbClr val="839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065008" y="6684264"/>
            <a:ext cx="22860" cy="22860"/>
          </a:xfrm>
          <a:prstGeom prst="ellipse">
            <a:avLst/>
          </a:prstGeom>
          <a:solidFill>
            <a:srgbClr val="839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065008" y="6793992"/>
            <a:ext cx="22860" cy="22860"/>
          </a:xfrm>
          <a:prstGeom prst="ellipse">
            <a:avLst/>
          </a:prstGeom>
          <a:solidFill>
            <a:srgbClr val="839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065008" y="6903720"/>
            <a:ext cx="22860" cy="22860"/>
          </a:xfrm>
          <a:prstGeom prst="ellipse">
            <a:avLst/>
          </a:prstGeom>
          <a:solidFill>
            <a:srgbClr val="839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174736" y="6574536"/>
            <a:ext cx="22860" cy="22860"/>
          </a:xfrm>
          <a:prstGeom prst="ellipse">
            <a:avLst/>
          </a:prstGeom>
          <a:solidFill>
            <a:srgbClr val="839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174736" y="6684264"/>
            <a:ext cx="22860" cy="22860"/>
          </a:xfrm>
          <a:prstGeom prst="ellipse">
            <a:avLst/>
          </a:prstGeom>
          <a:solidFill>
            <a:srgbClr val="839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174736" y="6793992"/>
            <a:ext cx="22860" cy="22860"/>
          </a:xfrm>
          <a:prstGeom prst="ellipse">
            <a:avLst/>
          </a:prstGeom>
          <a:solidFill>
            <a:srgbClr val="839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8174736" y="6903720"/>
            <a:ext cx="22860" cy="22860"/>
          </a:xfrm>
          <a:prstGeom prst="ellipse">
            <a:avLst/>
          </a:prstGeom>
          <a:solidFill>
            <a:srgbClr val="839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8284464" y="6574536"/>
            <a:ext cx="22860" cy="22860"/>
          </a:xfrm>
          <a:prstGeom prst="ellipse">
            <a:avLst/>
          </a:prstGeom>
          <a:solidFill>
            <a:srgbClr val="839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8284464" y="6684264"/>
            <a:ext cx="22860" cy="22860"/>
          </a:xfrm>
          <a:prstGeom prst="ellipse">
            <a:avLst/>
          </a:prstGeom>
          <a:solidFill>
            <a:srgbClr val="839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8284464" y="6793992"/>
            <a:ext cx="22860" cy="22860"/>
          </a:xfrm>
          <a:prstGeom prst="ellipse">
            <a:avLst/>
          </a:prstGeom>
          <a:solidFill>
            <a:srgbClr val="839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8284464" y="6903720"/>
            <a:ext cx="22860" cy="22860"/>
          </a:xfrm>
          <a:prstGeom prst="ellipse">
            <a:avLst/>
          </a:prstGeom>
          <a:solidFill>
            <a:srgbClr val="839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8394192" y="6574536"/>
            <a:ext cx="22860" cy="22860"/>
          </a:xfrm>
          <a:prstGeom prst="ellipse">
            <a:avLst/>
          </a:prstGeom>
          <a:solidFill>
            <a:srgbClr val="839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8394192" y="6684264"/>
            <a:ext cx="22860" cy="22860"/>
          </a:xfrm>
          <a:prstGeom prst="ellipse">
            <a:avLst/>
          </a:prstGeom>
          <a:solidFill>
            <a:srgbClr val="839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8394192" y="6793992"/>
            <a:ext cx="22860" cy="22860"/>
          </a:xfrm>
          <a:prstGeom prst="ellipse">
            <a:avLst/>
          </a:prstGeom>
          <a:solidFill>
            <a:srgbClr val="839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8394192" y="6903720"/>
            <a:ext cx="22860" cy="22860"/>
          </a:xfrm>
          <a:prstGeom prst="ellipse">
            <a:avLst/>
          </a:prstGeom>
          <a:solidFill>
            <a:srgbClr val="839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ReBuild — Research Presentation / Visual Edition</dc:title>
  <dc:subject>โครงงาน 5 บท; visual redesign; 21 slides</dc:subject>
  <dc:creator>ReBuild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