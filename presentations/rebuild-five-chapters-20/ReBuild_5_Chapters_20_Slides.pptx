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จำนวนรายการ</c:v>
                </c:pt>
              </c:strCache>
            </c:strRef>
          </c:tx>
          <c:dPt>
            <c:idx val="0"/>
            <c:spPr>
              <a:solidFill>
                <a:srgbClr val="D9E1D2"/>
              </a:solidFill>
              <a:ln>
                <a:noFill/>
              </a:ln>
            </c:spPr>
          </c:dPt>
          <c:dPt>
            <c:idx val="1"/>
            <c:spPr>
              <a:solidFill>
                <a:srgbClr val="D9E1D2"/>
              </a:solidFill>
              <a:ln>
                <a:noFill/>
              </a:ln>
            </c:spPr>
          </c:dPt>
          <c:dPt>
            <c:idx val="2"/>
            <c:spPr>
              <a:solidFill>
                <a:srgbClr val="B59C70"/>
              </a:solidFill>
              <a:ln>
                <a:noFill/>
              </a:ln>
            </c:spPr>
          </c:dPt>
          <c:dPt>
            <c:idx val="3"/>
            <c:spPr>
              <a:solidFill>
                <a:srgbClr val="19573C"/>
              </a:solidFill>
              <a:ln>
                <a:noFill/>
              </a:ln>
            </c:spPr>
          </c:dPt>
          <c:dPt>
            <c:idx val="4"/>
            <c:spPr>
              <a:solidFill>
                <a:srgbClr val="839E63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7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>
                <a:latin typeface="Noto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Noto Sans"/>
              </a:defRPr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สวัสดีครับ พวกเรานายพัสวี ทองแก้ว เลขที่ 4 และนายพสุธา ศิรธนาสวัสดิ์ เลขที่ 5 ชั้นมัธยมศึกษาปีที่ 5/5 ขอเสนอการพัฒนาเว็บแอปพลิเคชัน ReBuild เพื่อสนับสนุนการวางแผนโครงงานจากวัสดุในครัวเรือนและการประเมินต้นแบบเบื้องต้น โดยมีนายภูวดล นุ่นเกลี้ยงเป็นครูที่ปรึกษา การนำเสนอจะเรียงตามบทที่ 1 ถึงบทที่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อธิบายสถานการณ์ผู้เริ่มต้นที่ไม่รู้จะทำอะไรจากของที่มี และไม่รู้ว่ายังต้องเตรียมอะไร นี่คือที่มาและเหตุผลในการพัฒนาต้นแบบจากข้อกำหนดที่รวบรวม ไม่อ้างว่ามีการสำรวจปัญหากับประชากรเป็นสัดส่วนเท่าใด เป้าหมายคือช่วยให้ข้อมูลแต่ละช่วงเชื่อมโยงกัน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มีสามวัตถุประสงค์ ได้แก่ พัฒนาคู่มือ ช่วยตรวจและวางแผนวัสดุ และประเมินต้นแบบ ระบบมี 37 โครงงาน วัสดุ 94 ประเภท ภาพรายขั้น 141 ภาพ รองรับสองภาษา หมวดเนื้อหาครอบคลุมจัดบ้าน ทำความสะอาด ซ่อมของ งานบรรจุภัณฑ์ ปลูกต้นไม้ วิทยาศาสตร์ และอิเล็กทรอนิกส์ พัฒนาที่บ้านช่วงมิถุนายนถึงตุลาคม 2569 ข้อคาดหมายที่ตรวจคือเปิดอ่านได้แม้ของไม่ครบ ตรวจวัสดุตามข้อมูล และบันทึกเปิดต่อในเบราว์เซอร์เดิม ไม่ใช่สมมติฐานว่าผลการเรียนเพิ่มขึ้นอย่างมีนัยสำคัญ ตัวแปรและเงื่อนไขการประเมินจะอธิบายในกรอบแนวคิด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ประโยชน์ระดับบุคคลคือมีเครื่องมือช่วยเตรียมงาน ระดับองค์กรหรือสถานศึกษาคือมีสื่อให้ครูพิจารณาปรับใช้ คุณค่าเชิงความรู้ในระยะนี้คือบทเรียนจากการออกแบบและประเมินต้นแบบ ไม่อ้างว่าเกิดองค์ความรู้ใหม่หรือแก้ปัญหาระดับนโยบายแล้ว และยังไม่ได้วัดว่าขยะลดลงจริง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นิยามที่ชัดช่วยไม่ให้สรุปเกินข้อมูล การนำวัสดุมาทำงานใหม่อาจเป็นการใช้ซ้ำหรือดัดแปลง ไม่จำเป็นต้องเป็นรีไซเคิล การมีคู่มือไม่ได้ยืนยันว่ามีการจัดการเรียนรู้แบบโครงงานครบทุกองค์ประกอบ และผลเชิงตัวเลขที่รายงานใช้กรณีทดสอบกับรายการรีวิวเป็นหน่วยวิเคราะห์ งานวิชาการที่เชื่อมโยงยังต้องตรวจต้นฉบับก่อนส่งรายงานฉบับสมบูรณ์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งานที่เกี่ยวข้องสรุปไว้หน้าเดียว Hevner และ Peffers ช่วยวางกรอบงานพัฒนาระบบให้มีการประเมินประกอบ Kirchherr ช่วยพิจารณาการใช้วัสดุเดิม Kokotsaki เชื่อมกับการวางแผนและบันทึกในกิจกรรมโครงงาน ส่วน Mayer และ Moreno ช่วยกำหนดบทบาทของภาพและข้อความ งานเหล่านี้เป็นกรอบแนวคิด ไม่ใช่หลักฐานว่า ReBuild ทำให้เรียนรู้ดีขึ้นหรือลดขยะแล้ว รายการเต็มมี DOI ให้ตรวจ และยังไม่มีบันทึกตรวจฉบับเต็มในชุดหลักฐาน จึงไม่อ้างผลตัวเลขจากบทความ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อธิบายตัวแปรตามแบบการศึกษาที่ทำจริง การประเมินนี้เป็นเชิงพรรณนา ไม่มีตัวแปรอิสระที่จัดกระทำเพื่อเปรียบเทียบกลุ่ม ปัจจัยนำเข้าในการทดสอบคือข้อมูลวัสดุและเงื่อนไขที่กำหนด ผลตามคือสถานะผ่านหรือไม่ผ่านและค่าคะแนนรีวิว เงื่อนไขควบคุมกล่าวถึงชุดทดสอบ ไม่ได้หมายความว่าควบคุมอุปกรณ์ของผู้ทดลองทุกคนให้เหมือนกัน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ประชากรเป้าหมายคือผู้เริ่มต้นที่สนใจทำของใช้และกิจกรรมการเรียนรู้ ส่วนกลุ่มที่ร่วมทดลองจริงตามข้อมูลผู้จัดทำมี 20 คน เป็นเพื่อนที่คัดเลือกแบบสะดวก ทดลองผ่านออนไลน์จากสถานที่ของตนเอง วันที่ 3 ตุลาคม 2569 เวลา 6 โมงเช้าถึง 6 โมงเย็น ไม่ใช้คำว่าสุ่มตัวอย่าง เพราะไม่ได้สุ่มจากรายชื่อประชากร อุปกรณ์และเครือข่ายของแต่ละคนไม่ได้ควบคุมให้เหมือนกัน จึงต้องระบุข้อจำกัดเมื่อสรุปผลไปยังผู้ใช้กลุ่มอื่น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พัฒนาระบบจากความต้องการ ออกแบบข้อมูลและหน้าจอ เชื่อมบัญชีและชุมชน แล้วตรวจซอฟต์แวร์ เครื่องมือประเมินจริงมีสองกลุ่ม คือชุดทดสอบและข้อมูลรีวิว ชุดทดสอบกำหนดข้อมูลนำเข้าและผลที่คาดไว้ ส่วนรีวิวตรวจสถานะเผยแพร่ ประเภท และคะแนนก่อนวิเคราะห์ หลักฐานซอฟต์แวร์เป็นรุ่น 5125774 วันที่ 3 ตุลาคม และเก็บรีวิวถึงเวลา 23:04 น. วันเดียวกัน ซึ่งเป็นจุดตัดข้อมูล ไม่ใช่เวลาสิ้นสุดภารกิจของแต่ละคน ยังไม่มีแบบสอบถามรายข้อหรือผลตรวจ IOC และความเชื่อมั่น จึงไม่รายงานค่าที่ไม่ได้ตรวจ ขั้นตอนขอความยินยอมหรือเอกสารรับรองที่ไม่มีบันทึกก็ไม่อ้างว่าดำเนินการแล้ว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ชี้ว่ารายงานใช้สถิติเชิงพรรณนาตามข้อมูลที่มี ไม่คัดลอกสถิติอนุมานจากตัวอย่างโดยไม่มีแบบวิจัยรองรับ สูตร SD เต็มคือรากที่สองของผลรวมกำลังสองของส่วนต่างจากค่าเฉลี่ยหารด้วย n−1 คะแนนรวมของรีวิวต่างประเภทเป็นเพียงการพรรณนาชุดข้อมูล ไม่ใช่คะแนนแบบสอบถามมาตรฐาน ไม่มีการทดสอบนัยสำคัญ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ก่อนแสดงผล ต้องแยกจำนวนผู้ทดลองกับหน่วยที่ใช้คำนวณ ผู้จัดทำยืนยันผู้ทดลอง 20 คน แต่รีวิวที่เผยแพร่ ณ จุดตัดมี 21 รายการ แบ่งเว็บไซต์ 19 และโครงงาน 2 รวมคะแนน 82 ไม่สามารถใช้ข้อมูลสาธารณะยืนยันได้ว่ารายการใดมาจากบุคคลเดียวกัน จึงคำนวณตามรายการ ไม่เรียกว่า 21 คน และไม่สมมติข้อมูลอายุ เพศ หรือระดับการศึกษาที่ไม่ได้เก็บ ช่วงเวลาโพสต์ 18:41 ถึง 22:30 เป็นคนละข้อมูลกับช่วงทดลอง 06:00 ถึง 18:00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ผลตามวัตถุประสงค์ข้อแรกคือเว็บคู่มือที่มี 37 โครงงาน 94 ประเภทวัสดุ และภาพรายขั้น 141 ภาพ เปิดอ่านได้แม้ของไม่ครบ ข้อที่สองคือระบบตรวจวัสดุและบันทึกแผน ภาพกลางยกตัวอย่างมีกระดาษลูกฟูกหนึ่งแผ่น แต่ต้องใช้สองแผ่น ส่วนสิ่งที่ยังไม่อยู่ในคลังแสดงว่ายังไม่บันทึกว่ามี ไม่ใช่สรุปว่าไม่มีจริง ภาพขวาแสดงการบันทึกความคืบหน้าหนึ่งจากสี่ขั้นและเปิดต่อได้ในเบราว์เซอร์เดิม ภาพเป็นข้อมูลสาธิต ไม่ใช่ผู้เข้าร่วมใหม่หรือการทำชิ้นงานจริง การเข้าสู่ระบบยังไม่ทำให้แผนซิงก์ข้ามเครื่อง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ผลซอฟต์แวร์มี 99 กรณีด้านตรรกะ API และ SQL กับ 51 กรณีผ่านเบราว์เซอร์ ทั้งสองชุดไม่พบกรณีไม่ผ่านหรือข้ามในผลที่บันทึก ชุดเบราว์เซอร์ครอบคลุมหลายขนาดหน้าจอ และมีการสแกน axe 75 ครั้ง ไม่พบการละเมิดกฎที่เลือกตรวจ แต่ไม่ได้รับรอง WCAG ทุกข้อ TypeScript build และ lint ผ่าน โดย build มีคำเตือนขนาดไฟล์ที่ไม่ทำให้ล้มเหลว npm audit ไม่พบช่องโหว่ที่รู้จัก ณ วันที่ตรวจ ไม่ได้ยืนยันว่าไม่มีช่องโหว่ทั้งหมด การคงอยู่ของตัวนับโพสต์ทดสอบปิดเปิด PGlite ในเครื่อง ยังไม่ใช่รีสตาร์ต Render จริง บริการจริงด้าน Google อีเมลและการอนุมัติเป็นคำยืนยันของผู้จัดทำ แยกจากชุดทดสอบที่บางกรณีใช้บริการจำลอง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อ่านภาพรวมว่าคะแนนที่พบมากที่สุดคือ 4 ดาว 9 รายการ ตามด้วย 3 ดาว 7 รายการ และ 5 ดาว 5 รายการ ไม่พบ 1 หรือ 2 ดาวในข้อมูลที่เผยแพร่ ค่าเฉลี่ย 82 หาร 21 เท่ากับ 3.90 และ SD แบบตัวอย่าง 0.77 ไม่แปลเป็นระดับดีมากย้อนหลังหากไม่ได้กำหนดเกณฑ์ไว้ก่อน และไม่จัดอันดับโครงงานจากรีวิวเพียงสองรายการ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ข้อค้นพบจากข้อความช่วยบอกว่าจะปรับตรงไหน บางคนชอบความง่ายและได้ไอเดีย แต่ก็มีข้อเสนอเรื่องการอ่าน ภาพจุดยาก รายละเอียดวัสดุ และการแก้ปัญหาระหว่างทำ เช่นนิ้วกระดาษไม่ขยับ สำหรับกิจกรรมสะพานมีข้อเสนอให้กำหนดระยะฐานและชนิดเหรียญให้ชัด บางข้อความยังต้องการทางเลือกที่ใช้ซ้ำได้ เพิ่มโครงงาน และปรับธีม เราสรุปเป็นประเด็นเพื่อพัฒนา ไม่ถือว่าทุกข้อความเป็นบั๊กที่ทำซ้ำได้ และไม่ใช้คำชมด้านการศึกษาหรือสิ่งแวดล้อมแทนการวัดผลด้านนั้น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สรุปตามวัตถุประสงค์ทีละข้อเพื่อไม่ให้ผลการวิจัยขาดความเชื่อมโยง วัตถุประสงค์การพัฒนาได้ผลผลิตแล้ว การประเมินได้ผลเบื้องต้นทั้งซอฟต์แวร์และรีวิว แต่ยังไม่ครอบคลุมการวัดประสิทธิผลการใช้งานรายบุคคล ข้อคาดหมายสามข้อได้รับการสนับสนุนจากกรณีทดสอบ ไม่ได้พิสูจน์ว่าผู้ทดลองทุกคนทำสำเร็จทุกข้อ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ผลผ่านชุดทดสอบบอกการทำงานภายใต้เงื่อนไขที่กำหนด แต่คำขอภาพและรายละเอียดเพิ่มชี้ว่าความถูกต้องของโปรแกรมกับความเข้าใจคู่มือเป็นคนละมิติ จึงควรตรวจทั้งสองด้าน กรอบวิจัยเชิงออกแบบช่วยจัดหลักฐานและแนวคิดสื่อหลายรูปแบบช่วยเลือกภาพที่อธิบายจุดยาก ส่วนผลด้านการเรียนรู้และการใช้วัสดุยังต้องวัดโดยตรง ข้อจำกัดคือกลุ่มเพื่อนแบบสะดวกไม่แทนประชากรทั่วไป รีวิวเป็นข้อมูลที่อนุมัติแล้ว และบางข้อความตรงหรือปรับจากตัวอย่างที่เตรียมไว้ จึงไม่สรุปเป็นความคิดเห็นอิสระทั้งหมด ยังไม่มีผลภารกิจรายบุคคลสำหรับคำนวณอัตราสำเร็จและเวลา หรือผลชิ้นงานจริง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แบ่งข้อเสนอแนะเป็นสิ่งที่ทำได้กับต้นแบบตอนนี้และสิ่งที่ต้องวิจัยต่อ การเก็บข้อมูลควรขอความยินยอม อธิบายว่าแสดงความคิดเห็นเชิงลบได้ บันทึกความล้มเหลวและความช่วยเหลือด้วย หากจะเปรียบเทียบกับคู่มือทั่วไปต้องจัดเนื้อหาและความยากให้เทียบเคียงกัน รวมทั้งกำหนดวิธีจัดกลุ่มหรือลำดับและแผนวิเคราะห์ล่วงหน้า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หน้านี้แสดงบทความหลักที่ใช้เชื่อมแนวคิดทั้งห้าเรื่อง พร้อม DOI รายการเต็มและเอกสารเทคนิคอยู่ในไฟล์ References_TH.txt รวมถึงรายงานทดสอบซอฟต์แวร์และแหล่งคู่มือ ไม่ต้องอ่านรายการทั้งหมดขณะนำเสนอ รายการวิชาการยังไม่มีบันทึกตรวจฉบับเต็ม จึงจำกัดการอ้างอิงไว้ระดับแนวคิดและต้องตรวจต้นฉบับก่อนส่งรายงานฉบับสมบูรณ์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สรุปว่า ReBuild เป็นต้นแบบสำหรับช่วยวางแผนทำชิ้นงานจากวัสดุใกล้ตัว มีผลตรวจซอฟต์แวร์และข้อมูลรีวิวเบื้องต้น พร้อมประเด็นที่ต้องปรับปรุง ขอบคุณครูที่ปรึกษาและผู้ร่วมทดลองใช้งาน แล้วเปิดรับคำถาม สามารถย้อนหน้าผลทดสอบหรือเอกสารอ้างอิงเมื่อมีคำถามเฉพาะเรื่อง</a:t>
            </a:r>
          </a:p>
          <a:p/>
          <a:p>
            <a:r>
              <a:t>ReBuild presentation icons: Lucide</a:t>
            </a:r>
          </a:p>
          <a:p/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2307/25148625" TargetMode="External"/><Relationship Id="rId3" Type="http://schemas.openxmlformats.org/officeDocument/2006/relationships/hyperlink" Target="https://doi.org/10.2753/MIS0742-1222240302" TargetMode="External"/><Relationship Id="rId4" Type="http://schemas.openxmlformats.org/officeDocument/2006/relationships/hyperlink" Target="https://doi.org/10.1016/j.resconrec.2017.09.005" TargetMode="External"/><Relationship Id="rId5" Type="http://schemas.openxmlformats.org/officeDocument/2006/relationships/hyperlink" Target="https://doi.org/10.1177/1365480216659733" TargetMode="External"/><Relationship Id="rId6" Type="http://schemas.openxmlformats.org/officeDocument/2006/relationships/hyperlink" Target="https://doi.org/10.1207/S15326985EP3801_6" TargetMode="Externa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s://work-c3to.onrender.com" TargetMode="Externa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โครงงานวิจัย 5 บท / ปีการศึกษา 2569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9720" y="0"/>
            <a:ext cx="5440680" cy="7726679"/>
          </a:xfrm>
          <a:prstGeom prst="rect">
            <a:avLst/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0" y="731520"/>
            <a:ext cx="4572000" cy="457200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069848"/>
            <a:ext cx="781812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74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624328"/>
            <a:ext cx="7818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การพัฒนาเว็บแอปพลิเคชัน ReBuild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เพื่อสนับสนุนการวางแผนโครงงานจากวัสดุ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ในครัวเรือนและการประเมินต้นแบบเบื้องต้น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4608576"/>
            <a:ext cx="7818120" cy="2514600"/>
          </a:xfrm>
          <a:prstGeom prst="roundRect">
            <a:avLst>
              <a:gd name="adj" fmla="val 4500"/>
            </a:avLst>
          </a:prstGeom>
          <a:solidFill>
            <a:srgbClr val="25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782312"/>
            <a:ext cx="73609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นายพัสวี ทองแก้ว  เลขที่ 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นายพสุธา ศิรธนาสวัสดิ์  เลขที่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ชั้นมัธยมศึกษาปีที่ 5/5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ครูที่ปรึกษา: นายภูวดล นุ่นเกลี้ยง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6254496"/>
            <a:ext cx="73609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โครงการห้องเรียนพิเศษเตรียมวิศวกรรมศาสตร์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โรงเรียนเตรียมอุดมศึกษาพัฒนาการ</a:t>
            </a:r>
          </a:p>
        </p:txBody>
      </p:sp>
      <p:pic>
        <p:nvPicPr>
          <p:cNvPr id="15" name="Picture 14" descr="art-planter.png"/>
          <p:cNvPicPr>
            <a:picLocks noChangeAspect="1"/>
          </p:cNvPicPr>
          <p:nvPr/>
        </p:nvPicPr>
        <p:blipFill>
          <a:blip r:embed="rId2"/>
          <a:srcRect t="586" b="586"/>
          <a:stretch>
            <a:fillRect/>
          </a:stretch>
        </p:blipFill>
        <p:spPr>
          <a:xfrm>
            <a:off x="9592056" y="1097280"/>
            <a:ext cx="4553712" cy="2971800"/>
          </a:xfrm>
          <a:prstGeom prst="rect">
            <a:avLst/>
          </a:prstGeom>
        </p:spPr>
      </p:pic>
      <p:pic>
        <p:nvPicPr>
          <p:cNvPr id="16" name="Picture 15" descr="art-dividers.png"/>
          <p:cNvPicPr>
            <a:picLocks noChangeAspect="1"/>
          </p:cNvPicPr>
          <p:nvPr/>
        </p:nvPicPr>
        <p:blipFill>
          <a:blip r:embed="rId3"/>
          <a:srcRect l="3776" r="3776"/>
          <a:stretch>
            <a:fillRect/>
          </a:stretch>
        </p:blipFill>
        <p:spPr>
          <a:xfrm>
            <a:off x="9509760" y="4581144"/>
            <a:ext cx="2240280" cy="1600200"/>
          </a:xfrm>
          <a:prstGeom prst="rect">
            <a:avLst/>
          </a:prstGeom>
        </p:spPr>
      </p:pic>
      <p:pic>
        <p:nvPicPr>
          <p:cNvPr id="17" name="Picture 16" descr="art-bridge.png"/>
          <p:cNvPicPr>
            <a:picLocks noChangeAspect="1"/>
          </p:cNvPicPr>
          <p:nvPr/>
        </p:nvPicPr>
        <p:blipFill>
          <a:blip r:embed="rId4"/>
          <a:srcRect l="3776" r="3776"/>
          <a:stretch>
            <a:fillRect/>
          </a:stretch>
        </p:blipFill>
        <p:spPr>
          <a:xfrm>
            <a:off x="11932920" y="4581144"/>
            <a:ext cx="2240280" cy="1600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55480" y="6629400"/>
            <a:ext cx="459943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ใช้ของใกล้ตัว • วางแผน • เรียนรู้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มีวัสดุอยู่แล้ว แต่จะเริ่มสร้างอะไร?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pic>
        <p:nvPicPr>
          <p:cNvPr id="8" name="Picture 7" descr="icon-Packag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21992"/>
            <a:ext cx="539496" cy="539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2221992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เลือกชิ้นงานไม่ถูก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907792"/>
            <a:ext cx="557784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ผู้เริ่มต้นอาจมีสิ่งของในบ้าน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แต่ยังไม่รู้ว่าจะนำไปใช้กับงานใด</a:t>
            </a:r>
          </a:p>
        </p:txBody>
      </p:sp>
      <p:pic>
        <p:nvPicPr>
          <p:cNvPr id="11" name="Picture 10" descr="icon-CircleHelp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803904"/>
            <a:ext cx="539496" cy="5394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4208" y="3803904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เตรียมวัสดุไม่ครบ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4489704"/>
            <a:ext cx="557784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ต้องรู้ทั้งจำนวน ขนาด สภาพ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และสิ่งที่ควรตรวจสอบเพิ่มเติม</a:t>
            </a:r>
          </a:p>
        </p:txBody>
      </p:sp>
      <p:pic>
        <p:nvPicPr>
          <p:cNvPr id="14" name="Picture 13" descr="icon-BookOpen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385816"/>
            <a:ext cx="539496" cy="5394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4208" y="5385816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คู่มือยังต้องชัดเจน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6071616"/>
            <a:ext cx="557784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ต้องเชื่อมภาพรวม วัสดุ ขั้นตอน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และจุดตรวจสอบเข้าด้วยกัน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2057400"/>
            <a:ext cx="6089904" cy="5111496"/>
          </a:xfrm>
          <a:prstGeom prst="roundRect">
            <a:avLst>
              <a:gd name="adj" fmla="val 4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rt-caddy.png"/>
          <p:cNvPicPr>
            <a:picLocks noChangeAspect="1"/>
          </p:cNvPicPr>
          <p:nvPr/>
        </p:nvPicPr>
        <p:blipFill>
          <a:blip r:embed="rId5"/>
          <a:srcRect t="1897" b="1897"/>
          <a:stretch>
            <a:fillRect/>
          </a:stretch>
        </p:blipFill>
        <p:spPr>
          <a:xfrm>
            <a:off x="9299448" y="2340864"/>
            <a:ext cx="3108960" cy="19751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48472" y="4626864"/>
            <a:ext cx="51572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โอกาสของ ReBuild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5486400"/>
            <a:ext cx="5157216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รวมการค้นหา อ่านคู่มือ ตรวจวัสดุ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และบันทึกแผนในเส้นทางเดียว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เปิดอ่านได้แม้ของยังไม่ครบ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ที่มา: ข้อกำหนดและปัญหาที่ใช้พัฒนาต้นแบบ • ยังไม่ใช่ผลสำรวจความชุกของปัญหาในประชากร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วัตถุประสงค์ สมมติฐาน และขอบเขตโครงงาน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58568"/>
            <a:ext cx="246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148840"/>
            <a:ext cx="68854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พัฒนาคู่มือบนเว็บ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807208"/>
            <a:ext cx="688543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ค้นหาและอ่านโครงงานจากวัสดุในครัวเรือน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410712"/>
            <a:ext cx="548640" cy="548640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0440"/>
            <a:ext cx="246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3410712"/>
            <a:ext cx="68854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ช่วยตรวจและวางแผนวัสดุ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4069080"/>
            <a:ext cx="688543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ระบุสิ่งที่ต้องเตรียม และบันทึกความคืบหน้า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672583"/>
            <a:ext cx="548640" cy="548640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782312"/>
            <a:ext cx="246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4672583"/>
            <a:ext cx="68854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ประเมินเพื่อปรับปรุง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5330951"/>
            <a:ext cx="688543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ตรวจซอฟต์แวร์และสรุปรีวิวที่เผยแพร่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71432" y="2148840"/>
            <a:ext cx="4745736" cy="3886200"/>
          </a:xfrm>
          <a:prstGeom prst="roundRect">
            <a:avLst>
              <a:gd name="adj" fmla="val 3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0616" y="2450592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3291840"/>
            <a:ext cx="4069080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37 โครงงาน • 94 ประเภทวัสดุ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141 ภาพรายขั้น • ไทย/อังกฤษ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งานบ้าน งานใช้ซ้ำ สวน วิทยาศาสตร์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และอิเล็กทรอนิกส์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6" y="5221224"/>
            <a:ext cx="406908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พัฒนา: มิถุนายน–ตุลาคม 2569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ผู้ทดลอง: เพื่อน 20 คน แบบสะดวก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6309360"/>
            <a:ext cx="13048488" cy="804672"/>
          </a:xfrm>
          <a:prstGeom prst="roundRect">
            <a:avLst>
              <a:gd name="adj" fmla="val 35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6492240"/>
            <a:ext cx="394106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สมมติฐานด้านการทำงาน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6519672"/>
            <a:ext cx="8476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อ่านได้แม้ของไม่ครบ • ตรวจตามเงื่อนไข • บันทึกและเปิดต่อได้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ไม่มีสมมติฐานนัยสำคัญทางสถิติ • แผนเก็บในเบราว์เซอร์เดิม • การประเมินไม่รวมผลการเรียนรู้หรือการลดขยะจริง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ผู้ใช้ประโยชน์และคุณค่าที่คาดหวัง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pic>
        <p:nvPicPr>
          <p:cNvPr id="8" name="Picture 7" descr="icon-Users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304288"/>
            <a:ext cx="667512" cy="66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19656" y="2304288"/>
            <a:ext cx="5394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ผู้เริ่มต้นและนักเรียน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9656" y="3218688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มีแนวทางเลือกชิ้นงานและรายการวัสดุ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อ่านขั้นตอนก่อนลงมือจริง</a:t>
            </a:r>
          </a:p>
        </p:txBody>
      </p:sp>
      <p:pic>
        <p:nvPicPr>
          <p:cNvPr id="11" name="Picture 10" descr="icon-BookOpen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2304288"/>
            <a:ext cx="667512" cy="667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77656" y="2304288"/>
            <a:ext cx="5394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ครูและสถานศึกษา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7656" y="3218688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มีสื่อประกอบกิจกรรมและการวางแผน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นำไปปรับใช้ให้เหมาะกับชั้นเรียน</a:t>
            </a:r>
          </a:p>
        </p:txBody>
      </p:sp>
      <p:pic>
        <p:nvPicPr>
          <p:cNvPr id="14" name="Picture 13" descr="icon-Lightbulb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700016"/>
            <a:ext cx="667512" cy="667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19656" y="4700016"/>
            <a:ext cx="5394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คุณค่าเชิงความรู้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5614416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ได้ตัวอย่างการเชื่อมข้อกำหนดระบบ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กับหลักฐานประเมินและข้อจำกัด</a:t>
            </a:r>
          </a:p>
        </p:txBody>
      </p:sp>
      <p:pic>
        <p:nvPicPr>
          <p:cNvPr id="17" name="Picture 16" descr="icon-Wrench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4700016"/>
            <a:ext cx="667512" cy="667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77656" y="4700016"/>
            <a:ext cx="5394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คุณค่าเชิงปฏิบัติ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6" y="5614416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จัดรายการวัสดุ บันทึกความคืบหน้า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และใช้ข้อคิดเห็นพัฒนาคู่มือ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60" y="2276856"/>
            <a:ext cx="0" cy="4654296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9536" y="4425696"/>
            <a:ext cx="12902184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ประโยชน์ด้านการเรียนรู้และสิ่งแวดล้อมเป็นสิ่งที่คาดหวัง ยังไม่ได้วัดผลลัพธ์โดยตรง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แนวคิดหลักและนิยามที่ใช้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8" name="Oval 7"/>
          <p:cNvSpPr/>
          <p:nvPr/>
        </p:nvSpPr>
        <p:spPr>
          <a:xfrm>
            <a:off x="5733288" y="3438144"/>
            <a:ext cx="3063240" cy="3063240"/>
          </a:xfrm>
          <a:prstGeom prst="ellipse">
            <a:avLst/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Sprout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3867912"/>
            <a:ext cx="1216152" cy="12161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16752" y="5504688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pic>
        <p:nvPicPr>
          <p:cNvPr id="11" name="Picture 10" descr="icon-Recycl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258568"/>
            <a:ext cx="539496" cy="5394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392" y="3044952"/>
            <a:ext cx="417880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นำวัสดุกลับมาใช้ประโยชน์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785616"/>
            <a:ext cx="4224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ใช้ซ้ำหรือดัดแปลงตามความเหมาะสม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ไม่เท่ากับการรีไซเคิลทุกกรณี</a:t>
            </a:r>
          </a:p>
        </p:txBody>
      </p:sp>
      <p:pic>
        <p:nvPicPr>
          <p:cNvPr id="14" name="Picture 13" descr="icon-BookOpen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2258568"/>
            <a:ext cx="539496" cy="5394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20072" y="3044952"/>
            <a:ext cx="417880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การเรียนรู้ผ่านโครงงาน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72" y="3785616"/>
            <a:ext cx="4224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ใช้คู่มือช่วยวางแผนและสังเกตผล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ยังไม่ถือว่าจัด PBL ครบกระบวนการ</a:t>
            </a:r>
          </a:p>
        </p:txBody>
      </p:sp>
      <p:pic>
        <p:nvPicPr>
          <p:cNvPr id="17" name="Picture 16" descr="icon-Eye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910328"/>
            <a:ext cx="539496" cy="5394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0392" y="5696712"/>
            <a:ext cx="417880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ภาพและคำอธิบาย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6437376"/>
            <a:ext cx="4224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แบ่งข้อมูลเป็นขั้นและใช้ภาพที่ช่วย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อธิบายจุดยากของการปฏิบัติงาน</a:t>
            </a:r>
          </a:p>
        </p:txBody>
      </p:sp>
      <p:pic>
        <p:nvPicPr>
          <p:cNvPr id="20" name="Picture 19" descr="icon-ChartColumn-1957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2" y="4910328"/>
            <a:ext cx="539496" cy="5394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20072" y="5696712"/>
            <a:ext cx="417880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หน่วยวิเคราะห์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6437376"/>
            <a:ext cx="4224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กรณีทดสอบซอฟต์แวร์ / รายการรีวิว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แยกออกจากจำนวนบุคคล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แนวคิดเชื่อมโยง: Kirchherr et al. (2017); Kokotsaki et al. (2016); Mayer &amp; Moreno (2003)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งานวิจัยที่เกี่ยวข้องและการนำมาใช้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3794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แหล่งอ้างอิง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4" y="2130552"/>
            <a:ext cx="870508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แนวคิดที่เชื่อมโยงกับ ReBuild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807208"/>
            <a:ext cx="13030200" cy="731520"/>
          </a:xfrm>
          <a:prstGeom prst="roundRect">
            <a:avLst>
              <a:gd name="adj" fmla="val 2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971800"/>
            <a:ext cx="36576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Hevner et al. (2004)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944368"/>
            <a:ext cx="871423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การวิจัยเชิงออกแบบ → มีทั้งต้นแบบและหลักฐานประเมิน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3639311"/>
            <a:ext cx="13030200" cy="731520"/>
          </a:xfrm>
          <a:prstGeom prst="roundRect">
            <a:avLst>
              <a:gd name="adj" fmla="val 2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803903"/>
            <a:ext cx="36576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Peffers et al. (2007)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776472"/>
            <a:ext cx="871423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กระบวนการวิจัยเชิงออกแบบ → จัดลำดับปัญหา พัฒนา สาธิต และประเมิน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" y="4471416"/>
            <a:ext cx="13030200" cy="731520"/>
          </a:xfrm>
          <a:prstGeom prst="roundRect">
            <a:avLst>
              <a:gd name="adj" fmla="val 2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636007"/>
            <a:ext cx="36576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Kirchherr et al. (2017)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4608576"/>
            <a:ext cx="871423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เศรษฐกิจหมุนเวียน → พิจารณาใช้วัสดุเดิมและกำหนดผลที่ต้องวัด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" y="5303520"/>
            <a:ext cx="13030200" cy="731520"/>
          </a:xfrm>
          <a:prstGeom prst="roundRect">
            <a:avLst>
              <a:gd name="adj" fmla="val 2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5468112"/>
            <a:ext cx="36576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Kokotsaki et al. (2016)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5440680"/>
            <a:ext cx="871423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การเรียนรู้ผ่านโครงงาน → สนับสนุนการวางแผนและบันทึกข้อสังเกต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" y="6135624"/>
            <a:ext cx="13030200" cy="731520"/>
          </a:xfrm>
          <a:prstGeom prst="roundRect">
            <a:avLst>
              <a:gd name="adj" fmla="val 2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6300216"/>
            <a:ext cx="36576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Mayer &amp; Moreno (2003)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6272784"/>
            <a:ext cx="871423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สื่อหลายรูปแบบ → ใช้ภาพและข้อความช่วยอธิบายขั้นตอนที่เข้าใจยาก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สรุประดับแนวคิด ไม่อ้างผลทดลองเฉพาะที่ยังไม่ได้ตรวจต้นฉบับ • บรรณานุกรมหลักหน้า 19; รายการเต็มในไฟล์ประกอบ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กรอบแนวคิดและตัวแปรที่ศึกษา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2368296"/>
            <a:ext cx="1033271" cy="1033271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Packag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606040"/>
            <a:ext cx="557784" cy="5577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" y="3831336"/>
            <a:ext cx="405993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ปัจจัยนำเข้า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754880"/>
            <a:ext cx="4078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ความต้องการผู้เริ่มต้น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วัสดุ คู่มือ และข้อกำหนด</a:t>
            </a:r>
          </a:p>
        </p:txBody>
      </p:sp>
      <p:sp>
        <p:nvSpPr>
          <p:cNvPr id="12" name="Chevron 11"/>
          <p:cNvSpPr/>
          <p:nvPr/>
        </p:nvSpPr>
        <p:spPr>
          <a:xfrm>
            <a:off x="4837176" y="2670048"/>
            <a:ext cx="329184" cy="438912"/>
          </a:xfrm>
          <a:prstGeom prst="chevron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58968" y="2368296"/>
            <a:ext cx="1033271" cy="1033271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Cod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606040"/>
            <a:ext cx="557784" cy="5577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58968" y="3831336"/>
            <a:ext cx="405993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กระบวนการ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4754880"/>
            <a:ext cx="4078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ออกแบบและพัฒนาระบบ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ทดสอบและรวบรวมรีวิว</a:t>
            </a:r>
          </a:p>
        </p:txBody>
      </p:sp>
      <p:sp>
        <p:nvSpPr>
          <p:cNvPr id="17" name="Chevron 16"/>
          <p:cNvSpPr/>
          <p:nvPr/>
        </p:nvSpPr>
        <p:spPr>
          <a:xfrm>
            <a:off x="9409176" y="2670048"/>
            <a:ext cx="329184" cy="438912"/>
          </a:xfrm>
          <a:prstGeom prst="chevron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30968" y="2368296"/>
            <a:ext cx="1033271" cy="1033271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hartColum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2606040"/>
            <a:ext cx="557784" cy="5577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30968" y="3831336"/>
            <a:ext cx="405993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ข้อมูลผลลัพธ์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4754880"/>
            <a:ext cx="4078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ผลผ่าน/ไม่ผ่าน คะแนนดาว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และประเด็นปรับปรุง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6199632"/>
            <a:ext cx="13112496" cy="822960"/>
          </a:xfrm>
          <a:prstGeom prst="roundRect">
            <a:avLst>
              <a:gd name="adj" fmla="val 4000"/>
            </a:avLst>
          </a:prstGeom>
          <a:solidFill>
            <a:srgbClr val="25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6364224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เงื่อนไขคงที่ในการทดสอบ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0136" y="6364224"/>
            <a:ext cx="783640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รุ่นโปรแกรม • ชุดข้อมูล • กรณีทดสอบ • เบราว์เซอร์/ขนาดหน้าจอ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ลูกศรแสดงลำดับงาน ไม่มีการจัดกระทำตัวแปรอิสระเพื่อทดลองเหตุและผล • ผลตามคือผลทดสอบและรีวิวที่สังเกตได้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ประชากรเป้าหมายและกลุ่มผู้ทดลอง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194560"/>
            <a:ext cx="4617720" cy="4828032"/>
          </a:xfrm>
          <a:prstGeom prst="roundRect">
            <a:avLst>
              <a:gd name="adj" fmla="val 35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34056"/>
            <a:ext cx="3739896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3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06824"/>
            <a:ext cx="3712463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349240"/>
            <a:ext cx="37124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เพื่อนของผู้จัดทำ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คัดเลือกแบบสะดวก</a:t>
            </a:r>
          </a:p>
        </p:txBody>
      </p:sp>
      <p:pic>
        <p:nvPicPr>
          <p:cNvPr id="12" name="Picture 11" descr="icon-Users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31136"/>
            <a:ext cx="58521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76288" y="2231136"/>
            <a:ext cx="683056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กลุ่มเป้าหมายของระบบ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999232"/>
            <a:ext cx="6830568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ผู้เริ่มต้นที่สนใจทำของใช้ในบ้าน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และกิจกรรมการเรียนรู้</a:t>
            </a:r>
          </a:p>
        </p:txBody>
      </p:sp>
      <p:pic>
        <p:nvPicPr>
          <p:cNvPr id="15" name="Picture 14" descr="icon-Glob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858768"/>
            <a:ext cx="585216" cy="5852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76288" y="3858768"/>
            <a:ext cx="683056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วิธีทดลองใช้งาน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4626864"/>
            <a:ext cx="6830568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เข้าถึงเว็บไซต์ผ่านระบบออนไลน์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จากสถานที่ของผู้ทดลองแต่ละคน</a:t>
            </a:r>
          </a:p>
        </p:txBody>
      </p:sp>
      <p:pic>
        <p:nvPicPr>
          <p:cNvPr id="18" name="Picture 17" descr="icon-Calendar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486400"/>
            <a:ext cx="585216" cy="5852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76288" y="5486400"/>
            <a:ext cx="683056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ช่วงทดลองที่ผู้จัดทำยืนยัน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6254496"/>
            <a:ext cx="6830568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3 ตุลาคม 2569 เวลา 06.00–18.00 น.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ผู้จัดทำพัฒนาและทดสอบระบบที่บ้าน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ข้อมูลประวัติโครงงานตามที่ผู้จัดทำยืนยัน • การคัดเลือกจากเพื่อนไม่ใช่การสุ่มตัวอย่างและไม่แทนผู้ใช้ทั่วไปทั้งหมด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เครื่องมือและขั้นตอนการเก็บรวบรวมข้อมูล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51192" y="2157984"/>
            <a:ext cx="0" cy="4928616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148840"/>
            <a:ext cx="581558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เครื่องมือที่ใช้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127248"/>
            <a:ext cx="58155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ต้นแบบ ReBuild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21608"/>
            <a:ext cx="5815584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React/TypeScript + Node/Express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Render + Supabase; แผนเก็บในเบราว์เซอร์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462272"/>
            <a:ext cx="58155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ชุดทดสอบซอฟต์แวร์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056632"/>
            <a:ext cx="5815584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Vitest/PGlite ตรวจตรรกะ API และ SQL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Playwright/Chromium + axe ตรวจหน้าใช้งาน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797296"/>
            <a:ext cx="58155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ข้อมูลรีวิว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6391656"/>
            <a:ext cx="5815584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คะแนนดาว 1–5 และข้อความที่เผยแพร่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ไม่ใช่แบบสอบถามมาตรฐานหรือคะแนน SUS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2148840"/>
            <a:ext cx="581558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การเก็บข้อมูล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5" y="3127248"/>
            <a:ext cx="59253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  ตรึงรุ่นและเก็บผลทดสอบ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3721608"/>
            <a:ext cx="59253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รุ่น 5125774 • หลักฐาน 3 ต.ค. 2569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5" y="4462272"/>
            <a:ext cx="59253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  รวบรวมรีวิวที่เผยแพร่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5" y="5056632"/>
            <a:ext cx="59253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จุดตัด 3 ต.ค. 2569 เวลา 23:04 น. (ไทย)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8975" y="5797296"/>
            <a:ext cx="59253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3  ตรวจข้อมูลก่อนวิเคราะห์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5" y="6391656"/>
            <a:ext cx="59253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ตรวจประเภท สถานะ และช่วงคะแนน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แยกจำนวนรายการออกจากจำนวนคน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ยังไม่มีผลภารกิจรายบุคคลหรือค่า IOC/ความเชื่อมั่นของแบบสอบถาม • เวลาโพสต์รีวิวไม่ใช่เวลาทำภารกิจ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วิธีวิเคราะห์ข้อมูลและสถิติที่ใช้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57984"/>
            <a:ext cx="4910328" cy="4937760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42616"/>
            <a:ext cx="422452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สถิติเชิงพรรณนา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57600"/>
            <a:ext cx="422452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ความถี่และร้อยละ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ค่าเฉลี่ย และ SD แบบตัวอย่าง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5212080"/>
            <a:ext cx="4224528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ร้อยละ = (จำนวน / ทั้งหมด) × 100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ค่าเฉลี่ย = ผลรวมคะแนน / 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SD ใช้ตัวหาร n − 1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304288"/>
            <a:ext cx="75895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ผลซอฟต์แวร์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3008376"/>
            <a:ext cx="75895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สรุปจำนวนผ่าน ไม่ผ่าน และข้าม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แยกตามชุดทดสอบ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895344"/>
            <a:ext cx="75895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คะแนนรีวิว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4599431"/>
            <a:ext cx="75895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นับตามรายการ และแยกเว็บไซต์/โครงงาน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n = จำนวนรีวิวที่มีคะแนน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5486400"/>
            <a:ext cx="75895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ข้อความรีวิว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6190488"/>
            <a:ext cx="75895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อ่านและจัดประเด็นเพื่อพัฒนา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ไม่ถือทุกข้อคิดเห็นเป็นข้อบกพร่องที่ยืนยันแล้ว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ไม่ใช้ t-test, ANOVA หรือสหสัมพันธ์ เนื่องจากยังไม่มีข้อมูล/แบบวิจัยรองรับ • สูตร: NIST/SEMATECH e-Handbook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ข้อมูลทั่วไปของผู้ทดลองและชุดข้อมูลที่วิเคราะห์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157984"/>
            <a:ext cx="4800600" cy="4901184"/>
          </a:xfrm>
          <a:prstGeom prst="roundRect">
            <a:avLst>
              <a:gd name="adj" fmla="val 35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2542032"/>
            <a:ext cx="408736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ผู้ทดลอง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3392424"/>
            <a:ext cx="408736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5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20 คน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4828032"/>
            <a:ext cx="4087368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กลุ่มเพื่อนที่คัดเลือกแบบสะดวก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ยังไม่มีข้อมูลอายุ เพศ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และระดับการศึกษาในชุดวิเคราะห์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6446520"/>
            <a:ext cx="4087368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จำนวนรีวิวไม่ใช่จำนวนบุคคลไม่ซ้ำ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099048" y="2331720"/>
          <a:ext cx="7836406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40"/>
                <a:gridCol w="2337933"/>
                <a:gridCol w="2337933"/>
              </a:tblGrid>
              <a:tr h="81610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ข้อมูลที่เผยแพร่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จำนวน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ผลรวมคะแนน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81610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รีวิวเว็บไซต์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19 รายการ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75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1610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รีวิวโครงงาน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 รายการ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7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81610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รวม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21 รายการ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82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72784" y="6007608"/>
            <a:ext cx="740664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หน่วยวิเคราะห์คะแนน: รายการรีวิว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6702552"/>
            <a:ext cx="74066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เวลาโพสต์ที่พบ 18:41–22:30 น. • จุดตัด 23:04 น.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3 ตุลาคม 2569 ตามเวลาไทย • ไม่สร้างกราฟประชากรศาสตร์จากข้อมูลที่ไม่ได้เก็บ และไม่ใช้ชื่อที่แสดงยืนยันตัวบุคคล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ผลตามวัตถุประสงค์ที่ 1–2: คู่มือและการวางแผน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2176272"/>
            <a:ext cx="4242816" cy="3584448"/>
          </a:xfrm>
          <a:prstGeom prst="roundRect">
            <a:avLst>
              <a:gd name="adj" fmla="val 35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44640"/>
            <a:ext cx="3931920" cy="32477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" y="6025896"/>
            <a:ext cx="426110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ค้นหาและอ่านคู่มือ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6684264"/>
            <a:ext cx="426110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37 โครงงาน • ไทย/อังกฤษ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อ่านได้แม้ยังมีวัสดุไม่ครบ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22392" y="2176272"/>
            <a:ext cx="4242816" cy="3584448"/>
          </a:xfrm>
          <a:prstGeom prst="roundRect">
            <a:avLst>
              <a:gd name="adj" fmla="val 35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materials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551423"/>
            <a:ext cx="3931920" cy="2834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22392" y="6025896"/>
            <a:ext cx="426110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ตรวจสิ่งที่ต้องเตรียม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6684264"/>
            <a:ext cx="426110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เปรียบเทียบจำนวนและข้อกำหนด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แยกสิ่งที่ขาดหรือยังต้องตรวจ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94392" y="2176272"/>
            <a:ext cx="4242816" cy="3584448"/>
          </a:xfrm>
          <a:prstGeom prst="roundRect">
            <a:avLst>
              <a:gd name="adj" fmla="val 35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-sav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1531" y="2340864"/>
            <a:ext cx="2728537" cy="32552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94392" y="6025896"/>
            <a:ext cx="426110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บันทึกและเปิดทำต่อ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4392" y="6684264"/>
            <a:ext cx="426110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บันทึกแผนและความคืบหน้า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ในเบราว์เซอร์เดิม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ภาพสาธิตจากต้นแบบในเครื่องและข้อมูลตัวอย่าง • ไม่ใช่ผลภารกิจรายบุคคลหรือหลักฐานการทำชิ้นงานจริง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ผลตามวัตถุประสงค์ที่ 3: การทดสอบซอฟต์แวร์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295144"/>
            <a:ext cx="3218688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6824" y="2980944"/>
            <a:ext cx="24963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กรณีผ่าน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4050791"/>
            <a:ext cx="5715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ตรรกะ / API /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846320"/>
            <a:ext cx="5715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61 กฎข้อมูลและรายการโครงงาน • 10 AI/API จำลอง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17 ชุมชน/API • 5 SQL ชุมชน • 6 SQL จำกัดโพสต์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295144"/>
            <a:ext cx="3218688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2980944"/>
            <a:ext cx="24963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กรณีผ่าน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050791"/>
            <a:ext cx="5715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การทำงานผ่านเบราว์เซอร์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846320"/>
            <a:ext cx="5715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Playwright + Chromium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หน้าจอกว้าง 1440 / 768 / 360 พิกเซล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87184" y="2331720"/>
            <a:ext cx="0" cy="3502152"/>
          </a:xfrm>
          <a:prstGeom prst="line">
            <a:avLst/>
          </a:prstGeom>
          <a:ln w="12700">
            <a:solidFill>
              <a:srgbClr val="5474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" y="6117336"/>
            <a:ext cx="13039344" cy="1033271"/>
          </a:xfrm>
          <a:prstGeom prst="roundRect">
            <a:avLst>
              <a:gd name="adj" fmla="val 3500"/>
            </a:avLst>
          </a:prstGeom>
          <a:solidFill>
            <a:srgbClr val="25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6318504"/>
            <a:ext cx="567842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ทั้งสองชุด: ไม่ผ่าน 0 / ข้าม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6300216"/>
            <a:ext cx="61904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axe 75 ครั้ง: พบการละเมิดกฎที่ตรวจ 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TypeScript / build / lint ผ่าน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หลักฐาน 3 ต.ค. 2569 • รุ่น 5125774 • ผ่านเฉพาะกรณีที่ตรวจ ไม่ใช่รับรองว่าปลอดบั๊กหรือผ่าน WCAG ทุกข้อ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การกระจายคะแนนดาวของรีวิว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148840"/>
            <a:ext cx="3657600" cy="4965192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24912"/>
            <a:ext cx="2990088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3.90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078224"/>
            <a:ext cx="2971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จาก 5 คะแนน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974336"/>
            <a:ext cx="2971800" cy="0"/>
          </a:xfrm>
          <a:prstGeom prst="line">
            <a:avLst/>
          </a:prstGeom>
          <a:ln w="12700">
            <a:solidFill>
              <a:srgbClr val="5474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52144" y="5431536"/>
            <a:ext cx="295351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SD = 0.77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มัธยฐาน = 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n = 21 รายการ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965192" y="2578608"/>
          <a:ext cx="8741664" cy="33467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266944" y="2112264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จำนวนรายการรีวิว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7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33.3%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9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42.9%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8096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5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23.8%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7077456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ระดับคะแนนดาว 1–5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เว็บไซต์เฉลี่ย 3.95/5 • โครงงานเฉลี่ย 3.50/5 • ค่าเฉลี่ยรวมเป็นข้อมูลต่างประเภท ไม่ใช่คะแนนแบบสอบถามมาตรฐาน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ข้อค้นพบสำคัญจากการประเมินต้นแบบ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" y="2157984"/>
            <a:ext cx="4069080" cy="4928616"/>
          </a:xfrm>
          <a:prstGeom prst="roundRect">
            <a:avLst>
              <a:gd name="adj" fmla="val 35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Quot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60320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3639312"/>
            <a:ext cx="34564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1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“ตัวหนังสือเล็ก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1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อ่านยาก”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660136"/>
            <a:ext cx="3456432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ข้อความจากรีวิวที่เผยแพร่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ด้านที่ได้รับคำชม: ใช้ง่าย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สบายตา และได้ไอเดียทำของ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2249424"/>
            <a:ext cx="8284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ภาพและวิดีโอเฉพาะจุดยาก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3008376"/>
            <a:ext cx="8284464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ต้องการภาพใกล้ ขั้นผูกก้นถุง ร้อยเชือก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และภาพผลที่ควรได้เมื่อทำเสร็จ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3858768"/>
            <a:ext cx="8284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ขนาดและคุณสมบัติวัสดุ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4617720"/>
            <a:ext cx="8284464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ต้องการตัวอย่างขนาดลิ้นชัก ชนิดผ้า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และคุณสมบัติเชือกที่ดูดน้ำได้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5468112"/>
            <a:ext cx="82844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วิธีแก้ปัญหาและกิจกรรมเรียนรู้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6227064"/>
            <a:ext cx="8284464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จุดตรวจเมื่อนิ้วกระดาษไม่ขยับ และแนวทาง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ควบคุมระยะฐาน/ชนิดเหรียญในการทดลองสะพาน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สรุปข้อความเชิงพรรณนา ไม่จัดความถี่รายประเด็น • ความคิดเห็นไม่เท่ากับข้อผิดพลาดที่ทดสอบยืนยันแล้ว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สรุปผลตามวัตถุประสงค์และข้อคาดหมาย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2231136"/>
          <a:ext cx="13203936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896"/>
                <a:gridCol w="4800600"/>
                <a:gridCol w="4663440"/>
              </a:tblGrid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วัตถุประสงค์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ผลที่มีหลักฐาน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ขอบเขตข้อสรุป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1. พัฒนาคู่มือบนเว็บ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มีต้นแบบสองภาษา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37 โครงงาน / 94 วัสดุ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ได้ผลผลิตตามขอบเขต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2. ตรวจและวางแผนวัสดุ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มีตรรกะตรวจเงื่อนไข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และการบันทึกแผน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ผลทดสอบสนับสนุน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เฉพาะเงื่อนไขที่ตรวจ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3. ประเมินและหาแนวปรับปรุง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99 + 51 กรณีผ่าน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21 รีวิว เฉลี่ย 3.90/5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ประเมินเบื้องต้นแล้ว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ยังไม่มีผลภารกิจรายคน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6537960"/>
            <a:ext cx="13213080" cy="914400"/>
          </a:xfrm>
          <a:prstGeom prst="roundRect">
            <a:avLst>
              <a:gd name="adj" fmla="val 4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702552"/>
            <a:ext cx="42976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ข้อคาดหมายของระบบ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6684264"/>
            <a:ext cx="8174736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อ่านคู่มือ • ตรวจวัสดุ • บันทึก/เปิดต่อ มีหลักฐานจากชุดทดสอบรองรับ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อภิปรายผลและข้อจำกัดของการศึกษา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56235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ต้นแบบทำงานตามกรณีที่ตรวจ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98063"/>
            <a:ext cx="56235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กรอบวิจัยเชิงออกแบบ (Hevner; Peffers)</a:t>
            </a:r>
          </a:p>
        </p:txBody>
      </p:sp>
      <p:sp>
        <p:nvSpPr>
          <p:cNvPr id="10" name="Chevron 9"/>
          <p:cNvSpPr/>
          <p:nvPr/>
        </p:nvSpPr>
        <p:spPr>
          <a:xfrm>
            <a:off x="6894576" y="2423160"/>
            <a:ext cx="310896" cy="457200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231136"/>
            <a:ext cx="606247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ผลระบบสนับสนุนการทำงานตามเงื่อนไข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แต่ต้องประเมินการใช้งานกับคนเพิ่มเติม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0711"/>
            <a:ext cx="56235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คู่มือยังต้องสื่อรายละเอียดให้ชัด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79"/>
            <a:ext cx="56235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สื่อหลายรูปแบบ (Mayer &amp; Moreno)</a:t>
            </a:r>
          </a:p>
        </p:txBody>
      </p:sp>
      <p:sp>
        <p:nvSpPr>
          <p:cNvPr id="14" name="Chevron 13"/>
          <p:cNvSpPr/>
          <p:nvPr/>
        </p:nvSpPr>
        <p:spPr>
          <a:xfrm>
            <a:off x="6894576" y="3694175"/>
            <a:ext cx="310896" cy="457200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502151"/>
            <a:ext cx="606247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โปรแกรมทำงานได้กับผู้ใช้เข้าใจขั้นตอน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เป็นคนละมิติ จึงควรตรวจทั้งสองด้าน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81727"/>
            <a:ext cx="56235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การเรียนรู้และการใช้ซ้ำเป็นโอกาสต่อยอด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0095"/>
            <a:ext cx="56235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โครงงาน / เศรษฐกิจหมุนเวียน</a:t>
            </a:r>
          </a:p>
        </p:txBody>
      </p:sp>
      <p:sp>
        <p:nvSpPr>
          <p:cNvPr id="18" name="Chevron 17"/>
          <p:cNvSpPr/>
          <p:nvPr/>
        </p:nvSpPr>
        <p:spPr>
          <a:xfrm>
            <a:off x="6894576" y="4965191"/>
            <a:ext cx="310896" cy="457200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4773167"/>
            <a:ext cx="606247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ต้องวัดความเข้าใจและปริมาณวัสดุจริง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ก่อนสรุปผลทางการศึกษาหรือสิ่งแวดล้อม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6163056"/>
            <a:ext cx="13039344" cy="1005840"/>
          </a:xfrm>
          <a:prstGeom prst="roundRect">
            <a:avLst>
              <a:gd name="adj" fmla="val 3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6364224"/>
            <a:ext cx="2084831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ข้อจำกัด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0984" y="6345936"/>
            <a:ext cx="1033272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กลุ่มเพื่อนแบบสะดวก • รีวิวผ่านการอนุมัติและอาจได้รับอิทธิพลจากข้อความตัวอย่าง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ยังยืนยันผู้โพสต์ไม่ซ้ำไม่ได้ และไม่มีเวลา/ผลภารกิจรายบุคคล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อภิปรายระดับแนวคิด ไม่ใช่ผลทดสอบเหตุและผล • รายการวิชาการยังต้องตรวจต้นฉบับก่อนส่งรายงานฉบับสมบูรณ์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ข้อเสนอแนะเชิงปฏิบัติและการวิจัยต่อไป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221992"/>
            <a:ext cx="36210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57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pic>
        <p:nvPicPr>
          <p:cNvPr id="9" name="Picture 8" descr="icon-Ey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5" y="2414016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" y="3694176"/>
            <a:ext cx="40599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ปรับเนื้อหาและการอ่าน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791456"/>
            <a:ext cx="4059936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ขนาดตัวอักษรบนมือถือ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ภาพจุดยาก ขนาดวัสดุ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และการแก้ปัญหาระหว่างทำ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221992"/>
            <a:ext cx="36210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57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pic>
        <p:nvPicPr>
          <p:cNvPr id="13" name="Picture 12" descr="icon-Users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414016"/>
            <a:ext cx="594360" cy="594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94960" y="3694176"/>
            <a:ext cx="40599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เก็บผลการใช้งานจริง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791456"/>
            <a:ext cx="4059936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รหัสผู้เข้าร่วมไม่ซ้ำ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ความสำเร็จ เวลา ข้อผิดพลาด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และข้อคิดเห็นด้วยถ้อยคำของตนเอง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7816" y="2221992"/>
            <a:ext cx="36210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57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pic>
        <p:nvPicPr>
          <p:cNvPr id="17" name="Picture 16" descr="icon-ChartColumn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1328" y="2414016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57816" y="3694176"/>
            <a:ext cx="40599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ขยายการประเมิน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6" y="4791456"/>
            <a:ext cx="4059936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ตรวจบริการจริงหลังรีสตาร์ต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วัดผลการเรียนรู้/วัสดุที่ใช้จริง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หรือเปรียบเทียบคู่มือด้วยแผนที่เหมาะสม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93208" y="2221992"/>
            <a:ext cx="0" cy="4507992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46920" y="2221992"/>
            <a:ext cx="0" cy="4507992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รอบต่อไปต้องกำหนดเกณฑ์และตรวจเครื่องมือก่อนเก็บข้อมูล • ไม่เติมผลที่ยังไม่ทราบเป็นผลสำเร็จย้อนหลัง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 / รายการเต็มอยู่ในไฟล์ประกอบ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เอกสารอ้างอิงหลัก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12264"/>
            <a:ext cx="12865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Hevner, A. R., March, S. T., Park, J., &amp; Ram, S. (2004).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78024"/>
            <a:ext cx="128656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Design science in information systems research. MIS Quarterly, 28(1), 75–105.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886968" y="2871216"/>
            <a:ext cx="12865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https://doi.org/10.2307/25148625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86100"/>
            <a:ext cx="12865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Peffers, K., Tuunanen, T., Rothenberger, M. A., &amp; Chatterjee, S. (2007).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1860"/>
            <a:ext cx="128656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A design science research methodology for information systems research. Journal of Management Information Systems, 24(3), 45–77.</a:t>
            </a:r>
          </a:p>
        </p:txBody>
      </p:sp>
      <p:sp>
        <p:nvSpPr>
          <p:cNvPr id="13" name="TextBox 12">
            <a:hlinkClick r:id="rId3"/>
          </p:cNvPr>
          <p:cNvSpPr txBox="1"/>
          <p:nvPr/>
        </p:nvSpPr>
        <p:spPr>
          <a:xfrm>
            <a:off x="886968" y="3845052"/>
            <a:ext cx="12865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https://doi.org/10.2753/MIS0742-1222240302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059935"/>
            <a:ext cx="12865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Kirchherr, J., Reike, D., &amp; Hekkert, M. (2017).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425696"/>
            <a:ext cx="128656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Conceptualizing the circular economy: An analysis of 114 definitions. Resources, Conservation and Recycling, 127, 221–232.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886968" y="4818888"/>
            <a:ext cx="12865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https://doi.org/10.1016/j.resconrec.2017.09.005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033772"/>
            <a:ext cx="12865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Kokotsaki, D., Menzies, V., &amp; Wiggins, A. (2016).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399532"/>
            <a:ext cx="128656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Project-based learning: A review of the literature. Improving Schools, 19(3), 267–277.</a:t>
            </a:r>
          </a:p>
        </p:txBody>
      </p:sp>
      <p:sp>
        <p:nvSpPr>
          <p:cNvPr id="19" name="TextBox 18">
            <a:hlinkClick r:id="rId5"/>
          </p:cNvPr>
          <p:cNvSpPr txBox="1"/>
          <p:nvPr/>
        </p:nvSpPr>
        <p:spPr>
          <a:xfrm>
            <a:off x="886968" y="5792724"/>
            <a:ext cx="12865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https://doi.org/10.1177/1365480216659733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6007608"/>
            <a:ext cx="12865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Mayer, R. E., &amp; Moreno, R. (2003).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6373368"/>
            <a:ext cx="128656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Nine ways to reduce cognitive load in multimedia learning. Educational Psychologist, 38(1), 43–52.</a:t>
            </a:r>
          </a:p>
        </p:txBody>
      </p:sp>
      <p:sp>
        <p:nvSpPr>
          <p:cNvPr id="22" name="TextBox 21">
            <a:hlinkClick r:id="rId6"/>
          </p:cNvPr>
          <p:cNvSpPr txBox="1"/>
          <p:nvPr/>
        </p:nvSpPr>
        <p:spPr>
          <a:xfrm>
            <a:off x="886968" y="6766560"/>
            <a:ext cx="12865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https://doi.org/10.1207/S15326985EP3801_6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แหล่งข้อมูลเพิ่มเติม: รายงานผลทดสอบ/รีวิว ReBuild, NIST, Arduino, NASA JPL และ Instructables • รายการวิชาการรอตรวจฉบับเต็ม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ขอบคุณ / คำถามและข้อเสนอแนะ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20</a:t>
            </a:r>
          </a:p>
        </p:txBody>
      </p:sp>
      <p:sp>
        <p:nvSpPr>
          <p:cNvPr id="8" name="Oval 7"/>
          <p:cNvSpPr/>
          <p:nvPr/>
        </p:nvSpPr>
        <p:spPr>
          <a:xfrm>
            <a:off x="10168128" y="1719072"/>
            <a:ext cx="3383280" cy="3383280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Sprou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536" y="2404872"/>
            <a:ext cx="1426464" cy="1426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6112" y="2276856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4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ขอบคุณครับ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187952"/>
            <a:ext cx="894283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พัฒนาต้นแบบจากวัสดุใกล้ตัว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ประเมินตามหลักฐานที่มี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และปรับปรุงจากสิ่งที่ยังไม่ชัดเจน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50976" y="6473952"/>
            <a:ext cx="82296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work-c3to.onrender.com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 — การนำเสนอวิจัย 5 บท (20 หน้า)</dc:title>
  <dc:subject>เรียงบทที่ 1–5 ตามไฟล์ตัวอย่าง; เขียวมินิมอล; ไม่มีหน้าเทคนิคการนำเสนอ</dc:subject>
  <dc:creator>นายพัสวี ทองแก้ว และนายพสุธา ศิรธนาสวัสดิ์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