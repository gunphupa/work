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ReBuild presentation icons: Lucide</a:t>
            </a:r>
          </a:p>
          <a:p/>
          <a:p>
            <a:r>
              <a:t>ISC License</a:t>
            </a:r>
          </a:p>
          <a:p/>
          <a:p>
            <a:r>
              <a:t>Copyright (c) 2026 Lucide Icons and Contributors</a:t>
            </a:r>
          </a:p>
          <a:p/>
          <a:p>
            <a:r>
              <a:t>Permission to use, copy, modify, and/or distribute this software for any</a:t>
            </a:r>
          </a:p>
          <a:p>
            <a:r>
              <a:t>purpose with or without fee is hereby granted, provided that the above</a:t>
            </a:r>
          </a:p>
          <a:p>
            <a:r>
              <a:t>copyright notice and this permission notice appear in all copies.</a:t>
            </a:r>
          </a:p>
          <a:p/>
          <a:p>
            <a:r>
              <a:t>THE SOFTWARE IS PROVIDED "AS IS" AND THE AUTHOR DISCLAIMS ALL WARRANTIES</a:t>
            </a:r>
          </a:p>
          <a:p>
            <a:r>
              <a:t>WITH REGARD TO THIS SOFTWARE INCLUDING ALL IMPLIED WARRANTIES OF</a:t>
            </a:r>
          </a:p>
          <a:p>
            <a:r>
              <a:t>MERCHANTABILITY AND FITNESS. IN NO EVENT SHALL THE AUTHOR BE LIABLE FOR</a:t>
            </a:r>
          </a:p>
          <a:p>
            <a:r>
              <a:t>ANY SPECIAL, DIRECT, INDIRECT, OR CONSEQUENTIAL DAMAGES OR ANY DAMAGES</a:t>
            </a:r>
          </a:p>
          <a:p>
            <a:r>
              <a:t>WHATSOEVER RESULTING FROM LOSS OF USE, DATA OR PROFITS, WHETHER IN AN</a:t>
            </a:r>
          </a:p>
          <a:p>
            <a:r>
              <a:t>ACTION OF CONTRACT, NEGLIGENCE OR OTHER TORTIOUS ACTION, ARISING OUT OF</a:t>
            </a:r>
          </a:p>
          <a:p>
            <a:r>
              <a:t>OR IN CONNECTION WITH THE USE OR PERFORMANCE OF THIS SOFTWARE.</a:t>
            </a:r>
          </a:p>
          <a:p/>
          <a:p>
            <a:r>
              <a:t>---</a:t>
            </a:r>
          </a:p>
          <a:p/>
          <a:p>
            <a:r>
              <a:t>The following Lucide icons are derived from the Feather project:</a:t>
            </a:r>
          </a:p>
          <a:p/>
          <a:p>
            <a:r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</a:p>
          <a:p/>
          <a:p>
            <a:r>
              <a:t>The MIT License (MIT) (for the icons listed above)</a:t>
            </a:r>
          </a:p>
          <a:p/>
          <a:p>
            <a:r>
              <a:t>Copyright (c) 2013-present Cole Bemis</a:t>
            </a:r>
          </a:p>
          <a:p/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/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/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2307/25148625" TargetMode="External"/><Relationship Id="rId3" Type="http://schemas.openxmlformats.org/officeDocument/2006/relationships/hyperlink" Target="https://doi.org/10.2753/MIS0742-1222240302" TargetMode="External"/><Relationship Id="rId4" Type="http://schemas.openxmlformats.org/officeDocument/2006/relationships/hyperlink" Target="https://doi.org/10.1016/j.resconrec.2017.09.005" TargetMode="External"/><Relationship Id="rId5" Type="http://schemas.openxmlformats.org/officeDocument/2006/relationships/hyperlink" Target="https://doi.org/10.1177/1365480216659733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207/S15326985EP3801_6" TargetMode="External"/><Relationship Id="rId3" Type="http://schemas.openxmlformats.org/officeDocument/2006/relationships/hyperlink" Target="https://doi.org/10.1080/10447310802205776" TargetMode="External"/><Relationship Id="rId4" Type="http://schemas.openxmlformats.org/officeDocument/2006/relationships/hyperlink" Target="https://doi.org/10.1191/1478088706qp063oa" TargetMode="External"/><Relationship Id="rId5" Type="http://schemas.openxmlformats.org/officeDocument/2006/relationships/hyperlink" Target="https://doi.org/10.2307/249008" TargetMode="Externa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ชุดเสริมสำหรับ CANVA / RESEARCH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วาง ReBuild เป็นโครงงานวิจัยอย่างไร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57984"/>
            <a:ext cx="4718304" cy="4828032"/>
          </a:xfrm>
          <a:prstGeom prst="roundRect">
            <a:avLst>
              <a:gd name="adj" fmla="val 4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Targe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560320"/>
            <a:ext cx="749808" cy="7498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361188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คำถามหลัก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562856"/>
            <a:ext cx="3840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ต้นแบบทำงานได้ตามขอบเขตเพียงใด และข้อมูลที่มีชี้ประเด็นปรับปรุงอะไร?</a:t>
            </a:r>
          </a:p>
        </p:txBody>
      </p:sp>
      <p:pic>
        <p:nvPicPr>
          <p:cNvPr id="12" name="Picture 11" descr="icon-CircleHelp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2221992"/>
            <a:ext cx="475488" cy="475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30568" y="2221992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ปัญหาและเป้าหมาย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2907792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ผู้เริ่มต้นต้องค้นหาโครงงาน ตรวจวัสดุ และติดตามขั้นตอนให้เข้าใจ</a:t>
            </a:r>
          </a:p>
        </p:txBody>
      </p:sp>
      <p:pic>
        <p:nvPicPr>
          <p:cNvPr id="15" name="Picture 14" descr="icon-Code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3840480"/>
            <a:ext cx="475488" cy="4754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30568" y="3840480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ต้นแบบและการประเมิน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4526280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เชื่อมแต่ละองค์ประกอบของเว็บกับผลกรณีทดสอบและข้อคิดเห็นที่ตรวจได้</a:t>
            </a:r>
          </a:p>
        </p:txBody>
      </p:sp>
      <p:pic>
        <p:nvPicPr>
          <p:cNvPr id="18" name="Picture 17" descr="icon-ShieldCheck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752" y="5458968"/>
            <a:ext cx="475488" cy="4754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30568" y="5458968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ข้อสรุปตามหลักฐาน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6144768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แยกผลซอฟต์แวร์ รีวิว และผลการเรียนรู้หรือสิ่งแวดล้อมที่ยังไม่ได้วัด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7296912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7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ฐานวิธีวิจัย: Hevner et al. (2004); Peffers et al. (2007) | รอตรวจต้นฉบับ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2–3 / DESIGN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กรอบการวิจัยเชิงออกแบบ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67712"/>
            <a:ext cx="4114800" cy="1819656"/>
          </a:xfrm>
          <a:prstGeom prst="roundRect">
            <a:avLst>
              <a:gd name="adj" fmla="val 5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2374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01 ระบุปัญหา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36976"/>
            <a:ext cx="3657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ระบุผู้ใช้ งานที่ติดขัด และบริบทจริง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0096" y="2267712"/>
            <a:ext cx="4114800" cy="1819656"/>
          </a:xfrm>
          <a:prstGeom prst="roundRect">
            <a:avLst>
              <a:gd name="adj" fmla="val 5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8696" y="252374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02 กำหนดเป้าหมาย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8696" y="3236976"/>
            <a:ext cx="3657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กำหนดสิ่งที่ต้นแบบต้องช่วยให้ทำได้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57232" y="2267712"/>
            <a:ext cx="4114800" cy="1819656"/>
          </a:xfrm>
          <a:prstGeom prst="roundRect">
            <a:avLst>
              <a:gd name="adj" fmla="val 5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85832" y="252374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03 ออกแบบและพัฒนา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85832" y="3236976"/>
            <a:ext cx="3657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สร้างเนื้อหา เส้นทางใช้งาน และระบบ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25696"/>
            <a:ext cx="4114800" cy="1819656"/>
          </a:xfrm>
          <a:prstGeom prst="roundRect">
            <a:avLst>
              <a:gd name="adj" fmla="val 5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68172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04 สาธิต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394960"/>
            <a:ext cx="3657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แสดงการใช้งานด้วยสถานการณ์ที่กำหนด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0096" y="4425696"/>
            <a:ext cx="4114800" cy="1819656"/>
          </a:xfrm>
          <a:prstGeom prst="roundRect">
            <a:avLst>
              <a:gd name="adj" fmla="val 5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468172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05 ประเมิน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5394960"/>
            <a:ext cx="3657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ตรวจด้วยเครื่องมือและเกณฑ์ที่ตรงคำถาม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57232" y="4425696"/>
            <a:ext cx="4114800" cy="1819656"/>
          </a:xfrm>
          <a:prstGeom prst="roundRect">
            <a:avLst>
              <a:gd name="adj" fmla="val 5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5832" y="468172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06 สื่อสารผล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5832" y="5394960"/>
            <a:ext cx="3657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รายงานผล ข้อจำกัด และแนวทางพัฒนา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757416"/>
            <a:ext cx="1280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ใช้เป็นกรอบจัดการรายงาน ต้องแสดงว่าขั้นตอนไหนทำจริง และขั้นตอนไหนยังเป็นแผน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296912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7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Peffers et al. (2007), DOI: 10.2753/MIS0742-1222240302; Hevner et al. (2004) | รอตรวจต้นฉบับ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 / LITERATURE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แนวคิดสำหรับเนื้อหาและการเรียนรู้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pic>
        <p:nvPicPr>
          <p:cNvPr id="8" name="Picture 7" descr="icon-Recycle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258568"/>
            <a:ext cx="722376" cy="722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3337560"/>
            <a:ext cx="399592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การใช้ทรัพยากรซ้ำ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33672"/>
            <a:ext cx="399592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Kirchherr et al. (2017)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892040"/>
            <a:ext cx="391363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ใช้เป็นบริบทของการนำวัสดุมาใช้ต่อและการกำหนดขอบเขตแนวคิด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" y="6089904"/>
            <a:ext cx="4133087" cy="914400"/>
          </a:xfrm>
          <a:prstGeom prst="roundRect">
            <a:avLst>
              <a:gd name="adj" fmla="val 4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6227064"/>
            <a:ext cx="3776472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ยังไม่ยืนยันว่าระบบลดขยะได้ เพราะไม่มีการวัดปริมาณหรือผลกระทบ</a:t>
            </a:r>
          </a:p>
        </p:txBody>
      </p:sp>
      <p:pic>
        <p:nvPicPr>
          <p:cNvPr id="14" name="Picture 13" descr="icon-BookOpen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2258568"/>
            <a:ext cx="722376" cy="722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76672" y="3337560"/>
            <a:ext cx="399592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การเรียนรู้ผ่านโครงงาน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4233672"/>
            <a:ext cx="399592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Kokotsaki et al. (2016)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4892040"/>
            <a:ext cx="391363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เชื่อมการตั้งเป้าหมาย วางแผน ลงมือทำ และสะท้อนผลกับกิจกรรม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0952" y="6089904"/>
            <a:ext cx="4133087" cy="914400"/>
          </a:xfrm>
          <a:prstGeom prst="roundRect">
            <a:avLst>
              <a:gd name="adj" fmla="val 4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4688" y="6227064"/>
            <a:ext cx="3776472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คู่มือ DIY ไม่ได้ยืนยันว่าจัด PBL ครบองค์ประกอบหรือเพิ่มผลสัมฤทธิ์</a:t>
            </a:r>
          </a:p>
        </p:txBody>
      </p:sp>
      <p:pic>
        <p:nvPicPr>
          <p:cNvPr id="20" name="Picture 19" descr="icon-Eye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096" y="2258568"/>
            <a:ext cx="722376" cy="722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12096" y="3337560"/>
            <a:ext cx="399592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ภาพและคำอธิบาย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12096" y="4233672"/>
            <a:ext cx="399592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Mayer &amp; Moreno (2003)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2096" y="4892040"/>
            <a:ext cx="391363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พิจารณาการแบ่งขั้นและการใช้ภาพที่อธิบายงาน ลดสิ่งที่ไม่เกี่ยวข้อง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66376" y="6089904"/>
            <a:ext cx="4133087" cy="914400"/>
          </a:xfrm>
          <a:prstGeom prst="roundRect">
            <a:avLst>
              <a:gd name="adj" fmla="val 4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0111" y="6227064"/>
            <a:ext cx="3776472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ต้องวัดเพิ่มเติมก่อนอ้างว่า ReBuild ลดภาระทางปัญญาได้จริง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รายการอ้างอิงตั้งต้น • ต้องตรวจต้นฉบับก่อนส่ง • ยังไม่เปิดตรวจฉบับเต็มออนไลน์ในรอบนี้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2–3 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การประเมินการใช้งานและข้อมูลข้อความ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pic>
        <p:nvPicPr>
          <p:cNvPr id="8" name="Picture 7" descr="icon-Users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185416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36776" y="2185416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ความสามารถในการใช้งาน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6776" y="2871216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Bangor et al. (2008)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240280"/>
            <a:ext cx="7781544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ศึกษา SUS เป็นทางเลือกเครื่องมือสำหรับรอบต่อไป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999232"/>
            <a:ext cx="778154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คะแนนดาวไม่ใช่ SUS และยังไม่ได้เก็บคะแนน SUS</a:t>
            </a:r>
          </a:p>
        </p:txBody>
      </p:sp>
      <p:pic>
        <p:nvPicPr>
          <p:cNvPr id="13" name="Picture 12" descr="icon-MessageSquare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79476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36776" y="3794760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การจัดประเด็นจากรีวิว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6776" y="448056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Braun &amp; Clarke (2006)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849624"/>
            <a:ext cx="7781544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วางกระบวนการอ่าน ลงรหัส จัดประเด็น และเก็บร่องรอยการวิเคราะห์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4608576"/>
            <a:ext cx="778154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การสรุปปัจจุบันยังไม่ใช่ thematic analysis เต็มกระบวนการ</a:t>
            </a:r>
          </a:p>
        </p:txBody>
      </p:sp>
      <p:pic>
        <p:nvPicPr>
          <p:cNvPr id="18" name="Picture 17" descr="icon-Lightbulb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404104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36776" y="5404104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การยอมรับเทคโนโลยี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6776" y="6089904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Davis (1989) — ทางเลือก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5458968"/>
            <a:ext cx="7781544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ใช้ต่อเมื่อคำถามวิจัยมุ่งเรื่องการรับรู้ประโยชน์และความง่ายในการใช้งาน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6217920"/>
            <a:ext cx="778154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ยังไม่มีข้อมูลแบบวัด TAM จึงไม่อ้างว่าทดสอบแบบจำลองแล้ว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รายการอ้างอิงตั้งต้น • ต้องตรวจต้นฉบับก่อนส่ง • ยังไม่เปิดตรวจฉบับเต็มออนไลน์ในรอบนี้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 / CONCEPTUAL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กรอบแนวคิดการดำเนินงาน ReBuild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05</a:t>
            </a:r>
          </a:p>
        </p:txBody>
      </p:sp>
      <p:sp>
        <p:nvSpPr>
          <p:cNvPr id="8" name="Oval 7"/>
          <p:cNvSpPr/>
          <p:nvPr/>
        </p:nvSpPr>
        <p:spPr>
          <a:xfrm>
            <a:off x="1563624" y="2551176"/>
            <a:ext cx="1060704" cy="1060704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Packag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816352"/>
            <a:ext cx="539496" cy="5394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" y="4059936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ปัญหาและข้อมูล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029200"/>
            <a:ext cx="3081528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ความต้องการผู้เริ่มต้น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วัสดุและแนวคิดวิชาการ</a:t>
            </a:r>
          </a:p>
        </p:txBody>
      </p:sp>
      <p:sp>
        <p:nvSpPr>
          <p:cNvPr id="12" name="Chevron 11"/>
          <p:cNvSpPr/>
          <p:nvPr/>
        </p:nvSpPr>
        <p:spPr>
          <a:xfrm>
            <a:off x="3849624" y="2852928"/>
            <a:ext cx="265176" cy="411480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56048" y="2551176"/>
            <a:ext cx="1060704" cy="1060704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Cod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2816352"/>
            <a:ext cx="539496" cy="5394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97096" y="4059936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พัฒนาต้นแบบ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7096" y="5029200"/>
            <a:ext cx="3081528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คู่มือรายขั้น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ค้นหา วัสดุ และแผนงาน</a:t>
            </a:r>
          </a:p>
        </p:txBody>
      </p:sp>
      <p:sp>
        <p:nvSpPr>
          <p:cNvPr id="17" name="Chevron 16"/>
          <p:cNvSpPr/>
          <p:nvPr/>
        </p:nvSpPr>
        <p:spPr>
          <a:xfrm>
            <a:off x="7242048" y="2852928"/>
            <a:ext cx="265176" cy="411480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48472" y="2551176"/>
            <a:ext cx="1060704" cy="1060704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hartColumn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2816352"/>
            <a:ext cx="539496" cy="5394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589520" y="4059936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ประเมินหลักฐาน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029200"/>
            <a:ext cx="3081528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กรณีทดสอบซอฟต์แวร์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รีวิวที่เผยแพร่</a:t>
            </a:r>
          </a:p>
        </p:txBody>
      </p:sp>
      <p:sp>
        <p:nvSpPr>
          <p:cNvPr id="22" name="Chevron 21"/>
          <p:cNvSpPr/>
          <p:nvPr/>
        </p:nvSpPr>
        <p:spPr>
          <a:xfrm>
            <a:off x="10634472" y="2852928"/>
            <a:ext cx="265176" cy="411480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740896" y="2551176"/>
            <a:ext cx="1060704" cy="1060704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-Sprout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6072" y="2816352"/>
            <a:ext cx="539496" cy="5394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81944" y="4059936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สรุปและปรับปรุง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81944" y="5029200"/>
            <a:ext cx="3081528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ข้อค้นพบและข้อจำกัด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ประเด็นพัฒนาต่อ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" y="6446520"/>
            <a:ext cx="13194792" cy="685800"/>
          </a:xfrm>
          <a:prstGeom prst="roundRect">
            <a:avLst>
              <a:gd name="adj" fmla="val 5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1" y="6629400"/>
            <a:ext cx="1274673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ลูกศรแสดงลำดับการทำงาน ไม่ใช่ความสัมพันธ์เชิงเหตุและผลที่ทดสอบแล้ว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296912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7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กรอบสังเคราะห์สำหรับ ReBuild; แนวทางการพัฒนาอ้าง Peffers et al. (2007) | รอตรวจต้นฉบับ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3–4 / EVIDENCE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วัตถุประสงค์ เครื่องมือ และหลักฐาน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350008"/>
          <a:ext cx="1321307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6546"/>
                <a:gridCol w="3595395"/>
                <a:gridCol w="3325741"/>
                <a:gridCol w="3595395"/>
              </a:tblGrid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วัตถุประสงค์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เครื่องมือ/ข้อมูล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หลักฐานที่มี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ข้อจำกัด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พัฒนาต้นแบบ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ข้อกำหนดและภาพหน้าจอ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37 โครงงาน / 94 วัสดุ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มีระบบ ไม่เท่ากับผู้ใช้ทำสำเร็จ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ตรวจการทำงาน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Vitest / Playwright / SQL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99 กรณี + 51 กรณีผ่าน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เฉพาะรุ่น 5125774 และกรณีที่ตรวจ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สรุปข้อคิดเห็น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รีวิวเผยแพร่และสถิติเชิงพรรณนา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21 รายการ เฉลี่ย 3.90/5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5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ไม่ใช่คนไม่ซ้ำหรือแบบสอบถามมาตรฐาน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95528" y="6044184"/>
            <a:ext cx="13194792" cy="987552"/>
          </a:xfrm>
          <a:prstGeom prst="roundRect">
            <a:avLst>
              <a:gd name="adj" fmla="val 5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620877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ยังต้องเก็บเพิ่มหากจะอ้างผลผู้ใช้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6168" y="6208776"/>
            <a:ext cx="76718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เวลาและผลภารกิจรายคน แบบสอบถามจริง และข้อมูลก่อน–หลังตามคำถามวิจัย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7315200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ข้อมูล ReBuild จากชุดหลักฐาน 3 ต.ค. 2569 • รีวิวบางส่วนใช้ข้อความตัวอย่างเป็นฐาน ต้องระบุข้อจำกัดการตีความ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REFERENCES / DOI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เอกสารอ้างอิงตั้งต้น (1/2)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84831"/>
            <a:ext cx="512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084831"/>
            <a:ext cx="1234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Hevner, A. R., March, S. T., Park, J., &amp; Ram, S. (2004).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523744"/>
            <a:ext cx="123444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Design science in information systems research. MIS Quarterly, 28(1), 75–105.</a:t>
            </a:r>
          </a:p>
        </p:txBody>
      </p:sp>
      <p:sp>
        <p:nvSpPr>
          <p:cNvPr id="11" name="TextBox 10">
            <a:hlinkClick r:id="rId2"/>
          </p:cNvPr>
          <p:cNvSpPr txBox="1"/>
          <p:nvPr/>
        </p:nvSpPr>
        <p:spPr>
          <a:xfrm>
            <a:off x="1517904" y="2999232"/>
            <a:ext cx="12344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https://doi.org/10.2307/25148625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337560"/>
            <a:ext cx="512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R2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337560"/>
            <a:ext cx="1234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Peffers, K., Tuunanen, T., Rothenberger, M. A., &amp; Chatterjee, S. (2007).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3776472"/>
            <a:ext cx="123444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A design science research methodology for information systems research. Journal of Management Information Systems, 24(3), 45–77.</a:t>
            </a:r>
          </a:p>
        </p:txBody>
      </p:sp>
      <p:sp>
        <p:nvSpPr>
          <p:cNvPr id="15" name="TextBox 14">
            <a:hlinkClick r:id="rId3"/>
          </p:cNvPr>
          <p:cNvSpPr txBox="1"/>
          <p:nvPr/>
        </p:nvSpPr>
        <p:spPr>
          <a:xfrm>
            <a:off x="1517904" y="4251960"/>
            <a:ext cx="12344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https://doi.org/10.2753/MIS0742-1222240302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590288"/>
            <a:ext cx="512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R3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4590288"/>
            <a:ext cx="1234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Kirchherr, J., Reike, D., &amp; Hekkert, M. (2017).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904" y="5029200"/>
            <a:ext cx="123444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Conceptualizing the circular economy: An analysis of 114 definitions. Resources, Conservation and Recycling, 127, 221–232.</a:t>
            </a:r>
          </a:p>
        </p:txBody>
      </p:sp>
      <p:sp>
        <p:nvSpPr>
          <p:cNvPr id="19" name="TextBox 18">
            <a:hlinkClick r:id="rId4"/>
          </p:cNvPr>
          <p:cNvSpPr txBox="1"/>
          <p:nvPr/>
        </p:nvSpPr>
        <p:spPr>
          <a:xfrm>
            <a:off x="1517904" y="5504688"/>
            <a:ext cx="12344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https://doi.org/10.1016/j.resconrec.2017.09.005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843016"/>
            <a:ext cx="512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R4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5843016"/>
            <a:ext cx="1234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Kokotsaki, D., Menzies, V., &amp; Wiggins, A. (2016).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6281928"/>
            <a:ext cx="123444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Project-based learning: A review of the literature. Improving Schools, 19(3), 267–277.</a:t>
            </a:r>
          </a:p>
        </p:txBody>
      </p:sp>
      <p:sp>
        <p:nvSpPr>
          <p:cNvPr id="23" name="TextBox 22">
            <a:hlinkClick r:id="rId5"/>
          </p:cNvPr>
          <p:cNvSpPr txBox="1"/>
          <p:nvPr/>
        </p:nvSpPr>
        <p:spPr>
          <a:xfrm>
            <a:off x="1517904" y="6757416"/>
            <a:ext cx="12344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https://doi.org/10.1177/1365480216659733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ตรวจผู้แต่ง ปี วิธีวิจัย ผล และเลขหน้าจากต้นฉบับก่อนส่ง • R8 เป็นเอกสารเสริม ไม่จำเป็นต้องใช้ทุกกรอบ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REFERENCES / DOI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เอกสารอ้างอิงตั้งต้น (2/2)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84831"/>
            <a:ext cx="512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R5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084831"/>
            <a:ext cx="1234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Mayer, R. E., &amp; Moreno, R. (2003).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523744"/>
            <a:ext cx="123444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Nine ways to reduce cognitive load in multimedia learning. Educational Psychologist, 38(1), 43–52.</a:t>
            </a:r>
          </a:p>
        </p:txBody>
      </p:sp>
      <p:sp>
        <p:nvSpPr>
          <p:cNvPr id="11" name="TextBox 10">
            <a:hlinkClick r:id="rId2"/>
          </p:cNvPr>
          <p:cNvSpPr txBox="1"/>
          <p:nvPr/>
        </p:nvSpPr>
        <p:spPr>
          <a:xfrm>
            <a:off x="1517904" y="2999232"/>
            <a:ext cx="12344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https://doi.org/10.1207/S15326985EP3801_6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337560"/>
            <a:ext cx="512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R6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337560"/>
            <a:ext cx="1234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Bangor, A., Kortum, P. T., &amp; Miller, J. T. (2008).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3776472"/>
            <a:ext cx="123444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An empirical evaluation of the System Usability Scale. International Journal of Human–Computer Interaction, 24(6), 574–594.</a:t>
            </a:r>
          </a:p>
        </p:txBody>
      </p:sp>
      <p:sp>
        <p:nvSpPr>
          <p:cNvPr id="15" name="TextBox 14">
            <a:hlinkClick r:id="rId3"/>
          </p:cNvPr>
          <p:cNvSpPr txBox="1"/>
          <p:nvPr/>
        </p:nvSpPr>
        <p:spPr>
          <a:xfrm>
            <a:off x="1517904" y="4251960"/>
            <a:ext cx="12344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https://doi.org/10.1080/10447310802205776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590288"/>
            <a:ext cx="512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R7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4590288"/>
            <a:ext cx="1234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Braun, V., &amp; Clarke, V. (2006).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904" y="5029200"/>
            <a:ext cx="123444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Using thematic analysis in psychology. Qualitative Research in Psychology, 3(2), 77–101.</a:t>
            </a:r>
          </a:p>
        </p:txBody>
      </p:sp>
      <p:sp>
        <p:nvSpPr>
          <p:cNvPr id="19" name="TextBox 18">
            <a:hlinkClick r:id="rId4"/>
          </p:cNvPr>
          <p:cNvSpPr txBox="1"/>
          <p:nvPr/>
        </p:nvSpPr>
        <p:spPr>
          <a:xfrm>
            <a:off x="1517904" y="5504688"/>
            <a:ext cx="12344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https://doi.org/10.1191/1478088706qp063oa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843016"/>
            <a:ext cx="512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R8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5843016"/>
            <a:ext cx="1234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Davis, F. D. (1989).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6281928"/>
            <a:ext cx="123444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Perceived usefulness, perceived ease of use, and user acceptance of information technology. MIS Quarterly, 13(3), 319–340.</a:t>
            </a:r>
          </a:p>
        </p:txBody>
      </p:sp>
      <p:sp>
        <p:nvSpPr>
          <p:cNvPr id="23" name="TextBox 22">
            <a:hlinkClick r:id="rId5"/>
          </p:cNvPr>
          <p:cNvSpPr txBox="1"/>
          <p:nvPr/>
        </p:nvSpPr>
        <p:spPr>
          <a:xfrm>
            <a:off x="1517904" y="6757416"/>
            <a:ext cx="12344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https://doi.org/10.2307/249008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ตรวจผู้แต่ง ปี วิธีวิจัย ผล และเลขหน้าจากต้นฉบับก่อนส่ง • R8 เป็นเอกสารเสริม ไม่จำเป็นต้องใช้ทุกกรอบ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ReBuild — Research framework and references / Draft</dc:title>
  <dc:subject>โครงงาน 5 บท; visual redesign; 21 slides</dc:subject>
  <dc:creator>ReBuild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